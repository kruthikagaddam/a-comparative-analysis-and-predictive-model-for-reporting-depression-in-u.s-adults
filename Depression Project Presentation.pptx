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31"/>
  </p:notesMasterIdLst>
  <p:sldIdLst>
    <p:sldId id="262" r:id="rId5"/>
    <p:sldId id="265" r:id="rId6"/>
    <p:sldId id="263" r:id="rId7"/>
    <p:sldId id="264" r:id="rId8"/>
    <p:sldId id="266" r:id="rId9"/>
    <p:sldId id="268" r:id="rId10"/>
    <p:sldId id="354" r:id="rId11"/>
    <p:sldId id="418" r:id="rId12"/>
    <p:sldId id="267" r:id="rId13"/>
    <p:sldId id="277" r:id="rId14"/>
    <p:sldId id="278" r:id="rId15"/>
    <p:sldId id="358" r:id="rId16"/>
    <p:sldId id="270" r:id="rId17"/>
    <p:sldId id="269" r:id="rId18"/>
    <p:sldId id="353" r:id="rId19"/>
    <p:sldId id="356" r:id="rId20"/>
    <p:sldId id="357" r:id="rId21"/>
    <p:sldId id="361" r:id="rId22"/>
    <p:sldId id="290" r:id="rId23"/>
    <p:sldId id="296" r:id="rId24"/>
    <p:sldId id="294" r:id="rId25"/>
    <p:sldId id="295" r:id="rId26"/>
    <p:sldId id="297" r:id="rId27"/>
    <p:sldId id="330" r:id="rId28"/>
    <p:sldId id="314" r:id="rId29"/>
    <p:sldId id="331" r:id="rId30"/>
    <p:sldId id="315" r:id="rId31"/>
    <p:sldId id="316" r:id="rId32"/>
    <p:sldId id="272" r:id="rId33"/>
    <p:sldId id="362" r:id="rId34"/>
    <p:sldId id="273" r:id="rId35"/>
    <p:sldId id="397" r:id="rId36"/>
    <p:sldId id="396" r:id="rId37"/>
    <p:sldId id="410" r:id="rId38"/>
    <p:sldId id="399" r:id="rId39"/>
    <p:sldId id="400" r:id="rId40"/>
    <p:sldId id="407" r:id="rId41"/>
    <p:sldId id="406" r:id="rId42"/>
    <p:sldId id="402" r:id="rId43"/>
    <p:sldId id="408" r:id="rId44"/>
    <p:sldId id="409" r:id="rId45"/>
    <p:sldId id="405" r:id="rId46"/>
    <p:sldId id="404" r:id="rId47"/>
    <p:sldId id="403" r:id="rId48"/>
    <p:sldId id="401" r:id="rId49"/>
    <p:sldId id="411" r:id="rId50"/>
    <p:sldId id="412" r:id="rId51"/>
    <p:sldId id="413" r:id="rId52"/>
    <p:sldId id="378" r:id="rId53"/>
    <p:sldId id="381" r:id="rId54"/>
    <p:sldId id="383" r:id="rId55"/>
    <p:sldId id="382" r:id="rId56"/>
    <p:sldId id="276" r:id="rId57"/>
    <p:sldId id="341" r:id="rId58"/>
    <p:sldId id="275" r:id="rId59"/>
    <p:sldId id="324" r:id="rId60"/>
    <p:sldId id="416" r:id="rId61"/>
    <p:sldId id="288" r:id="rId62"/>
    <p:sldId id="279" r:id="rId63"/>
    <p:sldId id="280" r:id="rId64"/>
    <p:sldId id="298" r:id="rId65"/>
    <p:sldId id="299" r:id="rId66"/>
    <p:sldId id="293" r:id="rId67"/>
    <p:sldId id="300" r:id="rId68"/>
    <p:sldId id="306" r:id="rId69"/>
    <p:sldId id="301" r:id="rId70"/>
    <p:sldId id="302" r:id="rId71"/>
    <p:sldId id="310" r:id="rId72"/>
    <p:sldId id="312" r:id="rId73"/>
    <p:sldId id="303" r:id="rId74"/>
    <p:sldId id="351" r:id="rId75"/>
    <p:sldId id="319" r:id="rId76"/>
    <p:sldId id="320" r:id="rId77"/>
    <p:sldId id="321" r:id="rId78"/>
    <p:sldId id="322" r:id="rId79"/>
    <p:sldId id="304" r:id="rId80"/>
    <p:sldId id="332" r:id="rId81"/>
    <p:sldId id="325" r:id="rId82"/>
    <p:sldId id="318" r:id="rId83"/>
    <p:sldId id="334" r:id="rId84"/>
    <p:sldId id="335" r:id="rId85"/>
    <p:sldId id="336" r:id="rId86"/>
    <p:sldId id="337" r:id="rId87"/>
    <p:sldId id="338" r:id="rId88"/>
    <p:sldId id="339" r:id="rId89"/>
    <p:sldId id="340" r:id="rId90"/>
    <p:sldId id="344" r:id="rId91"/>
    <p:sldId id="345" r:id="rId92"/>
    <p:sldId id="350" r:id="rId93"/>
    <p:sldId id="328" r:id="rId94"/>
    <p:sldId id="327" r:id="rId95"/>
    <p:sldId id="333" r:id="rId96"/>
    <p:sldId id="348" r:id="rId97"/>
    <p:sldId id="287" r:id="rId98"/>
    <p:sldId id="376" r:id="rId99"/>
    <p:sldId id="377" r:id="rId100"/>
    <p:sldId id="305" r:id="rId101"/>
    <p:sldId id="307" r:id="rId102"/>
    <p:sldId id="308" r:id="rId103"/>
    <p:sldId id="309" r:id="rId104"/>
    <p:sldId id="313" r:id="rId105"/>
    <p:sldId id="317" r:id="rId106"/>
    <p:sldId id="359" r:id="rId107"/>
    <p:sldId id="360" r:id="rId108"/>
    <p:sldId id="363" r:id="rId109"/>
    <p:sldId id="364" r:id="rId110"/>
    <p:sldId id="365" r:id="rId111"/>
    <p:sldId id="366" r:id="rId112"/>
    <p:sldId id="367" r:id="rId113"/>
    <p:sldId id="368" r:id="rId114"/>
    <p:sldId id="369" r:id="rId115"/>
    <p:sldId id="370" r:id="rId116"/>
    <p:sldId id="371" r:id="rId117"/>
    <p:sldId id="372" r:id="rId118"/>
    <p:sldId id="373" r:id="rId119"/>
    <p:sldId id="375" r:id="rId120"/>
    <p:sldId id="374" r:id="rId121"/>
    <p:sldId id="387" r:id="rId122"/>
    <p:sldId id="415" r:id="rId123"/>
    <p:sldId id="385" r:id="rId124"/>
    <p:sldId id="388" r:id="rId125"/>
    <p:sldId id="389" r:id="rId126"/>
    <p:sldId id="390" r:id="rId127"/>
    <p:sldId id="391" r:id="rId128"/>
    <p:sldId id="392" r:id="rId129"/>
    <p:sldId id="417" r:id="rId13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lvl9pPr>
  </p:defaultTextStyle>
  <p:extLst>
    <p:ext uri="{521415D9-36F7-43E2-AB2F-B90AF26B5E84}">
      <p14:sectionLst xmlns:p14="http://schemas.microsoft.com/office/powerpoint/2010/main">
        <p14:section name="Default Section" id="{D55F5AF7-7BC5-4040-81AE-BF7746279928}">
          <p14:sldIdLst>
            <p14:sldId id="262"/>
            <p14:sldId id="265"/>
            <p14:sldId id="263"/>
            <p14:sldId id="264"/>
            <p14:sldId id="266"/>
            <p14:sldId id="268"/>
            <p14:sldId id="354"/>
            <p14:sldId id="418"/>
            <p14:sldId id="267"/>
            <p14:sldId id="277"/>
            <p14:sldId id="278"/>
            <p14:sldId id="358"/>
            <p14:sldId id="270"/>
            <p14:sldId id="269"/>
            <p14:sldId id="353"/>
            <p14:sldId id="356"/>
            <p14:sldId id="357"/>
            <p14:sldId id="361"/>
            <p14:sldId id="290"/>
            <p14:sldId id="296"/>
            <p14:sldId id="294"/>
            <p14:sldId id="295"/>
            <p14:sldId id="297"/>
            <p14:sldId id="330"/>
            <p14:sldId id="314"/>
            <p14:sldId id="331"/>
            <p14:sldId id="315"/>
            <p14:sldId id="316"/>
            <p14:sldId id="272"/>
            <p14:sldId id="362"/>
            <p14:sldId id="273"/>
            <p14:sldId id="397"/>
            <p14:sldId id="396"/>
            <p14:sldId id="410"/>
            <p14:sldId id="399"/>
            <p14:sldId id="400"/>
            <p14:sldId id="407"/>
            <p14:sldId id="406"/>
            <p14:sldId id="402"/>
            <p14:sldId id="408"/>
            <p14:sldId id="409"/>
            <p14:sldId id="405"/>
            <p14:sldId id="404"/>
            <p14:sldId id="403"/>
            <p14:sldId id="401"/>
            <p14:sldId id="411"/>
            <p14:sldId id="412"/>
            <p14:sldId id="413"/>
            <p14:sldId id="378"/>
            <p14:sldId id="381"/>
            <p14:sldId id="383"/>
            <p14:sldId id="382"/>
          </p14:sldIdLst>
        </p14:section>
        <p14:section name="Appendix" id="{F2091D0E-AF4E-4EC2-AD63-1791464CA02B}">
          <p14:sldIdLst>
            <p14:sldId id="276"/>
            <p14:sldId id="341"/>
          </p14:sldIdLst>
        </p14:section>
        <p14:section name="References" id="{F53F9DEF-D0C7-4EA4-8546-0B7D05A1346F}">
          <p14:sldIdLst>
            <p14:sldId id="275"/>
          </p14:sldIdLst>
        </p14:section>
        <p14:section name="Codes" id="{B8EE6EF6-4898-4BB1-AAA1-81923BB52AEA}">
          <p14:sldIdLst>
            <p14:sldId id="324"/>
            <p14:sldId id="416"/>
          </p14:sldIdLst>
        </p14:section>
        <p14:section name="Extraction and Cleaning" id="{E8F1F435-CCEA-4366-8F1C-83BEDF01591E}">
          <p14:sldIdLst>
            <p14:sldId id="288"/>
            <p14:sldId id="279"/>
            <p14:sldId id="280"/>
            <p14:sldId id="298"/>
            <p14:sldId id="299"/>
            <p14:sldId id="293"/>
            <p14:sldId id="300"/>
            <p14:sldId id="306"/>
            <p14:sldId id="301"/>
            <p14:sldId id="302"/>
            <p14:sldId id="310"/>
            <p14:sldId id="312"/>
            <p14:sldId id="303"/>
            <p14:sldId id="351"/>
            <p14:sldId id="319"/>
            <p14:sldId id="320"/>
            <p14:sldId id="321"/>
            <p14:sldId id="322"/>
            <p14:sldId id="304"/>
            <p14:sldId id="332"/>
            <p14:sldId id="325"/>
            <p14:sldId id="318"/>
            <p14:sldId id="334"/>
            <p14:sldId id="335"/>
            <p14:sldId id="336"/>
            <p14:sldId id="337"/>
            <p14:sldId id="338"/>
            <p14:sldId id="339"/>
            <p14:sldId id="340"/>
          </p14:sldIdLst>
        </p14:section>
        <p14:section name="Data Analysis" id="{65FDDA4B-DB83-4726-800C-39E4080BC4F2}">
          <p14:sldIdLst>
            <p14:sldId id="344"/>
            <p14:sldId id="345"/>
            <p14:sldId id="350"/>
            <p14:sldId id="328"/>
            <p14:sldId id="327"/>
            <p14:sldId id="333"/>
            <p14:sldId id="348"/>
            <p14:sldId id="287"/>
            <p14:sldId id="376"/>
            <p14:sldId id="377"/>
            <p14:sldId id="305"/>
            <p14:sldId id="307"/>
            <p14:sldId id="308"/>
            <p14:sldId id="309"/>
            <p14:sldId id="313"/>
            <p14:sldId id="317"/>
            <p14:sldId id="359"/>
            <p14:sldId id="360"/>
            <p14:sldId id="363"/>
            <p14:sldId id="364"/>
            <p14:sldId id="365"/>
            <p14:sldId id="366"/>
            <p14:sldId id="367"/>
            <p14:sldId id="368"/>
            <p14:sldId id="369"/>
            <p14:sldId id="370"/>
            <p14:sldId id="371"/>
            <p14:sldId id="372"/>
            <p14:sldId id="373"/>
            <p14:sldId id="375"/>
            <p14:sldId id="374"/>
            <p14:sldId id="387"/>
            <p14:sldId id="415"/>
            <p14:sldId id="385"/>
            <p14:sldId id="388"/>
            <p14:sldId id="389"/>
            <p14:sldId id="390"/>
            <p14:sldId id="391"/>
            <p14:sldId id="392"/>
            <p14:sldId id="417"/>
          </p14:sldIdLst>
        </p14:section>
        <p14:section name="Visualizations" id="{DC079D9C-6ADD-4BED-A42B-C904E90E1AD1}">
          <p14:sldIdLst/>
        </p14:section>
        <p14:section name="Maching Learning/Modeling" id="{21B74B43-22C1-4415-A252-8AA52F6BD2E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1D8831-478D-88B0-5123-E6B8644781DA}" name="Taylor, April D" initials="TAD" userId="Taylor, April D" providerId="None"/>
  <p188:author id="{34FD2360-F67A-7F85-47E2-DA2BF6C08AD6}" name="April Taylor" initials="AT" userId="d707a94ff498a4de" providerId="Windows Live"/>
  <p188:author id="{CA2972FF-FB60-3ED3-6906-6512779222F2}" name="Taylor, April D" initials="TD" userId="S::taylorad@iu.edu::98282410-b98f-4ad7-a581-af213ca335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A0F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01C70D-0028-4ECE-B37C-A25FC1ED018B}" v="35" dt="2022-12-06T14:55:35.035"/>
    <p1510:client id="{C34A4C08-A272-DD82-D317-0D156008D2C4}" v="12" dt="2022-12-06T23:33:01.219"/>
    <p1510:client id="{CF29003A-E40A-E2B8-B5BD-73BCAF68D395}" v="7" dt="2022-12-06T20:58:48.251"/>
    <p1510:client id="{FFB06468-4682-4C01-A603-6B9CB00F4526}" v="228" dt="2022-12-06T00:13:56.30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DAD8"/>
          </a:solidFill>
        </a:fill>
      </a:tcStyle>
    </a:wholeTbl>
    <a:band2H>
      <a:tcTxStyle/>
      <a:tcStyle>
        <a:tcBdr/>
        <a:fill>
          <a:solidFill>
            <a:srgbClr val="EDED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9D6D1"/>
          </a:solidFill>
        </a:fill>
      </a:tcStyle>
    </a:wholeTbl>
    <a:band2H>
      <a:tcTxStyle/>
      <a:tcStyle>
        <a:tcBdr/>
        <a:fill>
          <a:solidFill>
            <a:srgbClr val="EDEC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4D8DC"/>
          </a:solidFill>
        </a:fill>
      </a:tcStyle>
    </a:wholeTbl>
    <a:band2H>
      <a:tcTxStyle/>
      <a:tcStyle>
        <a:tcBdr/>
        <a:fill>
          <a:solidFill>
            <a:srgbClr val="FAEC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9" autoAdjust="0"/>
  </p:normalViewPr>
  <p:slideViewPr>
    <p:cSldViewPr snapToGrid="0">
      <p:cViewPr varScale="1">
        <p:scale>
          <a:sx n="79" d="100"/>
          <a:sy n="79" d="100"/>
        </p:scale>
        <p:origin x="125"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notesMaster" Target="notesMasters/notesMaster1.xml"/><Relationship Id="rId136"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8" name="Shape 118"/>
          <p:cNvSpPr>
            <a:spLocks noGrp="1" noRot="1" noChangeAspect="1"/>
          </p:cNvSpPr>
          <p:nvPr>
            <p:ph type="sldImg"/>
          </p:nvPr>
        </p:nvSpPr>
        <p:spPr>
          <a:xfrm>
            <a:off x="1143000" y="685800"/>
            <a:ext cx="4572000" cy="3429000"/>
          </a:xfrm>
          <a:prstGeom prst="rect">
            <a:avLst/>
          </a:prstGeom>
        </p:spPr>
        <p:txBody>
          <a:bodyPr/>
          <a:lstStyle/>
          <a:p>
            <a:endParaRPr/>
          </a:p>
        </p:txBody>
      </p:sp>
      <p:sp>
        <p:nvSpPr>
          <p:cNvPr id="119" name="Shape 11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Franklin Gothic Book"/>
      </a:defRPr>
    </a:lvl1pPr>
    <a:lvl2pPr indent="228600" defTabSz="457200" latinLnBrk="0">
      <a:defRPr sz="1200">
        <a:latin typeface="+mj-lt"/>
        <a:ea typeface="+mj-ea"/>
        <a:cs typeface="+mj-cs"/>
        <a:sym typeface="Franklin Gothic Book"/>
      </a:defRPr>
    </a:lvl2pPr>
    <a:lvl3pPr indent="457200" defTabSz="457200" latinLnBrk="0">
      <a:defRPr sz="1200">
        <a:latin typeface="+mj-lt"/>
        <a:ea typeface="+mj-ea"/>
        <a:cs typeface="+mj-cs"/>
        <a:sym typeface="Franklin Gothic Book"/>
      </a:defRPr>
    </a:lvl3pPr>
    <a:lvl4pPr indent="685800" defTabSz="457200" latinLnBrk="0">
      <a:defRPr sz="1200">
        <a:latin typeface="+mj-lt"/>
        <a:ea typeface="+mj-ea"/>
        <a:cs typeface="+mj-cs"/>
        <a:sym typeface="Franklin Gothic Book"/>
      </a:defRPr>
    </a:lvl4pPr>
    <a:lvl5pPr indent="914400" defTabSz="457200" latinLnBrk="0">
      <a:defRPr sz="1200">
        <a:latin typeface="+mj-lt"/>
        <a:ea typeface="+mj-ea"/>
        <a:cs typeface="+mj-cs"/>
        <a:sym typeface="Franklin Gothic Book"/>
      </a:defRPr>
    </a:lvl5pPr>
    <a:lvl6pPr indent="1143000" defTabSz="457200" latinLnBrk="0">
      <a:defRPr sz="1200">
        <a:latin typeface="+mj-lt"/>
        <a:ea typeface="+mj-ea"/>
        <a:cs typeface="+mj-cs"/>
        <a:sym typeface="Franklin Gothic Book"/>
      </a:defRPr>
    </a:lvl6pPr>
    <a:lvl7pPr indent="1371600" defTabSz="457200" latinLnBrk="0">
      <a:defRPr sz="1200">
        <a:latin typeface="+mj-lt"/>
        <a:ea typeface="+mj-ea"/>
        <a:cs typeface="+mj-cs"/>
        <a:sym typeface="Franklin Gothic Book"/>
      </a:defRPr>
    </a:lvl7pPr>
    <a:lvl8pPr indent="1600200" defTabSz="457200" latinLnBrk="0">
      <a:defRPr sz="1200">
        <a:latin typeface="+mj-lt"/>
        <a:ea typeface="+mj-ea"/>
        <a:cs typeface="+mj-cs"/>
        <a:sym typeface="Franklin Gothic Book"/>
      </a:defRPr>
    </a:lvl8pPr>
    <a:lvl9pPr indent="1828800" defTabSz="457200" latinLnBrk="0">
      <a:defRPr sz="1200">
        <a:latin typeface="+mj-lt"/>
        <a:ea typeface="+mj-ea"/>
        <a:cs typeface="+mj-cs"/>
        <a:sym typeface="Franklin Gothic Book"/>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0159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0647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8497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7790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4" name="Title Text"/>
          <p:cNvSpPr txBox="1">
            <a:spLocks noGrp="1"/>
          </p:cNvSpPr>
          <p:nvPr>
            <p:ph type="title"/>
          </p:nvPr>
        </p:nvSpPr>
        <p:spPr>
          <a:xfrm>
            <a:off x="1371600" y="685800"/>
            <a:ext cx="9601200" cy="1485900"/>
          </a:xfrm>
          <a:prstGeom prst="rect">
            <a:avLst/>
          </a:prstGeom>
        </p:spPr>
        <p:txBody>
          <a:bodyPr/>
          <a:lstStyle/>
          <a:p>
            <a:r>
              <a:t>Title Text</a:t>
            </a:r>
          </a:p>
        </p:txBody>
      </p:sp>
      <p:sp>
        <p:nvSpPr>
          <p:cNvPr id="25" name="Body Level One…"/>
          <p:cNvSpPr txBox="1">
            <a:spLocks noGrp="1"/>
          </p:cNvSpPr>
          <p:nvPr>
            <p:ph type="body" idx="1"/>
          </p:nvPr>
        </p:nvSpPr>
        <p:spPr>
          <a:xfrm>
            <a:off x="1371600" y="2286000"/>
            <a:ext cx="9601200" cy="35814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268DA-B485-51EE-D63B-6EBD38A7AFFD}"/>
              </a:ext>
            </a:extLst>
          </p:cNvPr>
          <p:cNvSpPr>
            <a:spLocks noGrp="1"/>
          </p:cNvSpPr>
          <p:nvPr>
            <p:ph type="title"/>
          </p:nvPr>
        </p:nvSpPr>
        <p:spPr>
          <a:xfrm>
            <a:off x="609600" y="274637"/>
            <a:ext cx="10972800" cy="657016"/>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1BF9BED9-C8A9-2F92-CFA9-A500BAB84BEC}"/>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5526786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1371600" y="685800"/>
            <a:ext cx="9601200" cy="148590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t>Title Text</a:t>
            </a:r>
          </a:p>
        </p:txBody>
      </p:sp>
      <p:sp>
        <p:nvSpPr>
          <p:cNvPr id="53" name="Body Level One…"/>
          <p:cNvSpPr txBox="1">
            <a:spLocks noGrp="1"/>
          </p:cNvSpPr>
          <p:nvPr>
            <p:ph type="body" sz="quarter" idx="1"/>
          </p:nvPr>
        </p:nvSpPr>
        <p:spPr>
          <a:xfrm>
            <a:off x="1371600" y="2340864"/>
            <a:ext cx="4580626" cy="823913"/>
          </a:xfrm>
          <a:prstGeom prst="rect">
            <a:avLst/>
          </a:prstGeom>
        </p:spPr>
        <p:txBody>
          <a:bodyPr anchor="b"/>
          <a:lstStyle>
            <a:lvl1pPr marL="0" indent="0">
              <a:lnSpc>
                <a:spcPct val="84000"/>
              </a:lnSpc>
              <a:spcBef>
                <a:spcPts val="0"/>
              </a:spcBef>
              <a:buSzTx/>
              <a:buFontTx/>
              <a:buNone/>
              <a:defRPr sz="3000">
                <a:latin typeface="Times New Roman" panose="02020603050405020304" pitchFamily="18" charset="0"/>
                <a:cs typeface="Times New Roman" panose="02020603050405020304" pitchFamily="18" charset="0"/>
              </a:defRPr>
            </a:lvl1pPr>
            <a:lvl2pPr marL="0" indent="457200">
              <a:lnSpc>
                <a:spcPct val="84000"/>
              </a:lnSpc>
              <a:spcBef>
                <a:spcPts val="0"/>
              </a:spcBef>
              <a:buSzTx/>
              <a:buFontTx/>
              <a:buNone/>
              <a:defRPr sz="3000">
                <a:latin typeface="Times New Roman" panose="02020603050405020304" pitchFamily="18" charset="0"/>
                <a:cs typeface="Times New Roman" panose="02020603050405020304" pitchFamily="18" charset="0"/>
              </a:defRPr>
            </a:lvl2pPr>
            <a:lvl3pPr marL="0" indent="914400">
              <a:lnSpc>
                <a:spcPct val="84000"/>
              </a:lnSpc>
              <a:spcBef>
                <a:spcPts val="0"/>
              </a:spcBef>
              <a:buSzTx/>
              <a:buFontTx/>
              <a:buNone/>
              <a:defRPr sz="3000">
                <a:latin typeface="Times New Roman" panose="02020603050405020304" pitchFamily="18" charset="0"/>
                <a:cs typeface="Times New Roman" panose="02020603050405020304" pitchFamily="18" charset="0"/>
              </a:defRPr>
            </a:lvl3pPr>
            <a:lvl4pPr marL="0" indent="1371600">
              <a:lnSpc>
                <a:spcPct val="84000"/>
              </a:lnSpc>
              <a:spcBef>
                <a:spcPts val="0"/>
              </a:spcBef>
              <a:buSzTx/>
              <a:buFontTx/>
              <a:buNone/>
              <a:defRPr sz="3000">
                <a:latin typeface="Times New Roman" panose="02020603050405020304" pitchFamily="18" charset="0"/>
                <a:cs typeface="Times New Roman" panose="02020603050405020304" pitchFamily="18" charset="0"/>
              </a:defRPr>
            </a:lvl4pPr>
            <a:lvl5pPr marL="0" indent="1828800">
              <a:lnSpc>
                <a:spcPct val="84000"/>
              </a:lnSpc>
              <a:spcBef>
                <a:spcPts val="0"/>
              </a:spcBef>
              <a:buSzTx/>
              <a:buFontTx/>
              <a:buNone/>
              <a:defRPr sz="3000">
                <a:latin typeface="Times New Roman" panose="02020603050405020304" pitchFamily="18" charset="0"/>
                <a:cs typeface="Times New Roman" panose="02020603050405020304" pitchFamily="18"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4" name="Text Placeholder 4"/>
          <p:cNvSpPr>
            <a:spLocks noGrp="1"/>
          </p:cNvSpPr>
          <p:nvPr>
            <p:ph type="body" sz="quarter" idx="13"/>
          </p:nvPr>
        </p:nvSpPr>
        <p:spPr>
          <a:xfrm>
            <a:off x="6525014" y="2340864"/>
            <a:ext cx="4443985" cy="823913"/>
          </a:xfrm>
          <a:prstGeom prst="rect">
            <a:avLst/>
          </a:prstGeom>
        </p:spPr>
        <p:txBody>
          <a:bodyPr anchor="b"/>
          <a:lstStyle>
            <a:lvl1pPr>
              <a:defRPr>
                <a:latin typeface="Times New Roman" panose="02020603050405020304" pitchFamily="18" charset="0"/>
                <a:cs typeface="Times New Roman" panose="02020603050405020304" pitchFamily="18" charset="0"/>
              </a:defRPr>
            </a:lvl1pPr>
          </a:lstStyle>
          <a:p>
            <a:pPr marL="0" indent="0">
              <a:lnSpc>
                <a:spcPct val="84000"/>
              </a:lnSpc>
              <a:spcBef>
                <a:spcPts val="0"/>
              </a:spcBef>
              <a:buSzTx/>
              <a:buFontTx/>
              <a:buNone/>
              <a:defRPr sz="3000"/>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Background ShapeRectangle 7"/>
          <p:cNvSpPr/>
          <p:nvPr/>
        </p:nvSpPr>
        <p:spPr>
          <a:xfrm>
            <a:off x="-1" y="375"/>
            <a:ext cx="5303522" cy="6857626"/>
          </a:xfrm>
          <a:prstGeom prst="rect">
            <a:avLst/>
          </a:prstGeom>
          <a:solidFill>
            <a:schemeClr val="accent1"/>
          </a:solidFill>
          <a:ln w="12700">
            <a:miter lim="400000"/>
          </a:ln>
        </p:spPr>
        <p:txBody>
          <a:bodyPr lIns="45719" rIns="45719"/>
          <a:lstStyle/>
          <a:p>
            <a:endParaRPr/>
          </a:p>
        </p:txBody>
      </p:sp>
      <p:sp>
        <p:nvSpPr>
          <p:cNvPr id="78" name="Title Text"/>
          <p:cNvSpPr txBox="1">
            <a:spLocks noGrp="1"/>
          </p:cNvSpPr>
          <p:nvPr>
            <p:ph type="title"/>
          </p:nvPr>
        </p:nvSpPr>
        <p:spPr>
          <a:xfrm>
            <a:off x="723900" y="685800"/>
            <a:ext cx="3855721" cy="2157884"/>
          </a:xfrm>
          <a:prstGeom prst="rect">
            <a:avLst/>
          </a:prstGeom>
        </p:spPr>
        <p:txBody>
          <a:bodyPr/>
          <a:lstStyle>
            <a:lvl1pPr>
              <a:lnSpc>
                <a:spcPct val="84000"/>
              </a:lnSpc>
              <a:defRPr sz="4800"/>
            </a:lvl1pPr>
          </a:lstStyle>
          <a:p>
            <a:r>
              <a:t>Title Text</a:t>
            </a:r>
          </a:p>
        </p:txBody>
      </p:sp>
      <p:sp>
        <p:nvSpPr>
          <p:cNvPr id="79" name="Body Level One…"/>
          <p:cNvSpPr txBox="1">
            <a:spLocks noGrp="1"/>
          </p:cNvSpPr>
          <p:nvPr>
            <p:ph type="body" sz="half" idx="1"/>
          </p:nvPr>
        </p:nvSpPr>
        <p:spPr>
          <a:xfrm>
            <a:off x="6256020" y="685801"/>
            <a:ext cx="5212080" cy="517525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0" name="Text Placeholder 3"/>
          <p:cNvSpPr>
            <a:spLocks noGrp="1"/>
          </p:cNvSpPr>
          <p:nvPr>
            <p:ph type="body" sz="quarter" idx="13"/>
          </p:nvPr>
        </p:nvSpPr>
        <p:spPr>
          <a:xfrm>
            <a:off x="723899" y="2856343"/>
            <a:ext cx="3855722" cy="3011058"/>
          </a:xfrm>
          <a:prstGeom prst="rect">
            <a:avLst/>
          </a:prstGeom>
        </p:spPr>
        <p:txBody>
          <a:bodyPr/>
          <a:lstStyle/>
          <a:p>
            <a:pPr marL="0" indent="0">
              <a:lnSpc>
                <a:spcPct val="113000"/>
              </a:lnSpc>
              <a:spcBef>
                <a:spcPts val="1500"/>
              </a:spcBef>
              <a:buSzTx/>
              <a:buFontTx/>
              <a:buNone/>
              <a:defRPr sz="1600"/>
            </a:pPr>
            <a:endParaRPr/>
          </a:p>
        </p:txBody>
      </p:sp>
      <p:sp>
        <p:nvSpPr>
          <p:cNvPr id="81" name="Divider BarRectangle 8"/>
          <p:cNvSpPr/>
          <p:nvPr/>
        </p:nvSpPr>
        <p:spPr>
          <a:xfrm>
            <a:off x="5303520" y="376"/>
            <a:ext cx="228601" cy="6858001"/>
          </a:xfrm>
          <a:prstGeom prst="rect">
            <a:avLst/>
          </a:prstGeom>
          <a:solidFill>
            <a:srgbClr val="191B0E"/>
          </a:solidFill>
          <a:ln w="12700">
            <a:miter lim="400000"/>
          </a:ln>
        </p:spPr>
        <p:txBody>
          <a:bodyPr lIns="45719" rIns="45719"/>
          <a:lstStyle/>
          <a:p>
            <a:endParaRPr/>
          </a:p>
        </p:txBody>
      </p:sp>
      <p:sp>
        <p:nvSpPr>
          <p:cNvPr id="82" name="Slide Number"/>
          <p:cNvSpPr txBox="1">
            <a:spLocks noGrp="1"/>
          </p:cNvSpPr>
          <p:nvPr>
            <p:ph type="sldNum" sz="quarter" idx="2"/>
          </p:nvPr>
        </p:nvSpPr>
        <p:spPr>
          <a:xfrm>
            <a:off x="11205823" y="6523206"/>
            <a:ext cx="273610" cy="264974"/>
          </a:xfrm>
          <a:prstGeom prst="rect">
            <a:avLst/>
          </a:prstGeom>
        </p:spPr>
        <p:txBody>
          <a:bodyPr/>
          <a:lstStyle/>
          <a:p>
            <a:fld id="{86CB4B4D-7CA3-9044-876B-883B54F8677D}" type="slidenum">
              <a:t>‹#›</a:t>
            </a:fld>
            <a:endParaRPr/>
          </a:p>
        </p:txBody>
      </p:sp>
    </p:spTree>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101" name="Title Text"/>
          <p:cNvSpPr txBox="1">
            <a:spLocks noGrp="1"/>
          </p:cNvSpPr>
          <p:nvPr>
            <p:ph type="title"/>
          </p:nvPr>
        </p:nvSpPr>
        <p:spPr>
          <a:xfrm>
            <a:off x="1371600" y="685800"/>
            <a:ext cx="9601200" cy="1485900"/>
          </a:xfrm>
          <a:prstGeom prst="rect">
            <a:avLst/>
          </a:prstGeom>
        </p:spPr>
        <p:txBody>
          <a:bodyPr/>
          <a:lstStyle/>
          <a:p>
            <a:r>
              <a:t>Title Text</a:t>
            </a:r>
          </a:p>
        </p:txBody>
      </p:sp>
      <p:sp>
        <p:nvSpPr>
          <p:cNvPr id="102" name="Body Level One…"/>
          <p:cNvSpPr txBox="1">
            <a:spLocks noGrp="1"/>
          </p:cNvSpPr>
          <p:nvPr>
            <p:ph type="body" idx="1"/>
          </p:nvPr>
        </p:nvSpPr>
        <p:spPr>
          <a:xfrm>
            <a:off x="1371600" y="2295525"/>
            <a:ext cx="9601200" cy="357187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9596560" y="624155"/>
            <a:ext cx="1565767" cy="5243245"/>
          </a:xfrm>
          <a:prstGeom prst="rect">
            <a:avLst/>
          </a:prstGeom>
        </p:spPr>
        <p:txBody>
          <a:bodyPr/>
          <a:lstStyle/>
          <a:p>
            <a:r>
              <a:t>Title Text</a:t>
            </a:r>
          </a:p>
        </p:txBody>
      </p:sp>
      <p:sp>
        <p:nvSpPr>
          <p:cNvPr id="111" name="Body Level One…"/>
          <p:cNvSpPr txBox="1">
            <a:spLocks noGrp="1"/>
          </p:cNvSpPr>
          <p:nvPr>
            <p:ph type="body" idx="1"/>
          </p:nvPr>
        </p:nvSpPr>
        <p:spPr>
          <a:xfrm>
            <a:off x="1371600" y="624155"/>
            <a:ext cx="8179642" cy="524324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DE3"/>
        </a:solidFill>
        <a:effectLst/>
      </p:bgPr>
    </p:bg>
    <p:spTree>
      <p:nvGrpSpPr>
        <p:cNvPr id="1" name=""/>
        <p:cNvGrpSpPr/>
        <p:nvPr/>
      </p:nvGrpSpPr>
      <p:grpSpPr>
        <a:xfrm>
          <a:off x="0" y="0"/>
          <a:ext cx="0" cy="0"/>
          <a:chOff x="0" y="0"/>
          <a:chExt cx="0" cy="0"/>
        </a:xfrm>
      </p:grpSpPr>
      <p:sp>
        <p:nvSpPr>
          <p:cNvPr id="2" name="Side barRectangle 8"/>
          <p:cNvSpPr/>
          <p:nvPr/>
        </p:nvSpPr>
        <p:spPr>
          <a:xfrm>
            <a:off x="478094" y="376"/>
            <a:ext cx="228601" cy="6858001"/>
          </a:xfrm>
          <a:prstGeom prst="rect">
            <a:avLst/>
          </a:prstGeom>
          <a:solidFill>
            <a:srgbClr val="191B0E"/>
          </a:solidFill>
          <a:ln w="12700">
            <a:miter lim="400000"/>
          </a:ln>
        </p:spPr>
        <p:txBody>
          <a:bodyPr lIns="45719" rIns="45719"/>
          <a:lstStyle/>
          <a:p>
            <a:endParaRPr/>
          </a:p>
        </p:txBody>
      </p:sp>
      <p:sp>
        <p:nvSpPr>
          <p:cNvPr id="3" name="Title Text"/>
          <p:cNvSpPr txBox="1">
            <a:spLocks noGrp="1"/>
          </p:cNvSpPr>
          <p:nvPr>
            <p:ph type="title"/>
          </p:nvPr>
        </p:nvSpPr>
        <p:spPr>
          <a:xfrm>
            <a:off x="609600" y="274637"/>
            <a:ext cx="10972800" cy="132556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795418" y="6523206"/>
            <a:ext cx="273610" cy="264974"/>
          </a:xfrm>
          <a:prstGeom prst="rect">
            <a:avLst/>
          </a:prstGeom>
          <a:ln w="12700">
            <a:miter lim="400000"/>
          </a:ln>
        </p:spPr>
        <p:txBody>
          <a:bodyPr wrap="none" lIns="45719" rIns="45719" anchor="ctr">
            <a:spAutoFit/>
          </a:bodyPr>
          <a:lstStyle>
            <a:lvl1pPr algn="r">
              <a:defRPr sz="1200">
                <a:solidFill>
                  <a:srgbClr val="191B0E"/>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60" r:id="rId2"/>
    <p:sldLayoutId id="2147483653" r:id="rId3"/>
    <p:sldLayoutId id="2147483656" r:id="rId4"/>
    <p:sldLayoutId id="2147483658" r:id="rId5"/>
    <p:sldLayoutId id="2147483659" r:id="rId6"/>
  </p:sldLayoutIdLst>
  <p:transition spd="med"/>
  <p:hf sldNum="0" hdr="0" ftr="0" dt="0"/>
  <p:txStyles>
    <p:titleStyle>
      <a:lvl1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1pPr>
      <a:lvl2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2pPr>
      <a:lvl3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3pPr>
      <a:lvl4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4pPr>
      <a:lvl5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5pPr>
      <a:lvl6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6pPr>
      <a:lvl7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7pPr>
      <a:lvl8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8pPr>
      <a:lvl9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9pPr>
    </p:titleStyle>
    <p:bodyStyle>
      <a:lvl1pPr marL="384047"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1pPr>
      <a:lvl2pPr marL="914400"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2pPr>
      <a:lvl3pPr marL="14142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3pPr>
      <a:lvl4pPr marL="18714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4pPr>
      <a:lvl5pPr marL="23820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5pPr>
      <a:lvl6pPr marL="28392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6pPr>
      <a:lvl7pPr marL="33649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7pPr>
      <a:lvl8pPr marL="38221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8pPr>
      <a:lvl9pPr marL="42793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Franklin Gothic Book"/>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www.aap.org/en/advocacy/child-and-adolescent-healthy-mental-development/aap-aacap-cha-declaration-of-a-national-emergency-in-child-and-adolescent-mental-health/" TargetMode="External"/><Relationship Id="rId2" Type="http://schemas.openxmlformats.org/officeDocument/2006/relationships/hyperlink" Target="https://www.who.int/publications/i/item/WHO-2019-nCoV-Sci_Brief-Mental_health-2022.1" TargetMode="External"/><Relationship Id="rId1" Type="http://schemas.openxmlformats.org/officeDocument/2006/relationships/slideLayout" Target="../slideLayouts/slideLayout6.xml"/><Relationship Id="rId6" Type="http://schemas.openxmlformats.org/officeDocument/2006/relationships/hyperlink" Target="https://doi.org/10.1001/jamanetworkopen.2022.27658" TargetMode="External"/><Relationship Id="rId5" Type="http://schemas.openxmlformats.org/officeDocument/2006/relationships/hyperlink" Target="https://doi.org/10.1177/0840470416679413" TargetMode="External"/><Relationship Id="rId4" Type="http://schemas.openxmlformats.org/officeDocument/2006/relationships/hyperlink" Target="https://doi.org/10.1177/0020764011423176"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9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xml"/><Relationship Id="rId4" Type="http://schemas.openxmlformats.org/officeDocument/2006/relationships/image" Target="../media/image110.png"/></Relationships>
</file>

<file path=ppt/slides/_rels/slide9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CA39A"/>
        </a:solidFill>
        <a:effectLst/>
      </p:bgPr>
    </p:bg>
    <p:spTree>
      <p:nvGrpSpPr>
        <p:cNvPr id="1" name=""/>
        <p:cNvGrpSpPr/>
        <p:nvPr/>
      </p:nvGrpSpPr>
      <p:grpSpPr>
        <a:xfrm>
          <a:off x="0" y="0"/>
          <a:ext cx="0" cy="0"/>
          <a:chOff x="0" y="0"/>
          <a:chExt cx="0" cy="0"/>
        </a:xfrm>
      </p:grpSpPr>
      <p:sp>
        <p:nvSpPr>
          <p:cNvPr id="160" name="Title 1"/>
          <p:cNvSpPr txBox="1">
            <a:spLocks noGrp="1"/>
          </p:cNvSpPr>
          <p:nvPr>
            <p:ph type="title"/>
          </p:nvPr>
        </p:nvSpPr>
        <p:spPr>
          <a:xfrm>
            <a:off x="899220" y="1432399"/>
            <a:ext cx="11021698" cy="1617101"/>
          </a:xfrm>
          <a:prstGeom prst="rect">
            <a:avLst/>
          </a:prstGeom>
        </p:spPr>
        <p:txBody>
          <a:bodyPr lIns="45719" tIns="45720" rIns="45719" bIns="45720" anchor="t">
            <a:noAutofit/>
          </a:bodyPr>
          <a:lstStyle>
            <a:lvl1pPr>
              <a:defRPr sz="7200">
                <a:solidFill>
                  <a:srgbClr val="EEEDEB"/>
                </a:solidFill>
                <a:latin typeface="BentonSansComp Black"/>
                <a:ea typeface="BentonSansComp Black"/>
                <a:cs typeface="BentonSansComp Black"/>
                <a:sym typeface="BentonSansComp Black"/>
              </a:defRPr>
            </a:lvl1pPr>
          </a:lstStyle>
          <a:p>
            <a:pPr algn="ctr"/>
            <a:r>
              <a:rPr lang="en-US" sz="4000" b="1" i="0">
                <a:solidFill>
                  <a:srgbClr val="000000"/>
                </a:solidFill>
                <a:effectLst/>
                <a:latin typeface="Cambria"/>
                <a:cs typeface="Times New Roman"/>
              </a:rPr>
              <a:t>A Comparative Analysis and Predicative Model for Reporting Depression in U.S. Adults</a:t>
            </a:r>
            <a:endParaRPr lang="en-US">
              <a:latin typeface="Cambria"/>
              <a:cs typeface="Times New Roman"/>
            </a:endParaRPr>
          </a:p>
        </p:txBody>
      </p:sp>
      <p:sp>
        <p:nvSpPr>
          <p:cNvPr id="162" name="Triangle"/>
          <p:cNvSpPr/>
          <p:nvPr/>
        </p:nvSpPr>
        <p:spPr>
          <a:xfrm rot="16200000">
            <a:off x="9412982" y="4091682"/>
            <a:ext cx="2779018" cy="277901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DD0031"/>
          </a:solidFill>
          <a:ln w="12700">
            <a:miter lim="400000"/>
          </a:ln>
        </p:spPr>
        <p:txBody>
          <a:bodyPr lIns="45719" rIns="45719" anchor="ctr"/>
          <a:lstStyle/>
          <a:p>
            <a:pPr>
              <a:defRPr>
                <a:solidFill>
                  <a:srgbClr val="4C1213"/>
                </a:solidFill>
              </a:defRPr>
            </a:pPr>
            <a:endParaRPr/>
          </a:p>
        </p:txBody>
      </p:sp>
      <p:pic>
        <p:nvPicPr>
          <p:cNvPr id="3" name="Picture 2">
            <a:extLst>
              <a:ext uri="{FF2B5EF4-FFF2-40B4-BE49-F238E27FC236}">
                <a16:creationId xmlns:a16="http://schemas.microsoft.com/office/drawing/2014/main" id="{8516E204-2BD5-3B4A-BBEF-7BBD19BA8C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4299" y="162208"/>
            <a:ext cx="3904311" cy="633192"/>
          </a:xfrm>
          <a:prstGeom prst="rect">
            <a:avLst/>
          </a:prstGeom>
        </p:spPr>
      </p:pic>
      <p:pic>
        <p:nvPicPr>
          <p:cNvPr id="6" name="Picture 5">
            <a:extLst>
              <a:ext uri="{FF2B5EF4-FFF2-40B4-BE49-F238E27FC236}">
                <a16:creationId xmlns:a16="http://schemas.microsoft.com/office/drawing/2014/main" id="{F6B99DD8-53C4-FB45-9C15-B21DA7CC3A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4299" y="6245144"/>
            <a:ext cx="406400" cy="406400"/>
          </a:xfrm>
          <a:prstGeom prst="rect">
            <a:avLst/>
          </a:prstGeom>
        </p:spPr>
      </p:pic>
      <p:pic>
        <p:nvPicPr>
          <p:cNvPr id="8" name="Picture 7">
            <a:extLst>
              <a:ext uri="{FF2B5EF4-FFF2-40B4-BE49-F238E27FC236}">
                <a16:creationId xmlns:a16="http://schemas.microsoft.com/office/drawing/2014/main" id="{12FFBABA-FA7D-1843-8629-3D2425B199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2432" y="6245144"/>
            <a:ext cx="406400" cy="406400"/>
          </a:xfrm>
          <a:prstGeom prst="rect">
            <a:avLst/>
          </a:prstGeom>
        </p:spPr>
      </p:pic>
      <p:pic>
        <p:nvPicPr>
          <p:cNvPr id="10" name="Picture 9">
            <a:extLst>
              <a:ext uri="{FF2B5EF4-FFF2-40B4-BE49-F238E27FC236}">
                <a16:creationId xmlns:a16="http://schemas.microsoft.com/office/drawing/2014/main" id="{AB514159-1705-D248-BD93-04D341DA0EF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24447" y="6221886"/>
            <a:ext cx="452915" cy="452915"/>
          </a:xfrm>
          <a:prstGeom prst="rect">
            <a:avLst/>
          </a:prstGeom>
        </p:spPr>
      </p:pic>
      <p:sp>
        <p:nvSpPr>
          <p:cNvPr id="11" name="TextBox 10">
            <a:extLst>
              <a:ext uri="{FF2B5EF4-FFF2-40B4-BE49-F238E27FC236}">
                <a16:creationId xmlns:a16="http://schemas.microsoft.com/office/drawing/2014/main" id="{26782E43-9C5E-AA4B-ADEA-B9C970DD3AFD}"/>
              </a:ext>
            </a:extLst>
          </p:cNvPr>
          <p:cNvSpPr txBox="1"/>
          <p:nvPr/>
        </p:nvSpPr>
        <p:spPr>
          <a:xfrm>
            <a:off x="1887103" y="6279068"/>
            <a:ext cx="1652256"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en-US" sz="1600" b="0" u="none" strike="noStrike" cap="none" spc="0" normalizeH="0" baseline="0">
                <a:ln>
                  <a:noFill/>
                </a:ln>
                <a:solidFill>
                  <a:srgbClr val="EEEDEB"/>
                </a:solidFill>
                <a:effectLst/>
                <a:uFillTx/>
                <a:latin typeface="+mj-lt"/>
                <a:ea typeface="+mj-ea"/>
                <a:cs typeface="+mj-cs"/>
                <a:sym typeface="Franklin Gothic Book"/>
              </a:rPr>
              <a:t>InformaticsIUPUI</a:t>
            </a:r>
            <a:endParaRPr kumimoji="0" lang="en-US" sz="1600" b="0" u="none" strike="noStrike" cap="none" spc="0" normalizeH="0" baseline="0">
              <a:ln>
                <a:noFill/>
              </a:ln>
              <a:solidFill>
                <a:srgbClr val="000000"/>
              </a:solidFill>
              <a:effectLst/>
              <a:uFillTx/>
              <a:latin typeface="+mj-lt"/>
              <a:ea typeface="+mj-ea"/>
              <a:cs typeface="+mj-cs"/>
              <a:sym typeface="Franklin Gothic Book"/>
            </a:endParaRPr>
          </a:p>
        </p:txBody>
      </p:sp>
      <p:sp>
        <p:nvSpPr>
          <p:cNvPr id="13" name="Rectangle 12">
            <a:extLst>
              <a:ext uri="{FF2B5EF4-FFF2-40B4-BE49-F238E27FC236}">
                <a16:creationId xmlns:a16="http://schemas.microsoft.com/office/drawing/2014/main" id="{17C96FC6-B095-5C46-925E-BF0CF0C242F4}"/>
              </a:ext>
            </a:extLst>
          </p:cNvPr>
          <p:cNvSpPr/>
          <p:nvPr/>
        </p:nvSpPr>
        <p:spPr>
          <a:xfrm>
            <a:off x="4240336" y="6282212"/>
            <a:ext cx="1939747" cy="369332"/>
          </a:xfrm>
          <a:prstGeom prst="rect">
            <a:avLst/>
          </a:prstGeom>
        </p:spPr>
        <p:txBody>
          <a:bodyPr wrap="square">
            <a:spAutoFit/>
          </a:bodyPr>
          <a:lstStyle/>
          <a:p>
            <a:r>
              <a:rPr lang="en-US">
                <a:solidFill>
                  <a:srgbClr val="EEEDEB"/>
                </a:solidFill>
              </a:rPr>
              <a:t>@IUPUInformatics</a:t>
            </a:r>
            <a:endParaRPr lang="en-US"/>
          </a:p>
        </p:txBody>
      </p:sp>
      <p:sp>
        <p:nvSpPr>
          <p:cNvPr id="14" name="Rectangle 13">
            <a:extLst>
              <a:ext uri="{FF2B5EF4-FFF2-40B4-BE49-F238E27FC236}">
                <a16:creationId xmlns:a16="http://schemas.microsoft.com/office/drawing/2014/main" id="{8111AEC1-21E0-4143-B094-03DCD7D35E10}"/>
              </a:ext>
            </a:extLst>
          </p:cNvPr>
          <p:cNvSpPr/>
          <p:nvPr/>
        </p:nvSpPr>
        <p:spPr>
          <a:xfrm>
            <a:off x="6877363" y="6263678"/>
            <a:ext cx="1029044" cy="369332"/>
          </a:xfrm>
          <a:prstGeom prst="rect">
            <a:avLst/>
          </a:prstGeom>
        </p:spPr>
        <p:txBody>
          <a:bodyPr wrap="square">
            <a:spAutoFit/>
          </a:bodyPr>
          <a:lstStyle/>
          <a:p>
            <a:r>
              <a:rPr lang="en-US">
                <a:solidFill>
                  <a:srgbClr val="EEEDEB"/>
                </a:solidFill>
              </a:rPr>
              <a:t>soicindy</a:t>
            </a:r>
            <a:endParaRPr lang="en-US"/>
          </a:p>
        </p:txBody>
      </p:sp>
      <p:sp>
        <p:nvSpPr>
          <p:cNvPr id="17" name="Subtitle 2">
            <a:extLst>
              <a:ext uri="{FF2B5EF4-FFF2-40B4-BE49-F238E27FC236}">
                <a16:creationId xmlns:a16="http://schemas.microsoft.com/office/drawing/2014/main" id="{83EFF0F0-8A2F-4316-A983-70907C43CCDF}"/>
              </a:ext>
            </a:extLst>
          </p:cNvPr>
          <p:cNvSpPr txBox="1">
            <a:spLocks noChangeArrowheads="1"/>
          </p:cNvSpPr>
          <p:nvPr/>
        </p:nvSpPr>
        <p:spPr>
          <a:xfrm>
            <a:off x="1389095" y="3023731"/>
            <a:ext cx="9581975" cy="29637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tIns="45720" rIns="45719" bIns="45720" anchor="t">
            <a:normAutofit lnSpcReduction="10000"/>
          </a:bodyPr>
          <a:lstStyle>
            <a:lvl1pPr marL="384047"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1pPr>
            <a:lvl2pPr marL="914400"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2pPr>
            <a:lvl3pPr marL="14142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3pPr>
            <a:lvl4pPr marL="18714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4pPr>
            <a:lvl5pPr marL="23820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5pPr>
            <a:lvl6pPr marL="28392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6pPr>
            <a:lvl7pPr marL="33649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7pPr>
            <a:lvl8pPr marL="38221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8pPr>
            <a:lvl9pPr marL="42793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9pPr>
          </a:lstStyle>
          <a:p>
            <a:pPr marL="0" indent="0" algn="ctr">
              <a:buNone/>
            </a:pPr>
            <a:r>
              <a:rPr lang="en-US" sz="3200">
                <a:solidFill>
                  <a:srgbClr val="000000"/>
                </a:solidFill>
                <a:latin typeface="Candara"/>
                <a:ea typeface="+mj-lt"/>
                <a:cs typeface="+mj-lt"/>
              </a:rPr>
              <a:t>Kiran </a:t>
            </a:r>
            <a:r>
              <a:rPr lang="en-US" sz="3200" b="0" i="0">
                <a:solidFill>
                  <a:srgbClr val="000000"/>
                </a:solidFill>
                <a:effectLst/>
                <a:latin typeface="Candara"/>
                <a:ea typeface="+mj-lt"/>
                <a:cs typeface="+mj-lt"/>
              </a:rPr>
              <a:t>Mai Jaiswal Charpuria, Kruthika Gaddam, Mohith Surya Kiran Kasula, Bala Samantula, Sri Harsha Sudalagunta, April Taylor, Alan Varkey </a:t>
            </a:r>
            <a:endParaRPr lang="en-US">
              <a:solidFill>
                <a:srgbClr val="000000"/>
              </a:solidFill>
              <a:latin typeface="Candara"/>
            </a:endParaRPr>
          </a:p>
          <a:p>
            <a:pPr marL="383540" indent="-383540">
              <a:buFont typeface="Wingdings"/>
              <a:buChar char="q"/>
            </a:pPr>
            <a:endParaRPr lang="en-US" sz="3200">
              <a:solidFill>
                <a:srgbClr val="000000"/>
              </a:solidFill>
              <a:latin typeface="Candara"/>
              <a:ea typeface="+mj-lt"/>
              <a:cs typeface="Times New Roman"/>
            </a:endParaRPr>
          </a:p>
          <a:p>
            <a:pPr marL="0" indent="0" algn="ctr">
              <a:buNone/>
            </a:pPr>
            <a:r>
              <a:rPr lang="en-US" sz="3200">
                <a:solidFill>
                  <a:srgbClr val="000000"/>
                </a:solidFill>
                <a:latin typeface="Candara"/>
                <a:ea typeface="+mj-lt"/>
                <a:cs typeface="Times New Roman"/>
              </a:rPr>
              <a:t>Indiana</a:t>
            </a:r>
            <a:r>
              <a:rPr lang="en-US" sz="3200" b="0" i="0">
                <a:solidFill>
                  <a:srgbClr val="000000"/>
                </a:solidFill>
                <a:effectLst/>
                <a:latin typeface="Candara"/>
                <a:ea typeface="+mj-lt"/>
                <a:cs typeface="Times New Roman"/>
              </a:rPr>
              <a:t> University-Purdue University, Indianapolis, USA </a:t>
            </a:r>
            <a:endParaRPr lang="en-US" sz="3600">
              <a:solidFill>
                <a:srgbClr val="000000"/>
              </a:solidFill>
              <a:latin typeface="Candara"/>
              <a:cs typeface="Times New Roman"/>
            </a:endParaRPr>
          </a:p>
          <a:p>
            <a:pPr marL="383540" indent="-383540">
              <a:spcBef>
                <a:spcPct val="0"/>
              </a:spcBef>
              <a:spcAft>
                <a:spcPts val="600"/>
              </a:spcAft>
              <a:buFont typeface="Wingdings"/>
              <a:buChar char="q"/>
            </a:pPr>
            <a:endParaRPr lang="en-US" altLang="en-US" sz="1800">
              <a:solidFill>
                <a:schemeClr val="tx1"/>
              </a:solidFill>
              <a:latin typeface="Candara"/>
              <a:ea typeface="ＭＳ Ｐゴシック" panose="020B0600070205080204" pitchFamily="34" charset="-128"/>
              <a:cs typeface="Segoe UI" panose="020B0502040204020203" pitchFamily="34" charset="0"/>
            </a:endParaRPr>
          </a:p>
        </p:txBody>
      </p:sp>
      <p:sp>
        <p:nvSpPr>
          <p:cNvPr id="2" name="TextBox 1">
            <a:extLst>
              <a:ext uri="{FF2B5EF4-FFF2-40B4-BE49-F238E27FC236}">
                <a16:creationId xmlns:a16="http://schemas.microsoft.com/office/drawing/2014/main" id="{CE59B877-8071-42AD-BC6C-F3D0B6C04A4E}"/>
              </a:ext>
            </a:extLst>
          </p:cNvPr>
          <p:cNvSpPr txBox="1"/>
          <p:nvPr/>
        </p:nvSpPr>
        <p:spPr>
          <a:xfrm>
            <a:off x="8558075" y="111253"/>
            <a:ext cx="3444536"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457200">
              <a:lnSpc>
                <a:spcPct val="100000"/>
              </a:lnSpc>
              <a:buNone/>
              <a:tabLst/>
            </a:pPr>
            <a:r>
              <a:rPr lang="en-US" b="1">
                <a:latin typeface="Times New Roman"/>
                <a:ea typeface="+mj-lt"/>
                <a:cs typeface="Times New Roman"/>
              </a:rPr>
              <a:t>Date: December 3, 2022</a:t>
            </a:r>
            <a:endParaRPr lang="en-US"/>
          </a:p>
          <a:p>
            <a:r>
              <a:rPr lang="en-US" b="1">
                <a:latin typeface="Times New Roman"/>
                <a:ea typeface="+mj-lt"/>
                <a:cs typeface="Times New Roman"/>
              </a:rPr>
              <a:t>Course: Intro to Informatics </a:t>
            </a:r>
            <a:endParaRPr lang="en-US"/>
          </a:p>
          <a:p>
            <a:r>
              <a:rPr lang="en-US" b="1">
                <a:latin typeface="Times New Roman"/>
                <a:ea typeface="+mj-lt"/>
                <a:cs typeface="Times New Roman"/>
              </a:rPr>
              <a:t>Group 12 Project Presentation</a:t>
            </a:r>
            <a:endParaRPr lang="en-US"/>
          </a:p>
          <a:p>
            <a:endParaRPr lang="en-US" b="1">
              <a:latin typeface="Times New Roman"/>
              <a:cs typeface="Times New Roman"/>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C6590D-BA1A-7098-C8ED-4564A940B8C5}"/>
              </a:ext>
            </a:extLst>
          </p:cNvPr>
          <p:cNvSpPr>
            <a:spLocks noGrp="1"/>
          </p:cNvSpPr>
          <p:nvPr>
            <p:ph type="title"/>
          </p:nvPr>
        </p:nvSpPr>
        <p:spPr>
          <a:xfrm>
            <a:off x="777272" y="238187"/>
            <a:ext cx="9601200" cy="1485900"/>
          </a:xfrm>
        </p:spPr>
        <p:txBody>
          <a:bodyPr/>
          <a:lstStyle/>
          <a:p>
            <a:r>
              <a:rPr lang="en-US">
                <a:latin typeface="Times New Roman" panose="02020603050405020304" pitchFamily="18" charset="0"/>
                <a:cs typeface="Times New Roman" panose="02020603050405020304" pitchFamily="18" charset="0"/>
              </a:rPr>
              <a:t>Background</a:t>
            </a:r>
          </a:p>
        </p:txBody>
      </p:sp>
      <p:sp>
        <p:nvSpPr>
          <p:cNvPr id="14" name="Rectangle: Rounded Corners 13">
            <a:extLst>
              <a:ext uri="{FF2B5EF4-FFF2-40B4-BE49-F238E27FC236}">
                <a16:creationId xmlns:a16="http://schemas.microsoft.com/office/drawing/2014/main" id="{FBA51639-D86F-6AF9-4F55-20978E44EA5A}"/>
              </a:ext>
            </a:extLst>
          </p:cNvPr>
          <p:cNvSpPr/>
          <p:nvPr/>
        </p:nvSpPr>
        <p:spPr>
          <a:xfrm>
            <a:off x="9440590" y="2580042"/>
            <a:ext cx="2244437" cy="1328021"/>
          </a:xfrm>
          <a:prstGeom prst="roundRect">
            <a:avLst/>
          </a:prstGeom>
          <a:solidFill>
            <a:schemeClr val="accent2">
              <a:lumMod val="75000"/>
            </a:schemeClr>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lang="en-US" b="1" i="0">
                <a:solidFill>
                  <a:schemeClr val="bg1"/>
                </a:solidFill>
                <a:effectLst/>
                <a:latin typeface="Times New Roman" panose="02020603050405020304" pitchFamily="18" charset="0"/>
                <a:cs typeface="Times New Roman" panose="02020603050405020304" pitchFamily="18" charset="0"/>
              </a:rPr>
              <a:t>standardized screening increases diagnosis in disparaged groups</a:t>
            </a:r>
            <a:r>
              <a:rPr lang="en-US" b="1" i="0" baseline="30000">
                <a:solidFill>
                  <a:schemeClr val="bg1"/>
                </a:solidFill>
                <a:effectLst/>
                <a:latin typeface="Times New Roman" panose="02020603050405020304" pitchFamily="18" charset="0"/>
                <a:cs typeface="Times New Roman" panose="02020603050405020304" pitchFamily="18" charset="0"/>
              </a:rPr>
              <a:t>5</a:t>
            </a:r>
            <a:endParaRPr kumimoji="0" lang="en-US" sz="1800" b="1" i="0" u="none" strike="noStrike" cap="none" spc="0" normalizeH="0" baseline="30000">
              <a:ln>
                <a:noFill/>
              </a:ln>
              <a:solidFill>
                <a:schemeClr val="bg1"/>
              </a:solidFill>
              <a:effectLst/>
              <a:uFillTx/>
              <a:latin typeface="Times New Roman" panose="02020603050405020304" pitchFamily="18" charset="0"/>
              <a:cs typeface="Times New Roman" panose="02020603050405020304" pitchFamily="18" charset="0"/>
              <a:sym typeface="Franklin Gothic Book"/>
            </a:endParaRPr>
          </a:p>
        </p:txBody>
      </p:sp>
      <p:cxnSp>
        <p:nvCxnSpPr>
          <p:cNvPr id="16" name="Straight Connector 15">
            <a:extLst>
              <a:ext uri="{FF2B5EF4-FFF2-40B4-BE49-F238E27FC236}">
                <a16:creationId xmlns:a16="http://schemas.microsoft.com/office/drawing/2014/main" id="{B73C5EC0-01DA-980D-CBD9-F9B886749190}"/>
              </a:ext>
            </a:extLst>
          </p:cNvPr>
          <p:cNvCxnSpPr/>
          <p:nvPr/>
        </p:nvCxnSpPr>
        <p:spPr>
          <a:xfrm flipH="1">
            <a:off x="8876145" y="468651"/>
            <a:ext cx="73891" cy="6003636"/>
          </a:xfrm>
          <a:prstGeom prst="line">
            <a:avLst/>
          </a:prstGeom>
          <a:noFill/>
          <a:ln w="34925" cap="flat">
            <a:solidFill>
              <a:schemeClr val="accent1"/>
            </a:solidFill>
            <a:prstDash val="solid"/>
            <a:round/>
          </a:ln>
          <a:effectLst/>
          <a:sp3d/>
        </p:spPr>
        <p:style>
          <a:lnRef idx="0">
            <a:scrgbClr r="0" g="0" b="0"/>
          </a:lnRef>
          <a:fillRef idx="0">
            <a:scrgbClr r="0" g="0" b="0"/>
          </a:fillRef>
          <a:effectRef idx="0">
            <a:scrgbClr r="0" g="0" b="0"/>
          </a:effectRef>
          <a:fontRef idx="none"/>
        </p:style>
      </p:cxnSp>
      <p:sp>
        <p:nvSpPr>
          <p:cNvPr id="20" name="TextBox 19">
            <a:extLst>
              <a:ext uri="{FF2B5EF4-FFF2-40B4-BE49-F238E27FC236}">
                <a16:creationId xmlns:a16="http://schemas.microsoft.com/office/drawing/2014/main" id="{C4CCBCB7-680E-3E53-28E5-09427CC3881F}"/>
              </a:ext>
            </a:extLst>
          </p:cNvPr>
          <p:cNvSpPr txBox="1"/>
          <p:nvPr/>
        </p:nvSpPr>
        <p:spPr>
          <a:xfrm>
            <a:off x="679573" y="6406943"/>
            <a:ext cx="7943272"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fontAlgn="base"/>
            <a:r>
              <a:rPr lang="en-US" sz="600" b="0" i="0">
                <a:solidFill>
                  <a:srgbClr val="000000"/>
                </a:solidFill>
                <a:effectLst/>
                <a:latin typeface="Times New Roman" panose="02020603050405020304" pitchFamily="18" charset="0"/>
                <a:cs typeface="Times New Roman" panose="02020603050405020304" pitchFamily="18" charset="0"/>
              </a:rPr>
              <a:t>1. World Health Organization. (2022</a:t>
            </a:r>
          </a:p>
          <a:p>
            <a:pPr algn="l" rtl="0" fontAlgn="base"/>
            <a:r>
              <a:rPr lang="en-US" sz="600" b="0" i="0">
                <a:solidFill>
                  <a:srgbClr val="000000"/>
                </a:solidFill>
                <a:effectLst/>
                <a:latin typeface="Times New Roman" panose="02020603050405020304" pitchFamily="18" charset="0"/>
                <a:cs typeface="Times New Roman" panose="02020603050405020304" pitchFamily="18" charset="0"/>
              </a:rPr>
              <a:t>2. American Academy of Pediatrics, American Academy of Child, and Adolescent Psychiatry, and Children’s Hospital Association,. (2021, 10/19/2021). </a:t>
            </a:r>
          </a:p>
          <a:p>
            <a:pPr algn="l" rtl="0" fontAlgn="base"/>
            <a:r>
              <a:rPr lang="en-US" sz="600" b="0" i="0">
                <a:solidFill>
                  <a:srgbClr val="000000"/>
                </a:solidFill>
                <a:effectLst/>
                <a:latin typeface="Times New Roman" panose="02020603050405020304" pitchFamily="18" charset="0"/>
                <a:cs typeface="Times New Roman" panose="02020603050405020304" pitchFamily="18" charset="0"/>
              </a:rPr>
              <a:t>3. Hansson, L., Jormfeldt, H., Svedberg, P., &amp; Svensson, B. (2013). </a:t>
            </a:r>
          </a:p>
          <a:p>
            <a:pPr algn="l" rtl="0" fontAlgn="base"/>
            <a:r>
              <a:rPr lang="en-US" sz="600" b="0" i="0">
                <a:solidFill>
                  <a:srgbClr val="000000"/>
                </a:solidFill>
                <a:effectLst/>
                <a:latin typeface="Times New Roman" panose="02020603050405020304" pitchFamily="18" charset="0"/>
                <a:cs typeface="Times New Roman" panose="02020603050405020304" pitchFamily="18" charset="0"/>
              </a:rPr>
              <a:t>4. Knaak, S., Mantler, E., &amp; Szeto, A. (2017). </a:t>
            </a:r>
          </a:p>
        </p:txBody>
      </p:sp>
      <p:sp>
        <p:nvSpPr>
          <p:cNvPr id="21" name="TextBox 20">
            <a:extLst>
              <a:ext uri="{FF2B5EF4-FFF2-40B4-BE49-F238E27FC236}">
                <a16:creationId xmlns:a16="http://schemas.microsoft.com/office/drawing/2014/main" id="{C8174409-2915-5771-E471-1E3873703736}"/>
              </a:ext>
            </a:extLst>
          </p:cNvPr>
          <p:cNvSpPr txBox="1"/>
          <p:nvPr/>
        </p:nvSpPr>
        <p:spPr>
          <a:xfrm>
            <a:off x="9031188" y="6406943"/>
            <a:ext cx="3063240"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600" b="0" i="0">
                <a:solidFill>
                  <a:srgbClr val="000000"/>
                </a:solidFill>
                <a:effectLst/>
                <a:latin typeface="Times New Roman" panose="02020603050405020304" pitchFamily="18" charset="0"/>
                <a:cs typeface="Times New Roman" panose="02020603050405020304" pitchFamily="18" charset="0"/>
              </a:rPr>
              <a:t>5. Garcia, M. E., Hinton, L., Neuhaus, J., Feldman, M., Livaudais-Toman, J., &amp; Karliner, L. S. (2022). </a:t>
            </a:r>
            <a:endParaRPr kumimoji="0" lang="en-US" sz="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grpSp>
        <p:nvGrpSpPr>
          <p:cNvPr id="24" name="Group 23">
            <a:extLst>
              <a:ext uri="{FF2B5EF4-FFF2-40B4-BE49-F238E27FC236}">
                <a16:creationId xmlns:a16="http://schemas.microsoft.com/office/drawing/2014/main" id="{7892EF88-CC21-B286-F93C-CA6481B080A4}"/>
              </a:ext>
            </a:extLst>
          </p:cNvPr>
          <p:cNvGrpSpPr/>
          <p:nvPr/>
        </p:nvGrpSpPr>
        <p:grpSpPr>
          <a:xfrm>
            <a:off x="2113579" y="562357"/>
            <a:ext cx="6249620" cy="5909819"/>
            <a:chOff x="3496045" y="-285095"/>
            <a:chExt cx="5534696" cy="5909819"/>
          </a:xfrm>
        </p:grpSpPr>
        <p:grpSp>
          <p:nvGrpSpPr>
            <p:cNvPr id="23" name="Group 22">
              <a:extLst>
                <a:ext uri="{FF2B5EF4-FFF2-40B4-BE49-F238E27FC236}">
                  <a16:creationId xmlns:a16="http://schemas.microsoft.com/office/drawing/2014/main" id="{44015941-1B7B-9975-9ECF-F1BAE3092B39}"/>
                </a:ext>
              </a:extLst>
            </p:cNvPr>
            <p:cNvGrpSpPr/>
            <p:nvPr/>
          </p:nvGrpSpPr>
          <p:grpSpPr>
            <a:xfrm>
              <a:off x="3496045" y="-285095"/>
              <a:ext cx="5534696" cy="5909819"/>
              <a:chOff x="3496045" y="-285095"/>
              <a:chExt cx="5534696" cy="5909819"/>
            </a:xfrm>
          </p:grpSpPr>
          <p:sp>
            <p:nvSpPr>
              <p:cNvPr id="12" name="Hexagon 11">
                <a:extLst>
                  <a:ext uri="{FF2B5EF4-FFF2-40B4-BE49-F238E27FC236}">
                    <a16:creationId xmlns:a16="http://schemas.microsoft.com/office/drawing/2014/main" id="{9A4B3BC1-7CB9-5C22-B713-EA3545ECEB94}"/>
                  </a:ext>
                </a:extLst>
              </p:cNvPr>
              <p:cNvSpPr/>
              <p:nvPr/>
            </p:nvSpPr>
            <p:spPr>
              <a:xfrm>
                <a:off x="6634396" y="525331"/>
                <a:ext cx="1899982" cy="1985362"/>
              </a:xfrm>
              <a:prstGeom prst="hexagon">
                <a:avLst/>
              </a:prstGeom>
              <a:solidFill>
                <a:schemeClr val="accent4">
                  <a:lumMod val="50000"/>
                </a:schemeClr>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457200" rtl="0" fontAlgn="auto" latinLnBrk="0" hangingPunct="0">
                  <a:lnSpc>
                    <a:spcPct val="100000"/>
                  </a:lnSpc>
                  <a:spcBef>
                    <a:spcPts val="0"/>
                  </a:spcBef>
                  <a:spcAft>
                    <a:spcPts val="0"/>
                  </a:spcAft>
                  <a:buClrTx/>
                  <a:buSzTx/>
                  <a:buFontTx/>
                  <a:buNone/>
                  <a:tabLst/>
                </a:pPr>
                <a:r>
                  <a:rPr lang="en-US" b="1" i="0">
                    <a:solidFill>
                      <a:schemeClr val="accent2"/>
                    </a:solidFill>
                    <a:effectLst/>
                    <a:latin typeface="Times New Roman" panose="02020603050405020304" pitchFamily="18" charset="0"/>
                    <a:cs typeface="Times New Roman" panose="02020603050405020304" pitchFamily="18" charset="0"/>
                  </a:rPr>
                  <a:t>healthcare provider</a:t>
                </a:r>
              </a:p>
              <a:p>
                <a:pPr marL="0" marR="0" indent="0" algn="ctr" defTabSz="457200" rtl="0" fontAlgn="auto" latinLnBrk="0" hangingPunct="0">
                  <a:lnSpc>
                    <a:spcPct val="100000"/>
                  </a:lnSpc>
                  <a:spcBef>
                    <a:spcPts val="0"/>
                  </a:spcBef>
                  <a:spcAft>
                    <a:spcPts val="0"/>
                  </a:spcAft>
                  <a:buClrTx/>
                  <a:buSzTx/>
                  <a:buFontTx/>
                  <a:buNone/>
                  <a:tabLst/>
                </a:pPr>
                <a:r>
                  <a:rPr lang="en-US" b="1" i="0">
                    <a:solidFill>
                      <a:schemeClr val="accent2"/>
                    </a:solidFill>
                    <a:effectLst/>
                    <a:latin typeface="Times New Roman" panose="02020603050405020304" pitchFamily="18" charset="0"/>
                    <a:cs typeface="Times New Roman" panose="02020603050405020304" pitchFamily="18" charset="0"/>
                  </a:rPr>
                  <a:t>stigma</a:t>
                </a:r>
                <a:r>
                  <a:rPr lang="en-US" b="1" i="0" baseline="30000">
                    <a:solidFill>
                      <a:schemeClr val="accent2"/>
                    </a:solidFill>
                    <a:effectLst/>
                    <a:latin typeface="Times New Roman" panose="02020603050405020304" pitchFamily="18" charset="0"/>
                    <a:cs typeface="Times New Roman" panose="02020603050405020304" pitchFamily="18" charset="0"/>
                  </a:rPr>
                  <a:t>3, 4</a:t>
                </a:r>
                <a:endParaRPr kumimoji="0" lang="en-US" sz="1800" b="1" i="0" u="none" strike="noStrike" cap="none" spc="0" normalizeH="0" baseline="30000">
                  <a:ln>
                    <a:noFill/>
                  </a:ln>
                  <a:solidFill>
                    <a:schemeClr val="accent2"/>
                  </a:solidFill>
                  <a:effectLst/>
                  <a:uFillTx/>
                  <a:latin typeface="Times New Roman" panose="02020603050405020304" pitchFamily="18" charset="0"/>
                  <a:cs typeface="Times New Roman" panose="02020603050405020304" pitchFamily="18" charset="0"/>
                  <a:sym typeface="Franklin Gothic Book"/>
                </a:endParaRPr>
              </a:p>
            </p:txBody>
          </p:sp>
          <p:sp>
            <p:nvSpPr>
              <p:cNvPr id="17" name="Oval 16">
                <a:extLst>
                  <a:ext uri="{FF2B5EF4-FFF2-40B4-BE49-F238E27FC236}">
                    <a16:creationId xmlns:a16="http://schemas.microsoft.com/office/drawing/2014/main" id="{25BC5D77-EB9B-1995-3C6D-5CCCFE3321AB}"/>
                  </a:ext>
                </a:extLst>
              </p:cNvPr>
              <p:cNvSpPr/>
              <p:nvPr/>
            </p:nvSpPr>
            <p:spPr>
              <a:xfrm>
                <a:off x="4017408" y="2145823"/>
                <a:ext cx="1784858" cy="2856426"/>
              </a:xfrm>
              <a:prstGeom prst="ellipse">
                <a:avLst/>
              </a:prstGeom>
              <a:solidFill>
                <a:schemeClr val="accent6"/>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lang="en-US" b="1" i="0">
                    <a:solidFill>
                      <a:schemeClr val="accent2">
                        <a:lumMod val="60000"/>
                        <a:lumOff val="40000"/>
                      </a:schemeClr>
                    </a:solidFill>
                    <a:effectLst/>
                    <a:latin typeface="Times New Roman"/>
                    <a:cs typeface="Times New Roman"/>
                  </a:rPr>
                  <a:t>national mental health emergency for children and adolescents</a:t>
                </a:r>
                <a:r>
                  <a:rPr lang="en-US" b="1" i="0" baseline="30000">
                    <a:solidFill>
                      <a:schemeClr val="accent2">
                        <a:lumMod val="60000"/>
                        <a:lumOff val="40000"/>
                      </a:schemeClr>
                    </a:solidFill>
                    <a:effectLst/>
                    <a:latin typeface="Times New Roman"/>
                    <a:cs typeface="Times New Roman"/>
                  </a:rPr>
                  <a:t>2</a:t>
                </a:r>
                <a:endParaRPr lang="en-US" sz="1800" b="1" i="0" u="none" strike="noStrike" cap="none" spc="0" normalizeH="0" baseline="30000">
                  <a:ln>
                    <a:noFill/>
                  </a:ln>
                  <a:solidFill>
                    <a:schemeClr val="accent2">
                      <a:lumMod val="60000"/>
                      <a:lumOff val="40000"/>
                    </a:schemeClr>
                  </a:solidFill>
                  <a:effectLst/>
                  <a:uFillTx/>
                  <a:latin typeface="Times New Roman"/>
                  <a:cs typeface="Times New Roman"/>
                </a:endParaRPr>
              </a:p>
            </p:txBody>
          </p:sp>
          <p:sp>
            <p:nvSpPr>
              <p:cNvPr id="9" name="Diamond 8">
                <a:extLst>
                  <a:ext uri="{FF2B5EF4-FFF2-40B4-BE49-F238E27FC236}">
                    <a16:creationId xmlns:a16="http://schemas.microsoft.com/office/drawing/2014/main" id="{17ADAE82-B7EC-5607-0F5E-B9277BE473D0}"/>
                  </a:ext>
                </a:extLst>
              </p:cNvPr>
              <p:cNvSpPr/>
              <p:nvPr/>
            </p:nvSpPr>
            <p:spPr>
              <a:xfrm>
                <a:off x="6449097" y="2644056"/>
                <a:ext cx="2189018" cy="2298970"/>
              </a:xfrm>
              <a:prstGeom prst="diamond">
                <a:avLst/>
              </a:prstGeom>
              <a:solidFill>
                <a:schemeClr val="bg2"/>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personal </a:t>
                </a:r>
              </a:p>
              <a:p>
                <a:pPr marL="0" marR="0" indent="0" algn="ctr" defTabSz="4572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stigma</a:t>
                </a:r>
                <a:r>
                  <a:rPr lang="en-US" b="1" i="0" baseline="30000">
                    <a:solidFill>
                      <a:schemeClr val="accent2"/>
                    </a:solidFill>
                    <a:effectLst/>
                    <a:latin typeface="Times New Roman" panose="02020603050405020304" pitchFamily="18" charset="0"/>
                    <a:cs typeface="Times New Roman" panose="02020603050405020304" pitchFamily="18" charset="0"/>
                  </a:rPr>
                  <a:t>3, 4</a:t>
                </a:r>
                <a:endPar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endParaRPr>
              </a:p>
            </p:txBody>
          </p:sp>
          <p:sp>
            <p:nvSpPr>
              <p:cNvPr id="7" name="Isosceles Triangle 6">
                <a:extLst>
                  <a:ext uri="{FF2B5EF4-FFF2-40B4-BE49-F238E27FC236}">
                    <a16:creationId xmlns:a16="http://schemas.microsoft.com/office/drawing/2014/main" id="{47F32C5D-1BCB-48B8-4BC4-CEBCC5B0F946}"/>
                  </a:ext>
                </a:extLst>
              </p:cNvPr>
              <p:cNvSpPr/>
              <p:nvPr/>
            </p:nvSpPr>
            <p:spPr>
              <a:xfrm>
                <a:off x="3797081" y="358123"/>
                <a:ext cx="2281382" cy="1834154"/>
              </a:xfrm>
              <a:prstGeom prst="triangle">
                <a:avLst>
                  <a:gd name="adj" fmla="val 51215"/>
                </a:avLst>
              </a:prstGeom>
              <a:solidFill>
                <a:schemeClr val="accent6">
                  <a:lumMod val="50000"/>
                </a:schemeClr>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28% ↑ in 2020 due to Covid</a:t>
                </a:r>
                <a:r>
                  <a:rPr kumimoji="0" lang="en-US" sz="1800" b="1" i="0" u="none" strike="noStrike" cap="none" spc="0" normalizeH="0" baseline="3000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1</a:t>
                </a:r>
              </a:p>
            </p:txBody>
          </p:sp>
          <p:sp>
            <p:nvSpPr>
              <p:cNvPr id="18" name="Oval 17">
                <a:extLst>
                  <a:ext uri="{FF2B5EF4-FFF2-40B4-BE49-F238E27FC236}">
                    <a16:creationId xmlns:a16="http://schemas.microsoft.com/office/drawing/2014/main" id="{5592D6CF-4DD0-3569-B15A-D1F97EA00A25}"/>
                  </a:ext>
                </a:extLst>
              </p:cNvPr>
              <p:cNvSpPr/>
              <p:nvPr/>
            </p:nvSpPr>
            <p:spPr>
              <a:xfrm>
                <a:off x="3496045" y="-285095"/>
                <a:ext cx="5534696" cy="5909819"/>
              </a:xfrm>
              <a:prstGeom prst="ellipse">
                <a:avLst/>
              </a:prstGeom>
              <a:no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noFill/>
                  <a:effectLst/>
                  <a:uFillTx/>
                  <a:latin typeface="Times New Roman" panose="02020603050405020304" pitchFamily="18" charset="0"/>
                  <a:cs typeface="Times New Roman" panose="02020603050405020304" pitchFamily="18" charset="0"/>
                  <a:sym typeface="Franklin Gothic Book"/>
                </a:endParaRPr>
              </a:p>
            </p:txBody>
          </p:sp>
          <p:sp>
            <p:nvSpPr>
              <p:cNvPr id="6" name="Oval 5">
                <a:extLst>
                  <a:ext uri="{FF2B5EF4-FFF2-40B4-BE49-F238E27FC236}">
                    <a16:creationId xmlns:a16="http://schemas.microsoft.com/office/drawing/2014/main" id="{CE310FE9-E82D-6312-1B77-8C43A653E6C3}"/>
                  </a:ext>
                </a:extLst>
              </p:cNvPr>
              <p:cNvSpPr/>
              <p:nvPr/>
            </p:nvSpPr>
            <p:spPr>
              <a:xfrm>
                <a:off x="5460040" y="1873803"/>
                <a:ext cx="1885277" cy="1687887"/>
              </a:xfrm>
              <a:prstGeom prst="ellipse">
                <a:avLst/>
              </a:prstGeom>
              <a:solidFill>
                <a:schemeClr val="accent5">
                  <a:lumMod val="50000"/>
                </a:schemeClr>
              </a:solidFill>
              <a:ln w="3492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280 million people globally in 2019</a:t>
                </a:r>
                <a:r>
                  <a:rPr kumimoji="0" lang="en-US" sz="1800" b="1" i="0" u="none" strike="noStrike" cap="none" spc="0" normalizeH="0" baseline="3000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1</a:t>
                </a:r>
                <a:r>
                  <a:rPr kumimoji="0" lang="en-US" sz="1800" b="1" i="0" u="none" strike="noStrike" cap="none" spc="0" normalizeH="0" baseline="0">
                    <a:ln>
                      <a:noFill/>
                    </a:ln>
                    <a:solidFill>
                      <a:schemeClr val="accent2"/>
                    </a:solidFill>
                    <a:effectLst/>
                    <a:uFillTx/>
                    <a:latin typeface="Times New Roman" panose="02020603050405020304" pitchFamily="18" charset="0"/>
                    <a:cs typeface="Times New Roman" panose="02020603050405020304" pitchFamily="18" charset="0"/>
                    <a:sym typeface="Franklin Gothic Book"/>
                  </a:rPr>
                  <a:t> </a:t>
                </a:r>
              </a:p>
            </p:txBody>
          </p:sp>
        </p:grpSp>
        <p:sp>
          <p:nvSpPr>
            <p:cNvPr id="22" name="TextBox 21">
              <a:extLst>
                <a:ext uri="{FF2B5EF4-FFF2-40B4-BE49-F238E27FC236}">
                  <a16:creationId xmlns:a16="http://schemas.microsoft.com/office/drawing/2014/main" id="{0079BF6E-998C-9C38-326D-4D897664A2DA}"/>
                </a:ext>
              </a:extLst>
            </p:cNvPr>
            <p:cNvSpPr txBox="1"/>
            <p:nvPr/>
          </p:nvSpPr>
          <p:spPr>
            <a:xfrm>
              <a:off x="4755879" y="8454"/>
              <a:ext cx="2828508"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rPr>
                <a:t>Depression</a:t>
              </a:r>
            </a:p>
          </p:txBody>
        </p:sp>
      </p:grpSp>
    </p:spTree>
    <p:extLst>
      <p:ext uri="{BB962C8B-B14F-4D97-AF65-F5344CB8AC3E}">
        <p14:creationId xmlns:p14="http://schemas.microsoft.com/office/powerpoint/2010/main" val="9500114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6C6A-CB15-145C-1F7B-D73A38261930}"/>
              </a:ext>
            </a:extLst>
          </p:cNvPr>
          <p:cNvSpPr>
            <a:spLocks noGrp="1"/>
          </p:cNvSpPr>
          <p:nvPr>
            <p:ph type="title"/>
          </p:nvPr>
        </p:nvSpPr>
        <p:spPr>
          <a:xfrm>
            <a:off x="1371600" y="685800"/>
            <a:ext cx="9601200" cy="1114425"/>
          </a:xfrm>
        </p:spPr>
        <p:txBody>
          <a:bodyPr/>
          <a:lstStyle/>
          <a:p>
            <a:r>
              <a:rPr lang="en-US" b="0" i="0">
                <a:effectLst/>
                <a:latin typeface="Times New Roman" panose="02020603050405020304" pitchFamily="18" charset="0"/>
              </a:rPr>
              <a:t>Project Scope </a:t>
            </a:r>
            <a:endParaRPr lang="en-US"/>
          </a:p>
        </p:txBody>
      </p:sp>
      <p:sp>
        <p:nvSpPr>
          <p:cNvPr id="3" name="Text Placeholder 2">
            <a:extLst>
              <a:ext uri="{FF2B5EF4-FFF2-40B4-BE49-F238E27FC236}">
                <a16:creationId xmlns:a16="http://schemas.microsoft.com/office/drawing/2014/main" id="{468F0F57-E1D5-CAF2-198C-58B8C51105F9}"/>
              </a:ext>
            </a:extLst>
          </p:cNvPr>
          <p:cNvSpPr>
            <a:spLocks noGrp="1"/>
          </p:cNvSpPr>
          <p:nvPr>
            <p:ph type="body" sz="quarter" idx="1"/>
          </p:nvPr>
        </p:nvSpPr>
        <p:spPr>
          <a:xfrm>
            <a:off x="1371600" y="1516951"/>
            <a:ext cx="4443985" cy="823913"/>
          </a:xfrm>
        </p:spPr>
        <p:txBody>
          <a:bodyPr/>
          <a:lstStyle/>
          <a:p>
            <a:r>
              <a:rPr lang="en-US" b="0" i="0" dirty="0">
                <a:effectLst/>
                <a:latin typeface="Times New Roman" panose="02020603050405020304" pitchFamily="18" charset="0"/>
              </a:rPr>
              <a:t>Aims </a:t>
            </a:r>
            <a:endParaRPr lang="en-US" dirty="0"/>
          </a:p>
        </p:txBody>
      </p:sp>
      <p:sp>
        <p:nvSpPr>
          <p:cNvPr id="4" name="Text Placeholder 3">
            <a:extLst>
              <a:ext uri="{FF2B5EF4-FFF2-40B4-BE49-F238E27FC236}">
                <a16:creationId xmlns:a16="http://schemas.microsoft.com/office/drawing/2014/main" id="{7F29C4A6-65FE-904F-9EED-9E11953046F2}"/>
              </a:ext>
            </a:extLst>
          </p:cNvPr>
          <p:cNvSpPr>
            <a:spLocks noGrp="1"/>
          </p:cNvSpPr>
          <p:nvPr>
            <p:ph type="body" sz="quarter" idx="13"/>
          </p:nvPr>
        </p:nvSpPr>
        <p:spPr>
          <a:xfrm>
            <a:off x="6376417" y="1516950"/>
            <a:ext cx="4443985" cy="823913"/>
          </a:xfrm>
        </p:spPr>
        <p:txBody>
          <a:bodyPr>
            <a:normAutofit/>
          </a:bodyPr>
          <a:lstStyle/>
          <a:p>
            <a:pPr marL="0" indent="0">
              <a:buNone/>
            </a:pPr>
            <a:r>
              <a:rPr kumimoji="0" lang="en-US" sz="3000" b="0" i="0" u="none" strike="noStrike" kern="0" cap="none" spc="0" normalizeH="0" baseline="0" noProof="0">
                <a:ln>
                  <a:noFill/>
                </a:ln>
                <a:solidFill>
                  <a:srgbClr val="191B0E"/>
                </a:solidFill>
                <a:effectLst/>
                <a:uLnTx/>
                <a:uFillTx/>
                <a:latin typeface="Times New Roman" panose="02020603050405020304" pitchFamily="18" charset="0"/>
                <a:sym typeface="Franklin Gothic Book"/>
              </a:rPr>
              <a:t>Purpose</a:t>
            </a:r>
            <a:r>
              <a:rPr lang="en-US" sz="2800" b="0" i="0">
                <a:effectLst/>
                <a:latin typeface="Times New Roman" panose="02020603050405020304" pitchFamily="18" charset="0"/>
              </a:rPr>
              <a:t> </a:t>
            </a:r>
            <a:endParaRPr lang="en-US" sz="2800"/>
          </a:p>
        </p:txBody>
      </p:sp>
      <p:sp>
        <p:nvSpPr>
          <p:cNvPr id="5" name="TextBox 4">
            <a:extLst>
              <a:ext uri="{FF2B5EF4-FFF2-40B4-BE49-F238E27FC236}">
                <a16:creationId xmlns:a16="http://schemas.microsoft.com/office/drawing/2014/main" id="{C8290410-D28C-093F-9793-FA7D4AC34601}"/>
              </a:ext>
            </a:extLst>
          </p:cNvPr>
          <p:cNvSpPr txBox="1"/>
          <p:nvPr/>
        </p:nvSpPr>
        <p:spPr>
          <a:xfrm>
            <a:off x="1124858" y="2370367"/>
            <a:ext cx="4443985" cy="4247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indent="0" algn="l" defTabSz="457200">
              <a:lnSpc>
                <a:spcPct val="100000"/>
              </a:lnSpc>
              <a:buNone/>
              <a:tabLst/>
            </a:pPr>
            <a:r>
              <a:rPr lang="en-US" b="0" i="0" dirty="0">
                <a:effectLst/>
                <a:latin typeface="Times New Roman"/>
                <a:cs typeface="Times New Roman"/>
              </a:rPr>
              <a:t>To evaluate any significant mean difference between self-reported and provider-reported cases of depression in adults in the U.S. </a:t>
            </a:r>
            <a:endParaRPr lang="en-US" dirty="0">
              <a:latin typeface="Times New Roman"/>
              <a:cs typeface="Times New Roman"/>
            </a:endParaRPr>
          </a:p>
          <a:p>
            <a:pPr marL="0" indent="0" algn="l" defTabSz="457200">
              <a:lnSpc>
                <a:spcPct val="100000"/>
              </a:lnSpc>
              <a:buNone/>
              <a:tabLst/>
            </a:pPr>
            <a:br>
              <a:rPr lang="en-US" dirty="0"/>
            </a:br>
            <a:r>
              <a:rPr lang="en-US" b="0" i="0" dirty="0">
                <a:effectLst/>
                <a:latin typeface="Times New Roman"/>
                <a:cs typeface="Times New Roman"/>
              </a:rPr>
              <a:t>To identify and correlate the main factors impacting the reporting of depression by self-reporters and providers in adults in the U.S. and identify the groups that report depression the least. </a:t>
            </a:r>
            <a:endParaRPr lang="en-US" dirty="0">
              <a:latin typeface="Times New Roman"/>
              <a:cs typeface="Times New Roman"/>
            </a:endParaRPr>
          </a:p>
          <a:p>
            <a:pPr marL="0" indent="0" algn="l" defTabSz="457200">
              <a:lnSpc>
                <a:spcPct val="100000"/>
              </a:lnSpc>
              <a:buNone/>
              <a:tabLst/>
            </a:pPr>
            <a:br>
              <a:rPr lang="en-US" dirty="0"/>
            </a:br>
            <a:r>
              <a:rPr lang="en-US" b="0" i="0" dirty="0">
                <a:effectLst/>
                <a:latin typeface="Times New Roman"/>
                <a:cs typeface="Times New Roman"/>
              </a:rPr>
              <a:t>To develop a multi-variant model that predicts the diagnosis of depression cases from the features of age, gender, income, co-morbidity, medical insurance, education level, and race.</a:t>
            </a:r>
            <a:endParaRPr lang="en-US" dirty="0">
              <a:latin typeface="Times New Roman"/>
              <a:cs typeface="Times New Roman"/>
            </a:endParaRPr>
          </a:p>
          <a:p>
            <a:endParaRPr lang="en-US" dirty="0">
              <a:latin typeface="Times New Roman"/>
            </a:endParaRPr>
          </a:p>
        </p:txBody>
      </p:sp>
      <p:sp>
        <p:nvSpPr>
          <p:cNvPr id="7" name="TextBox 6">
            <a:extLst>
              <a:ext uri="{FF2B5EF4-FFF2-40B4-BE49-F238E27FC236}">
                <a16:creationId xmlns:a16="http://schemas.microsoft.com/office/drawing/2014/main" id="{F62E0AB6-A24A-6EEF-3E5F-1F37D99D13CD}"/>
              </a:ext>
            </a:extLst>
          </p:cNvPr>
          <p:cNvSpPr txBox="1"/>
          <p:nvPr/>
        </p:nvSpPr>
        <p:spPr>
          <a:xfrm>
            <a:off x="6376416" y="2373602"/>
            <a:ext cx="5134981"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gn="just">
              <a:buAutoNum type="arabicPeriod"/>
            </a:pPr>
            <a:r>
              <a:rPr lang="en-US" dirty="0">
                <a:latin typeface="Times New Roman"/>
                <a:ea typeface="+mj-lt"/>
                <a:cs typeface="+mj-lt"/>
              </a:rPr>
              <a:t>Investigate </a:t>
            </a:r>
            <a:r>
              <a:rPr lang="en-US" b="0" i="0" dirty="0">
                <a:effectLst/>
                <a:latin typeface="Times New Roman"/>
                <a:ea typeface="+mj-lt"/>
                <a:cs typeface="+mj-lt"/>
              </a:rPr>
              <a:t>discrepancies between:</a:t>
            </a:r>
            <a:endParaRPr lang="en-US" dirty="0">
              <a:latin typeface="Times New Roman"/>
            </a:endParaRPr>
          </a:p>
          <a:p>
            <a:pPr marL="574675" lvl="2" indent="-234950" algn="just">
              <a:buFont typeface="Wingdings" panose="05000000000000000000" pitchFamily="2" charset="2"/>
              <a:buChar char="§"/>
            </a:pPr>
            <a:r>
              <a:rPr lang="en-US" dirty="0">
                <a:latin typeface="Times New Roman"/>
                <a:ea typeface="+mj-lt"/>
                <a:cs typeface="+mj-lt"/>
              </a:rPr>
              <a:t>Self-reporting </a:t>
            </a:r>
            <a:r>
              <a:rPr lang="en-US" b="0" i="0" dirty="0">
                <a:effectLst/>
                <a:latin typeface="Times New Roman"/>
                <a:ea typeface="+mj-lt"/>
                <a:cs typeface="+mj-lt"/>
              </a:rPr>
              <a:t>of depression and</a:t>
            </a:r>
            <a:endParaRPr lang="en-US" dirty="0">
              <a:latin typeface="Times New Roman"/>
            </a:endParaRPr>
          </a:p>
          <a:p>
            <a:pPr marL="574675" lvl="5" indent="-234950" algn="just">
              <a:buFont typeface="Wingdings" panose="05000000000000000000" pitchFamily="2" charset="2"/>
              <a:buChar char="§"/>
            </a:pPr>
            <a:r>
              <a:rPr lang="en-US" dirty="0">
                <a:latin typeface="Times New Roman"/>
                <a:ea typeface="+mj-lt"/>
                <a:cs typeface="+mj-lt"/>
              </a:rPr>
              <a:t>Healthcare professional </a:t>
            </a:r>
            <a:r>
              <a:rPr lang="en-US" b="0" i="0" dirty="0">
                <a:effectLst/>
                <a:latin typeface="Times New Roman"/>
                <a:ea typeface="+mj-lt"/>
                <a:cs typeface="+mj-lt"/>
              </a:rPr>
              <a:t>reporting </a:t>
            </a:r>
            <a:r>
              <a:rPr lang="en-US" dirty="0">
                <a:latin typeface="Times New Roman"/>
                <a:ea typeface="+mj-lt"/>
                <a:cs typeface="+mj-lt"/>
              </a:rPr>
              <a:t>of </a:t>
            </a:r>
            <a:r>
              <a:rPr lang="en-US" b="0" i="0" dirty="0">
                <a:effectLst/>
                <a:latin typeface="Times New Roman"/>
                <a:ea typeface="+mj-lt"/>
                <a:cs typeface="+mj-lt"/>
              </a:rPr>
              <a:t>depression</a:t>
            </a:r>
            <a:r>
              <a:rPr lang="en-US" dirty="0">
                <a:latin typeface="Times New Roman"/>
                <a:ea typeface="+mj-lt"/>
                <a:cs typeface="+mj-lt"/>
              </a:rPr>
              <a:t>.</a:t>
            </a:r>
            <a:endParaRPr lang="en-US" dirty="0"/>
          </a:p>
          <a:p>
            <a:pPr marL="339725" indent="-339725" algn="just">
              <a:buAutoNum type="arabicPeriod"/>
            </a:pPr>
            <a:endParaRPr lang="en-US" dirty="0">
              <a:latin typeface="Times New Roman"/>
              <a:ea typeface="+mj-lt"/>
              <a:cs typeface="+mj-lt"/>
            </a:endParaRPr>
          </a:p>
          <a:p>
            <a:pPr marL="339725" indent="-339725" algn="just">
              <a:buAutoNum type="arabicPeriod"/>
            </a:pPr>
            <a:r>
              <a:rPr lang="en-US" dirty="0">
                <a:latin typeface="Times New Roman"/>
                <a:ea typeface="+mj-lt"/>
                <a:cs typeface="+mj-lt"/>
              </a:rPr>
              <a:t>Predict </a:t>
            </a:r>
            <a:r>
              <a:rPr lang="en-US" b="0" i="0" dirty="0">
                <a:effectLst/>
                <a:latin typeface="Times New Roman"/>
                <a:ea typeface="+mj-lt"/>
                <a:cs typeface="+mj-lt"/>
              </a:rPr>
              <a:t>specific groups more likely to:</a:t>
            </a:r>
            <a:endParaRPr lang="en-US" dirty="0">
              <a:latin typeface="Times New Roman"/>
            </a:endParaRPr>
          </a:p>
          <a:p>
            <a:pPr marL="574675" indent="-234950" algn="just">
              <a:buFont typeface="Wingdings" panose="05000000000000000000" pitchFamily="2" charset="2"/>
              <a:buChar char="§"/>
            </a:pPr>
            <a:r>
              <a:rPr lang="en-US" dirty="0">
                <a:latin typeface="Times New Roman"/>
                <a:ea typeface="+mj-lt"/>
                <a:cs typeface="+mj-lt"/>
              </a:rPr>
              <a:t>Experience </a:t>
            </a:r>
            <a:r>
              <a:rPr lang="en-US" b="0" i="0" dirty="0">
                <a:effectLst/>
                <a:latin typeface="Times New Roman"/>
                <a:ea typeface="+mj-lt"/>
                <a:cs typeface="+mj-lt"/>
              </a:rPr>
              <a:t>depression and</a:t>
            </a:r>
            <a:endParaRPr lang="en-US" dirty="0">
              <a:latin typeface="Times New Roman"/>
            </a:endParaRPr>
          </a:p>
          <a:p>
            <a:pPr marL="574675" lvl="5" indent="-234950" algn="just">
              <a:buFont typeface="Wingdings" panose="05000000000000000000" pitchFamily="2" charset="2"/>
              <a:buChar char="§"/>
            </a:pPr>
            <a:r>
              <a:rPr lang="en-US" dirty="0">
                <a:latin typeface="Times New Roman"/>
                <a:ea typeface="+mj-lt"/>
                <a:cs typeface="+mj-lt"/>
              </a:rPr>
              <a:t>Be </a:t>
            </a:r>
            <a:r>
              <a:rPr lang="en-US" b="0" i="0" dirty="0">
                <a:effectLst/>
                <a:latin typeface="Times New Roman"/>
                <a:ea typeface="+mj-lt"/>
                <a:cs typeface="+mj-lt"/>
              </a:rPr>
              <a:t>undiagnosed with depression</a:t>
            </a:r>
            <a:r>
              <a:rPr lang="en-US" dirty="0">
                <a:latin typeface="Times New Roman"/>
                <a:ea typeface="+mj-lt"/>
                <a:cs typeface="+mj-lt"/>
              </a:rPr>
              <a:t>.</a:t>
            </a:r>
            <a:endParaRPr lang="en-US" dirty="0">
              <a:latin typeface="Times New Roman"/>
            </a:endParaRPr>
          </a:p>
          <a:p>
            <a:pPr marL="339725" lvl="5" algn="just"/>
            <a:endParaRPr lang="en-US" dirty="0">
              <a:latin typeface="Times New Roman"/>
              <a:ea typeface="+mj-lt"/>
              <a:cs typeface="+mj-lt"/>
            </a:endParaRPr>
          </a:p>
          <a:p>
            <a:pPr algn="just"/>
            <a:r>
              <a:rPr lang="en-US" dirty="0">
                <a:latin typeface="Times New Roman"/>
                <a:ea typeface="+mj-lt"/>
                <a:cs typeface="+mj-lt"/>
              </a:rPr>
              <a:t>    </a:t>
            </a:r>
            <a:r>
              <a:rPr lang="en-US" b="0" i="0" dirty="0">
                <a:effectLst/>
                <a:latin typeface="Times New Roman"/>
                <a:ea typeface="+mj-lt"/>
                <a:cs typeface="+mj-lt"/>
              </a:rPr>
              <a:t>The results can be used to improve screening standards for healthcare professionals to increase the diagnosis of depression in the </a:t>
            </a:r>
            <a:r>
              <a:rPr lang="en-US" dirty="0">
                <a:latin typeface="Times New Roman"/>
                <a:ea typeface="+mj-lt"/>
                <a:cs typeface="+mj-lt"/>
              </a:rPr>
              <a:t>groups that are </a:t>
            </a:r>
            <a:r>
              <a:rPr lang="en-US" b="0" i="0" dirty="0">
                <a:effectLst/>
                <a:latin typeface="Times New Roman"/>
                <a:ea typeface="+mj-lt"/>
                <a:cs typeface="+mj-lt"/>
              </a:rPr>
              <a:t>currently</a:t>
            </a:r>
            <a:r>
              <a:rPr lang="en-US" dirty="0">
                <a:latin typeface="Times New Roman"/>
                <a:ea typeface="+mj-lt"/>
                <a:cs typeface="+mj-lt"/>
              </a:rPr>
              <a:t> </a:t>
            </a:r>
            <a:r>
              <a:rPr lang="en-US" b="0" i="0" dirty="0">
                <a:effectLst/>
                <a:latin typeface="Times New Roman"/>
                <a:ea typeface="+mj-lt"/>
                <a:cs typeface="+mj-lt"/>
              </a:rPr>
              <a:t>underdiagnosed.</a:t>
            </a:r>
            <a:endParaRPr lang="en-US" sz="1800" b="0" i="0" u="none" strike="noStrike" cap="none" spc="0" normalizeH="0" baseline="0" dirty="0">
              <a:ln>
                <a:noFill/>
              </a:ln>
              <a:effectLst/>
              <a:uFillTx/>
              <a:latin typeface="Lato"/>
            </a:endParaRPr>
          </a:p>
        </p:txBody>
      </p:sp>
    </p:spTree>
    <p:extLst>
      <p:ext uri="{BB962C8B-B14F-4D97-AF65-F5344CB8AC3E}">
        <p14:creationId xmlns:p14="http://schemas.microsoft.com/office/powerpoint/2010/main" val="34141849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2A31E0F-1B40-6FC8-CCF5-5A352B97FCC3}"/>
              </a:ext>
            </a:extLst>
          </p:cNvPr>
          <p:cNvSpPr>
            <a:spLocks noGrp="1"/>
          </p:cNvSpPr>
          <p:nvPr>
            <p:ph type="title"/>
          </p:nvPr>
        </p:nvSpPr>
        <p:spPr>
          <a:xfrm rot="5400000">
            <a:off x="7635463" y="-871977"/>
            <a:ext cx="3325951" cy="5257622"/>
          </a:xfrm>
        </p:spPr>
        <p:txBody>
          <a:bodyPr lIns="45719" tIns="45720" rIns="45719" bIns="45720" anchor="t">
            <a:normAutofit/>
          </a:bodyPr>
          <a:lstStyle/>
          <a:p>
            <a:pPr algn="ctr"/>
            <a:r>
              <a:rPr lang="en-US">
                <a:latin typeface="Times New Roman"/>
                <a:cs typeface="Times New Roman"/>
              </a:rPr>
              <a:t>Hypotheses</a:t>
            </a:r>
          </a:p>
        </p:txBody>
      </p:sp>
      <p:sp>
        <p:nvSpPr>
          <p:cNvPr id="8" name="Text Placeholder 7">
            <a:extLst>
              <a:ext uri="{FF2B5EF4-FFF2-40B4-BE49-F238E27FC236}">
                <a16:creationId xmlns:a16="http://schemas.microsoft.com/office/drawing/2014/main" id="{64FB53A2-D5EF-0172-49B4-C731D8466D87}"/>
              </a:ext>
            </a:extLst>
          </p:cNvPr>
          <p:cNvSpPr>
            <a:spLocks noGrp="1"/>
          </p:cNvSpPr>
          <p:nvPr>
            <p:ph type="body" idx="1"/>
          </p:nvPr>
        </p:nvSpPr>
        <p:spPr>
          <a:xfrm>
            <a:off x="1371600" y="624156"/>
            <a:ext cx="9074727" cy="2691700"/>
          </a:xfrm>
        </p:spPr>
        <p:txBody>
          <a:bodyPr lIns="45719" tIns="45720" rIns="45719" bIns="45720" anchor="t">
            <a:normAutofit/>
          </a:bodyPr>
          <a:lstStyle/>
          <a:p>
            <a:pPr marL="383540" indent="-383540" algn="just" rtl="0" fontAlgn="base"/>
            <a:r>
              <a:rPr lang="en-US" sz="1800" b="1" i="0">
                <a:solidFill>
                  <a:srgbClr val="000000"/>
                </a:solidFill>
                <a:effectLst/>
                <a:latin typeface="Times New Roman"/>
              </a:rPr>
              <a:t>Null Hypothesis</a:t>
            </a:r>
            <a:r>
              <a:rPr lang="en-US" sz="1800" b="1">
                <a:solidFill>
                  <a:srgbClr val="000000"/>
                </a:solidFill>
                <a:latin typeface="Times New Roman"/>
              </a:rPr>
              <a:t>:</a:t>
            </a:r>
            <a:r>
              <a:rPr lang="en-US" sz="1800" b="0" i="0">
                <a:solidFill>
                  <a:srgbClr val="000000"/>
                </a:solidFill>
                <a:effectLst/>
                <a:latin typeface="Times New Roman"/>
              </a:rPr>
              <a:t> There will be no increase in the reporting of depression by adults as compared to the reporting of major depressive disorder by healthcare providers in medical records in the US.  </a:t>
            </a:r>
            <a:endParaRPr lang="en-US" b="0" i="0">
              <a:solidFill>
                <a:srgbClr val="000000"/>
              </a:solidFill>
              <a:effectLst/>
              <a:latin typeface="Times New Roman"/>
            </a:endParaRPr>
          </a:p>
          <a:p>
            <a:pPr marL="0" indent="0" algn="just" rtl="0" fontAlgn="base">
              <a:buNone/>
            </a:pPr>
            <a:endParaRPr lang="en-US" b="0" i="0">
              <a:solidFill>
                <a:srgbClr val="000000"/>
              </a:solidFill>
              <a:effectLst/>
              <a:latin typeface="Segoe UI" panose="020B0502040204020203" pitchFamily="34" charset="0"/>
            </a:endParaRPr>
          </a:p>
          <a:p>
            <a:pPr marL="383540" indent="-383540" algn="just" rtl="0" fontAlgn="base"/>
            <a:r>
              <a:rPr lang="en-US" sz="1800" b="1" i="0">
                <a:solidFill>
                  <a:srgbClr val="000000"/>
                </a:solidFill>
                <a:effectLst/>
                <a:latin typeface="Times New Roman"/>
              </a:rPr>
              <a:t>Alternate Hypothesis</a:t>
            </a:r>
            <a:r>
              <a:rPr lang="en-US" sz="1800" b="1">
                <a:solidFill>
                  <a:srgbClr val="000000"/>
                </a:solidFill>
                <a:latin typeface="Times New Roman"/>
              </a:rPr>
              <a:t>:</a:t>
            </a:r>
            <a:r>
              <a:rPr lang="en-US" sz="1800" b="0" i="0">
                <a:solidFill>
                  <a:srgbClr val="000000"/>
                </a:solidFill>
                <a:effectLst/>
                <a:latin typeface="Times New Roman"/>
              </a:rPr>
              <a:t> There will be an increase in the reporting of depression by adults as compared to the reporting of major depressive disorder by healthcare providers in medical records in the US. </a:t>
            </a:r>
            <a:endParaRPr lang="en-US" b="0" i="0">
              <a:solidFill>
                <a:srgbClr val="000000"/>
              </a:solidFill>
              <a:effectLst/>
              <a:latin typeface="Times New Roman"/>
            </a:endParaRPr>
          </a:p>
          <a:p>
            <a:pPr marL="383540" indent="-383540"/>
            <a:endParaRPr lang="en-US"/>
          </a:p>
        </p:txBody>
      </p:sp>
      <p:sp>
        <p:nvSpPr>
          <p:cNvPr id="9" name="Title 6">
            <a:extLst>
              <a:ext uri="{FF2B5EF4-FFF2-40B4-BE49-F238E27FC236}">
                <a16:creationId xmlns:a16="http://schemas.microsoft.com/office/drawing/2014/main" id="{19429802-9FE5-8F98-828A-B0F7248AF46B}"/>
              </a:ext>
            </a:extLst>
          </p:cNvPr>
          <p:cNvSpPr txBox="1">
            <a:spLocks/>
          </p:cNvSpPr>
          <p:nvPr/>
        </p:nvSpPr>
        <p:spPr>
          <a:xfrm rot="5400000">
            <a:off x="7728868" y="2497280"/>
            <a:ext cx="3153515" cy="524324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tIns="45720" rIns="45719" bIns="45720" anchor="t">
            <a:normAutofit/>
          </a:bodyPr>
          <a:lstStyle>
            <a:lvl1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1pPr>
            <a:lvl2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2pPr>
            <a:lvl3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3pPr>
            <a:lvl4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4pPr>
            <a:lvl5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5pPr>
            <a:lvl6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6pPr>
            <a:lvl7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7pPr>
            <a:lvl8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8pPr>
            <a:lvl9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9pPr>
          </a:lstStyle>
          <a:p>
            <a:pPr algn="ctr" hangingPunct="1"/>
            <a:r>
              <a:rPr lang="en-US">
                <a:latin typeface="Times New Roman"/>
                <a:cs typeface="Times New Roman"/>
              </a:rPr>
              <a:t>Methodology</a:t>
            </a:r>
          </a:p>
        </p:txBody>
      </p:sp>
      <p:sp>
        <p:nvSpPr>
          <p:cNvPr id="10" name="Text Placeholder 7">
            <a:extLst>
              <a:ext uri="{FF2B5EF4-FFF2-40B4-BE49-F238E27FC236}">
                <a16:creationId xmlns:a16="http://schemas.microsoft.com/office/drawing/2014/main" id="{138F624C-24B4-AEFF-233F-9117C0CF6B39}"/>
              </a:ext>
            </a:extLst>
          </p:cNvPr>
          <p:cNvSpPr txBox="1">
            <a:spLocks/>
          </p:cNvSpPr>
          <p:nvPr/>
        </p:nvSpPr>
        <p:spPr>
          <a:xfrm>
            <a:off x="1371600" y="3441503"/>
            <a:ext cx="9074727" cy="302395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tIns="45720" rIns="45719" bIns="45720" anchor="t">
            <a:noAutofit/>
          </a:bodyPr>
          <a:lstStyle>
            <a:lvl1pPr marL="384047"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1pPr>
            <a:lvl2pPr marL="914400"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2pPr>
            <a:lvl3pPr marL="14142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3pPr>
            <a:lvl4pPr marL="18714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4pPr>
            <a:lvl5pPr marL="23820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5pPr>
            <a:lvl6pPr marL="28392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6pPr>
            <a:lvl7pPr marL="33649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7pPr>
            <a:lvl8pPr marL="38221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8pPr>
            <a:lvl9pPr marL="42793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9pPr>
          </a:lstStyle>
          <a:p>
            <a:pPr marL="383540" indent="-383540" algn="just" fontAlgn="base" hangingPunct="1">
              <a:lnSpc>
                <a:spcPct val="120000"/>
              </a:lnSpc>
            </a:pPr>
            <a:r>
              <a:rPr lang="en-US" sz="1400" b="1" i="0">
                <a:solidFill>
                  <a:srgbClr val="000000"/>
                </a:solidFill>
                <a:effectLst/>
                <a:latin typeface="Times New Roman"/>
              </a:rPr>
              <a:t>Comparative analysis </a:t>
            </a:r>
            <a:r>
              <a:rPr lang="en-US" sz="1400" b="0" i="0">
                <a:solidFill>
                  <a:srgbClr val="000000"/>
                </a:solidFill>
                <a:effectLst/>
                <a:latin typeface="Times New Roman"/>
              </a:rPr>
              <a:t>between adults and healthcare providers using two datasets to compare depression indicators.</a:t>
            </a:r>
          </a:p>
          <a:p>
            <a:pPr lvl="1" indent="-383540" algn="just" fontAlgn="base" hangingPunct="1"/>
            <a:r>
              <a:rPr lang="en-US" sz="1400">
                <a:solidFill>
                  <a:srgbClr val="000000"/>
                </a:solidFill>
                <a:latin typeface="Times New Roman"/>
              </a:rPr>
              <a:t>Datasets:</a:t>
            </a:r>
          </a:p>
          <a:p>
            <a:pPr marL="1414145" lvl="2" indent="-426085" algn="just" fontAlgn="base" hangingPunct="1"/>
            <a:r>
              <a:rPr lang="en-US" sz="1400">
                <a:effectLst/>
                <a:latin typeface="Times New Roman"/>
                <a:ea typeface="Calibri" panose="020F0502020204030204" pitchFamily="34" charset="0"/>
                <a:cs typeface="Gautami"/>
              </a:rPr>
              <a:t>National Health and Nutrition Examination Survey (</a:t>
            </a:r>
            <a:r>
              <a:rPr lang="en-US" sz="1400" b="0" i="0">
                <a:solidFill>
                  <a:srgbClr val="000000"/>
                </a:solidFill>
                <a:effectLst/>
                <a:latin typeface="Times New Roman"/>
              </a:rPr>
              <a:t>NHANES)</a:t>
            </a:r>
            <a:r>
              <a:rPr lang="en-US" sz="1400" b="0" i="0" baseline="30000">
                <a:solidFill>
                  <a:srgbClr val="000000"/>
                </a:solidFill>
                <a:effectLst/>
                <a:latin typeface="Times New Roman"/>
              </a:rPr>
              <a:t>6</a:t>
            </a:r>
          </a:p>
          <a:p>
            <a:pPr marL="1414145" lvl="2" indent="-426085" algn="just" fontAlgn="base" hangingPunct="1"/>
            <a:r>
              <a:rPr lang="en-US" sz="1400" b="0" i="0">
                <a:solidFill>
                  <a:srgbClr val="000000"/>
                </a:solidFill>
                <a:effectLst/>
                <a:latin typeface="Times New Roman"/>
              </a:rPr>
              <a:t>National Ambulatory Medical Care Survey (NAMCS)</a:t>
            </a:r>
            <a:r>
              <a:rPr lang="en-US" sz="1400" b="0" i="0" baseline="30000">
                <a:solidFill>
                  <a:srgbClr val="000000"/>
                </a:solidFill>
                <a:effectLst/>
                <a:latin typeface="Times New Roman"/>
              </a:rPr>
              <a:t>7</a:t>
            </a:r>
          </a:p>
          <a:p>
            <a:pPr marL="383540" indent="-383540" algn="just" fontAlgn="base" hangingPunct="1">
              <a:lnSpc>
                <a:spcPct val="120000"/>
              </a:lnSpc>
            </a:pPr>
            <a:r>
              <a:rPr lang="en-US" sz="1400" b="1">
                <a:solidFill>
                  <a:srgbClr val="000000"/>
                </a:solidFill>
                <a:latin typeface="Times New Roman"/>
              </a:rPr>
              <a:t>Modeling </a:t>
            </a:r>
            <a:r>
              <a:rPr lang="en-US" sz="1400" b="0" i="0">
                <a:solidFill>
                  <a:srgbClr val="000000"/>
                </a:solidFill>
                <a:effectLst/>
                <a:latin typeface="Times New Roman"/>
              </a:rPr>
              <a:t>to predict </a:t>
            </a:r>
            <a:r>
              <a:rPr lang="en-US" sz="1400">
                <a:solidFill>
                  <a:srgbClr val="000000"/>
                </a:solidFill>
                <a:latin typeface="Times New Roman"/>
              </a:rPr>
              <a:t>depression and the </a:t>
            </a:r>
            <a:r>
              <a:rPr lang="en-US" sz="1400" b="0" i="0">
                <a:solidFill>
                  <a:srgbClr val="000000"/>
                </a:solidFill>
                <a:effectLst/>
                <a:latin typeface="Times New Roman"/>
              </a:rPr>
              <a:t>factors impacting the reporting of depression by 1) adults and 2) healthcare providers. </a:t>
            </a:r>
            <a:endParaRPr lang="en-US" sz="1400">
              <a:solidFill>
                <a:srgbClr val="000000"/>
              </a:solidFill>
              <a:latin typeface="Times New Roman"/>
            </a:endParaRPr>
          </a:p>
          <a:p>
            <a:pPr lvl="1" indent="-383540" algn="just" fontAlgn="base" hangingPunct="1"/>
            <a:r>
              <a:rPr lang="en-US" sz="1400">
                <a:solidFill>
                  <a:srgbClr val="000000"/>
                </a:solidFill>
                <a:latin typeface="Times New Roman"/>
              </a:rPr>
              <a:t>Models:</a:t>
            </a:r>
          </a:p>
          <a:p>
            <a:pPr marL="1414145" lvl="2" indent="-426085" algn="just" fontAlgn="base" hangingPunct="1"/>
            <a:r>
              <a:rPr lang="en-US" sz="1400">
                <a:solidFill>
                  <a:srgbClr val="000000"/>
                </a:solidFill>
                <a:latin typeface="Times New Roman"/>
              </a:rPr>
              <a:t>XGBoost</a:t>
            </a:r>
          </a:p>
          <a:p>
            <a:pPr marL="1414145" lvl="2" indent="-426085" algn="just"/>
            <a:r>
              <a:rPr lang="en-US" sz="1400" b="0" i="0">
                <a:solidFill>
                  <a:srgbClr val="000000"/>
                </a:solidFill>
                <a:effectLst/>
                <a:latin typeface="Times New Roman"/>
              </a:rPr>
              <a:t>Random Forest</a:t>
            </a:r>
            <a:r>
              <a:rPr lang="en-US" sz="1400">
                <a:solidFill>
                  <a:srgbClr val="000000"/>
                </a:solidFill>
                <a:latin typeface="Times New Roman"/>
              </a:rPr>
              <a:t> </a:t>
            </a:r>
            <a:endParaRPr lang="en-US" sz="1400"/>
          </a:p>
          <a:p>
            <a:pPr marL="1414145" lvl="2" indent="-426085" algn="just" fontAlgn="base" hangingPunct="1"/>
            <a:r>
              <a:rPr lang="en-US" sz="1400" b="0" i="0">
                <a:solidFill>
                  <a:srgbClr val="000000"/>
                </a:solidFill>
                <a:effectLst/>
                <a:latin typeface="Times New Roman"/>
              </a:rPr>
              <a:t>SVM</a:t>
            </a:r>
            <a:endParaRPr lang="en-US" sz="1400">
              <a:latin typeface="Times New Roman"/>
            </a:endParaRPr>
          </a:p>
        </p:txBody>
      </p:sp>
      <p:cxnSp>
        <p:nvCxnSpPr>
          <p:cNvPr id="12" name="Straight Connector 11">
            <a:extLst>
              <a:ext uri="{FF2B5EF4-FFF2-40B4-BE49-F238E27FC236}">
                <a16:creationId xmlns:a16="http://schemas.microsoft.com/office/drawing/2014/main" id="{2EDC119A-49C6-35C0-112F-2891CB7B4B33}"/>
              </a:ext>
            </a:extLst>
          </p:cNvPr>
          <p:cNvCxnSpPr/>
          <p:nvPr/>
        </p:nvCxnSpPr>
        <p:spPr>
          <a:xfrm>
            <a:off x="868219" y="3429000"/>
            <a:ext cx="9993745" cy="0"/>
          </a:xfrm>
          <a:prstGeom prst="line">
            <a:avLst/>
          </a:prstGeom>
          <a:noFill/>
          <a:ln w="34925" cap="flat">
            <a:solidFill>
              <a:schemeClr val="accent1"/>
            </a:solidFill>
            <a:prstDash val="solid"/>
            <a:round/>
          </a:ln>
          <a:effectLst/>
          <a:sp3d/>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2885FF56-E32C-4E99-4F90-672B2D520AF1}"/>
              </a:ext>
            </a:extLst>
          </p:cNvPr>
          <p:cNvSpPr txBox="1"/>
          <p:nvPr/>
        </p:nvSpPr>
        <p:spPr>
          <a:xfrm>
            <a:off x="4307740" y="6479832"/>
            <a:ext cx="7018765"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800" b="0" i="0">
                <a:solidFill>
                  <a:srgbClr val="000000"/>
                </a:solidFill>
                <a:effectLst/>
                <a:latin typeface="Times New Roman" panose="02020603050405020304" pitchFamily="18" charset="0"/>
                <a:cs typeface="Times New Roman" panose="02020603050405020304" pitchFamily="18" charset="0"/>
              </a:rPr>
              <a:t>6. </a:t>
            </a:r>
            <a:r>
              <a:rPr lang="en-US" sz="800">
                <a:effectLst/>
                <a:latin typeface="Times New Roman" panose="02020603050405020304" pitchFamily="18" charset="0"/>
                <a:ea typeface="Calibri" panose="020F0502020204030204" pitchFamily="34" charset="0"/>
                <a:cs typeface="Gautami" panose="020B0502040204020203" pitchFamily="34" charset="0"/>
              </a:rPr>
              <a:t>National Center for Health Statistics. (2022b). National Health and Nutrition Examination Survey. National Center for Health Statistics.</a:t>
            </a:r>
          </a:p>
          <a:p>
            <a:r>
              <a:rPr kumimoji="0" lang="en-US" sz="800" b="0" i="0" u="none" strike="noStrike" cap="none" spc="0" normalizeH="0" baseline="0">
                <a:ln>
                  <a:noFill/>
                </a:ln>
                <a:solidFill>
                  <a:srgbClr val="000000"/>
                </a:solidFill>
                <a:uFillTx/>
                <a:latin typeface="Times New Roman" panose="02020603050405020304" pitchFamily="18" charset="0"/>
                <a:cs typeface="Gautami" panose="020B0502040204020203" pitchFamily="34" charset="0"/>
                <a:sym typeface="Franklin Gothic Book"/>
              </a:rPr>
              <a:t>7. National Center for Health Statistics. (2018). National Ambulatory Medical Care Survey</a:t>
            </a:r>
            <a:endParaRPr kumimoji="0" lang="en-US" sz="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136496808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E8C833-56D8-FB60-C630-D4C867A4FD69}"/>
              </a:ext>
            </a:extLst>
          </p:cNvPr>
          <p:cNvSpPr>
            <a:spLocks noGrp="1"/>
          </p:cNvSpPr>
          <p:nvPr>
            <p:ph type="title"/>
          </p:nvPr>
        </p:nvSpPr>
        <p:spPr>
          <a:xfrm>
            <a:off x="1371600" y="685800"/>
            <a:ext cx="9601200" cy="457200"/>
          </a:xfrm>
        </p:spPr>
        <p:txBody>
          <a:bodyPr wrap="none">
            <a:noAutofit/>
          </a:bodyPr>
          <a:lstStyle/>
          <a:p>
            <a:r>
              <a:rPr lang="en-US" i="0">
                <a:solidFill>
                  <a:srgbClr val="000000"/>
                </a:solidFill>
                <a:effectLst/>
                <a:latin typeface="Times New Roman" panose="02020603050405020304" pitchFamily="18" charset="0"/>
              </a:rPr>
              <a:t>Data Collection</a:t>
            </a:r>
            <a:br>
              <a:rPr lang="en-US" b="1" i="0">
                <a:solidFill>
                  <a:srgbClr val="000000"/>
                </a:solidFill>
                <a:effectLst/>
                <a:latin typeface="Times New Roman" panose="02020603050405020304" pitchFamily="18" charset="0"/>
              </a:rPr>
            </a:br>
            <a:r>
              <a:rPr lang="en-US" b="1" i="0">
                <a:solidFill>
                  <a:srgbClr val="000000"/>
                </a:solidFill>
                <a:effectLst/>
                <a:latin typeface="Times New Roman" panose="02020603050405020304" pitchFamily="18" charset="0"/>
              </a:rPr>
              <a:t> </a:t>
            </a:r>
            <a:br>
              <a:rPr lang="en-US" b="1" i="0">
                <a:solidFill>
                  <a:srgbClr val="000000"/>
                </a:solidFill>
                <a:effectLst/>
                <a:latin typeface="Times New Roman" panose="02020603050405020304" pitchFamily="18" charset="0"/>
              </a:rPr>
            </a:br>
            <a:endParaRPr lang="en-US"/>
          </a:p>
        </p:txBody>
      </p:sp>
      <p:sp>
        <p:nvSpPr>
          <p:cNvPr id="5" name="Text Placeholder 4">
            <a:extLst>
              <a:ext uri="{FF2B5EF4-FFF2-40B4-BE49-F238E27FC236}">
                <a16:creationId xmlns:a16="http://schemas.microsoft.com/office/drawing/2014/main" id="{FAC949CD-0F0E-86A5-EECE-D3FEA7EAA6E4}"/>
              </a:ext>
            </a:extLst>
          </p:cNvPr>
          <p:cNvSpPr>
            <a:spLocks noGrp="1"/>
          </p:cNvSpPr>
          <p:nvPr>
            <p:ph type="body" sz="quarter" idx="1"/>
          </p:nvPr>
        </p:nvSpPr>
        <p:spPr>
          <a:xfrm>
            <a:off x="1515374" y="2888344"/>
            <a:ext cx="4580626" cy="2177142"/>
          </a:xfrm>
        </p:spPr>
        <p:txBody>
          <a:bodyPr lIns="45719" tIns="45720" rIns="45719" bIns="45720" anchor="b">
            <a:normAutofit/>
          </a:bodyPr>
          <a:lstStyle/>
          <a:p>
            <a:r>
              <a:rPr lang="en-US" sz="3200" dirty="0">
                <a:latin typeface="Times New Roman"/>
                <a:cs typeface="Times New Roman"/>
              </a:rPr>
              <a:t>NHANES</a:t>
            </a:r>
            <a:r>
              <a:rPr lang="en-US" sz="3200" baseline="30000" dirty="0">
                <a:latin typeface="Times New Roman"/>
                <a:cs typeface="Times New Roman"/>
              </a:rPr>
              <a:t>6</a:t>
            </a:r>
          </a:p>
          <a:p>
            <a:r>
              <a:rPr lang="en-US" sz="1800" dirty="0">
                <a:effectLst/>
                <a:latin typeface="Times New Roman"/>
                <a:ea typeface="Calibri" panose="020F0502020204030204" pitchFamily="34" charset="0"/>
                <a:cs typeface="Gautami"/>
              </a:rPr>
              <a:t>“</a:t>
            </a:r>
            <a:r>
              <a:rPr lang="en-US" sz="1800" dirty="0">
                <a:latin typeface="Times New Roman"/>
                <a:ea typeface="Calibri" panose="020F0502020204030204" pitchFamily="34" charset="0"/>
                <a:cs typeface="Gautami"/>
              </a:rPr>
              <a:t>Mobile </a:t>
            </a:r>
            <a:r>
              <a:rPr lang="en-US" sz="1800" dirty="0">
                <a:effectLst/>
                <a:latin typeface="Times New Roman"/>
                <a:ea typeface="Calibri" panose="020F0502020204030204" pitchFamily="34" charset="0"/>
                <a:cs typeface="Gautami"/>
              </a:rPr>
              <a:t>examination center”</a:t>
            </a:r>
            <a:r>
              <a:rPr lang="en-US" sz="1800" dirty="0">
                <a:latin typeface="Times New Roman"/>
                <a:ea typeface="Calibri" panose="020F0502020204030204" pitchFamily="34" charset="0"/>
                <a:cs typeface="Gautami"/>
              </a:rPr>
              <a:t> </a:t>
            </a:r>
            <a:r>
              <a:rPr lang="en-US" sz="1800" dirty="0">
                <a:effectLst/>
                <a:latin typeface="Times New Roman"/>
                <a:ea typeface="Calibri" panose="020F0502020204030204" pitchFamily="34" charset="0"/>
                <a:cs typeface="Gautami"/>
              </a:rPr>
              <a:t> collects data directly regarding:</a:t>
            </a:r>
          </a:p>
          <a:p>
            <a:pPr marL="457200" indent="-457200">
              <a:buFont typeface="Wingdings" panose="05000000000000000000" pitchFamily="2" charset="2"/>
              <a:buChar char="§"/>
            </a:pPr>
            <a:r>
              <a:rPr lang="en-US" sz="1800" dirty="0">
                <a:latin typeface="Times New Roman"/>
                <a:ea typeface="Calibri" panose="020F0502020204030204" pitchFamily="34" charset="0"/>
                <a:cs typeface="Gautami"/>
              </a:rPr>
              <a:t>Nutrition </a:t>
            </a:r>
            <a:endParaRPr lang="en-US" sz="1800" dirty="0">
              <a:effectLst/>
              <a:ea typeface="Calibri" panose="020F0502020204030204" pitchFamily="34" charset="0"/>
              <a:cs typeface="Gautami" panose="020B0502040204020203" pitchFamily="34" charset="0"/>
            </a:endParaRPr>
          </a:p>
          <a:p>
            <a:pPr marL="457200" indent="-457200">
              <a:buFont typeface="Wingdings" panose="05000000000000000000" pitchFamily="2" charset="2"/>
              <a:buChar char="§"/>
            </a:pPr>
            <a:r>
              <a:rPr lang="en-US" sz="1800" dirty="0">
                <a:latin typeface="Times New Roman"/>
                <a:ea typeface="Calibri" panose="020F0502020204030204" pitchFamily="34" charset="0"/>
                <a:cs typeface="Gautami"/>
              </a:rPr>
              <a:t>Diseases</a:t>
            </a:r>
            <a:endParaRPr lang="en-US" sz="1800" dirty="0">
              <a:effectLst/>
              <a:latin typeface="Times New Roman" panose="02020603050405020304" pitchFamily="18" charset="0"/>
              <a:ea typeface="Calibri" panose="020F0502020204030204" pitchFamily="34" charset="0"/>
              <a:cs typeface="Gautami" panose="020B0502040204020203" pitchFamily="34" charset="0"/>
            </a:endParaRPr>
          </a:p>
          <a:p>
            <a:pPr marL="457200" indent="-457200">
              <a:buFont typeface="Wingdings" panose="05000000000000000000" pitchFamily="2" charset="2"/>
              <a:buChar char="§"/>
            </a:pPr>
            <a:r>
              <a:rPr lang="en-US" sz="1800" dirty="0">
                <a:latin typeface="Times New Roman"/>
                <a:ea typeface="Calibri" panose="020F0502020204030204" pitchFamily="34" charset="0"/>
                <a:cs typeface="Gautami"/>
              </a:rPr>
              <a:t>Health</a:t>
            </a:r>
            <a:r>
              <a:rPr lang="en-US" sz="1800" dirty="0">
                <a:effectLst/>
                <a:latin typeface="Times New Roman"/>
                <a:ea typeface="Calibri" panose="020F0502020204030204" pitchFamily="34" charset="0"/>
                <a:cs typeface="Gautami"/>
              </a:rPr>
              <a:t> behaviors</a:t>
            </a:r>
          </a:p>
          <a:p>
            <a:pPr marL="457200" indent="-457200">
              <a:buFont typeface="Wingdings" panose="05000000000000000000" pitchFamily="2" charset="2"/>
              <a:buChar char="§"/>
            </a:pPr>
            <a:r>
              <a:rPr lang="en-US" sz="1800" dirty="0">
                <a:latin typeface="Times New Roman"/>
                <a:ea typeface="Calibri" panose="020F0502020204030204" pitchFamily="34" charset="0"/>
                <a:cs typeface="Gautami"/>
              </a:rPr>
              <a:t>Demographics</a:t>
            </a:r>
            <a:endParaRPr lang="en-US" sz="1800" dirty="0">
              <a:effectLst/>
              <a:latin typeface="Times New Roman" panose="02020603050405020304" pitchFamily="18" charset="0"/>
              <a:ea typeface="Calibri" panose="020F0502020204030204" pitchFamily="34" charset="0"/>
              <a:cs typeface="Gautami" panose="020B0502040204020203" pitchFamily="34" charset="0"/>
            </a:endParaRPr>
          </a:p>
          <a:p>
            <a:pPr marL="457200" indent="-457200">
              <a:buFont typeface="Wingdings" panose="05000000000000000000" pitchFamily="2" charset="2"/>
              <a:buChar char="§"/>
            </a:pPr>
            <a:endParaRPr lang="en-US" sz="3200" dirty="0"/>
          </a:p>
        </p:txBody>
      </p:sp>
      <p:sp>
        <p:nvSpPr>
          <p:cNvPr id="6" name="Text Placeholder 5">
            <a:extLst>
              <a:ext uri="{FF2B5EF4-FFF2-40B4-BE49-F238E27FC236}">
                <a16:creationId xmlns:a16="http://schemas.microsoft.com/office/drawing/2014/main" id="{D1D0AEAF-B55E-2291-01AB-010579E63890}"/>
              </a:ext>
            </a:extLst>
          </p:cNvPr>
          <p:cNvSpPr>
            <a:spLocks noGrp="1"/>
          </p:cNvSpPr>
          <p:nvPr>
            <p:ph type="body" sz="quarter" idx="13"/>
          </p:nvPr>
        </p:nvSpPr>
        <p:spPr>
          <a:xfrm>
            <a:off x="6430746" y="2648930"/>
            <a:ext cx="4443985" cy="1907507"/>
          </a:xfrm>
        </p:spPr>
        <p:txBody>
          <a:bodyPr>
            <a:normAutofit/>
          </a:bodyPr>
          <a:lstStyle/>
          <a:p>
            <a:pPr marL="0" indent="0">
              <a:buNone/>
            </a:pPr>
            <a:r>
              <a:rPr lang="en-US" sz="3200" dirty="0"/>
              <a:t>NAMCS</a:t>
            </a:r>
            <a:r>
              <a:rPr lang="en-US" sz="3200" baseline="30000" dirty="0"/>
              <a:t>7</a:t>
            </a:r>
          </a:p>
          <a:p>
            <a:pPr marL="457200" indent="-457200">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Gautami" panose="020B0502040204020203" pitchFamily="34" charset="0"/>
              </a:rPr>
              <a:t>Healthcare providers are surveyed and charts examined regarding:</a:t>
            </a:r>
          </a:p>
          <a:p>
            <a:pPr marL="987553" lvl="1" indent="-457200">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Gautami" panose="020B0502040204020203" pitchFamily="34" charset="0"/>
              </a:rPr>
              <a:t>direct patient care received in ambulatory care centers</a:t>
            </a:r>
            <a:endParaRPr lang="en-US" sz="3200" baseline="30000" dirty="0"/>
          </a:p>
        </p:txBody>
      </p:sp>
      <p:sp>
        <p:nvSpPr>
          <p:cNvPr id="10" name="TextBox 9">
            <a:extLst>
              <a:ext uri="{FF2B5EF4-FFF2-40B4-BE49-F238E27FC236}">
                <a16:creationId xmlns:a16="http://schemas.microsoft.com/office/drawing/2014/main" id="{28529772-D282-A54F-9301-C26253CBB856}"/>
              </a:ext>
            </a:extLst>
          </p:cNvPr>
          <p:cNvSpPr txBox="1"/>
          <p:nvPr/>
        </p:nvSpPr>
        <p:spPr>
          <a:xfrm>
            <a:off x="1371600" y="1312817"/>
            <a:ext cx="9113520"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Wingdings" panose="05000000000000000000" pitchFamily="2" charset="2"/>
              <a:buChar char="§"/>
              <a:tabLst/>
            </a:pPr>
            <a:r>
              <a:rPr lang="en-US" sz="1600">
                <a:latin typeface="Times New Roman"/>
              </a:rPr>
              <a:t>Secondary</a:t>
            </a:r>
            <a:r>
              <a:rPr lang="en-US" sz="1600" b="0" i="0">
                <a:solidFill>
                  <a:srgbClr val="000000"/>
                </a:solidFill>
                <a:effectLst/>
                <a:latin typeface="Times New Roman"/>
              </a:rPr>
              <a:t> data from National Center for Health Statistics (NCHS):</a:t>
            </a:r>
          </a:p>
          <a:p>
            <a:pPr marL="285750" indent="-285750">
              <a:buFont typeface="Wingdings" panose="05000000000000000000" pitchFamily="2" charset="2"/>
              <a:buChar char="§"/>
            </a:pPr>
            <a:r>
              <a:rPr lang="en-US" sz="1600">
                <a:latin typeface="Times New Roman"/>
              </a:rPr>
              <a:t>Surveys </a:t>
            </a:r>
            <a:r>
              <a:rPr lang="en-US" sz="1600" b="0" i="0">
                <a:solidFill>
                  <a:srgbClr val="000000"/>
                </a:solidFill>
                <a:effectLst/>
                <a:latin typeface="Times New Roman"/>
              </a:rPr>
              <a:t>and physical examinations</a:t>
            </a:r>
            <a:r>
              <a:rPr lang="en-US" sz="1600">
                <a:latin typeface="Times New Roman"/>
              </a:rPr>
              <a:t> </a:t>
            </a:r>
            <a:endParaRPr lang="en-US" sz="1600" b="0" i="0">
              <a:solidFill>
                <a:srgbClr val="000000"/>
              </a:solidFill>
              <a:effectLst/>
              <a:latin typeface="Times New Roman" panose="02020603050405020304" pitchFamily="18" charset="0"/>
            </a:endParaRPr>
          </a:p>
          <a:p>
            <a:pPr marL="285750" indent="-285750">
              <a:buFont typeface="Wingdings" panose="05000000000000000000" pitchFamily="2" charset="2"/>
              <a:buChar char="§"/>
            </a:pPr>
            <a:r>
              <a:rPr lang="en-US" sz="1600" b="0" i="0">
                <a:solidFill>
                  <a:srgbClr val="000000"/>
                </a:solidFill>
                <a:effectLst/>
                <a:latin typeface="Times New Roman"/>
              </a:rPr>
              <a:t>United States (U.S.)</a:t>
            </a:r>
            <a:r>
              <a:rPr lang="en-US" sz="1600">
                <a:latin typeface="Times New Roman"/>
              </a:rPr>
              <a:t> </a:t>
            </a:r>
            <a:endParaRPr lang="en-US" sz="1600" b="0" i="0">
              <a:solidFill>
                <a:srgbClr val="000000"/>
              </a:solidFill>
              <a:effectLst/>
              <a:latin typeface="Times New Roman" panose="02020603050405020304" pitchFamily="18" charset="0"/>
            </a:endParaRPr>
          </a:p>
          <a:p>
            <a:pPr marL="285750" marR="0" indent="-285750" algn="l" defTabSz="457200" rtl="0" fontAlgn="auto" latinLnBrk="0" hangingPunct="0">
              <a:lnSpc>
                <a:spcPct val="100000"/>
              </a:lnSpc>
              <a:spcBef>
                <a:spcPts val="0"/>
              </a:spcBef>
              <a:spcAft>
                <a:spcPts val="0"/>
              </a:spcAft>
              <a:buClrTx/>
              <a:buSzTx/>
              <a:buFont typeface="Wingdings" panose="05000000000000000000" pitchFamily="2" charset="2"/>
              <a:buChar char="§"/>
              <a:tabLst/>
            </a:pPr>
            <a:r>
              <a:rPr lang="en-US" sz="1600" b="0" i="0">
                <a:solidFill>
                  <a:srgbClr val="000000"/>
                </a:solidFill>
                <a:effectLst/>
                <a:latin typeface="Times New Roman"/>
              </a:rPr>
              <a:t>2017 to 2018 (most comprehensive set published since covid pandemic)</a:t>
            </a:r>
            <a:endParaRPr kumimoji="0" lang="en-US" sz="1600" b="0" i="0" u="none" strike="noStrike" cap="none" spc="0" normalizeH="0" baseline="0">
              <a:ln>
                <a:noFill/>
              </a:ln>
              <a:solidFill>
                <a:srgbClr val="000000"/>
              </a:solidFill>
              <a:effectLst/>
              <a:uFillTx/>
              <a:latin typeface="Times New Roman"/>
              <a:ea typeface="+mj-ea"/>
              <a:cs typeface="+mj-cs"/>
              <a:sym typeface="Franklin Gothic Book"/>
            </a:endParaRPr>
          </a:p>
        </p:txBody>
      </p:sp>
      <p:sp>
        <p:nvSpPr>
          <p:cNvPr id="2" name="TextBox 1">
            <a:extLst>
              <a:ext uri="{FF2B5EF4-FFF2-40B4-BE49-F238E27FC236}">
                <a16:creationId xmlns:a16="http://schemas.microsoft.com/office/drawing/2014/main" id="{FC75C4D8-6C38-39D2-C88F-AA6DAA4AB49A}"/>
              </a:ext>
            </a:extLst>
          </p:cNvPr>
          <p:cNvSpPr txBox="1"/>
          <p:nvPr/>
        </p:nvSpPr>
        <p:spPr>
          <a:xfrm>
            <a:off x="1029702" y="6465455"/>
            <a:ext cx="9074727"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800" b="0" i="0">
                <a:solidFill>
                  <a:srgbClr val="000000"/>
                </a:solidFill>
                <a:effectLst/>
                <a:latin typeface="Times New Roman" panose="02020603050405020304" pitchFamily="18" charset="0"/>
                <a:cs typeface="Times New Roman" panose="02020603050405020304" pitchFamily="18" charset="0"/>
              </a:rPr>
              <a:t>6. </a:t>
            </a:r>
            <a:r>
              <a:rPr lang="en-US" sz="800">
                <a:effectLst/>
                <a:latin typeface="Times New Roman" panose="02020603050405020304" pitchFamily="18" charset="0"/>
                <a:ea typeface="Calibri" panose="020F0502020204030204" pitchFamily="34" charset="0"/>
                <a:cs typeface="Gautami" panose="020B0502040204020203" pitchFamily="34" charset="0"/>
              </a:rPr>
              <a:t>National Center for Health Statistics. (2022b). National Health and Nutrition Examination Survey. National Center for Health Statistics.</a:t>
            </a:r>
          </a:p>
          <a:p>
            <a:r>
              <a:rPr kumimoji="0" lang="en-US" sz="800" b="0" i="0" u="none" strike="noStrike" cap="none" spc="0" normalizeH="0" baseline="0">
                <a:ln>
                  <a:noFill/>
                </a:ln>
                <a:solidFill>
                  <a:srgbClr val="000000"/>
                </a:solidFill>
                <a:uFillTx/>
                <a:latin typeface="Times New Roman" panose="02020603050405020304" pitchFamily="18" charset="0"/>
                <a:cs typeface="Gautami" panose="020B0502040204020203" pitchFamily="34" charset="0"/>
                <a:sym typeface="Franklin Gothic Book"/>
              </a:rPr>
              <a:t>7. National Center for Health Statistics. (2018). National Ambulatory Medical Care Survey</a:t>
            </a:r>
            <a:endParaRPr kumimoji="0" lang="en-US" sz="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352408058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86BF-1B94-6800-A1AA-982606F8D6B5}"/>
              </a:ext>
            </a:extLst>
          </p:cNvPr>
          <p:cNvSpPr>
            <a:spLocks noGrp="1"/>
          </p:cNvSpPr>
          <p:nvPr>
            <p:ph type="title"/>
          </p:nvPr>
        </p:nvSpPr>
        <p:spPr/>
        <p:txBody>
          <a:bodyPr>
            <a:normAutofit/>
          </a:bodyPr>
          <a:lstStyle/>
          <a:p>
            <a:r>
              <a:rPr lang="en-US" i="0">
                <a:solidFill>
                  <a:srgbClr val="000000"/>
                </a:solidFill>
                <a:effectLst/>
                <a:latin typeface="Times New Roman" panose="02020603050405020304" pitchFamily="18" charset="0"/>
              </a:rPr>
              <a:t>Data Storage, Extraction, Cleaning </a:t>
            </a:r>
            <a:endParaRPr lang="en-US"/>
          </a:p>
        </p:txBody>
      </p:sp>
      <p:sp>
        <p:nvSpPr>
          <p:cNvPr id="3" name="Text Placeholder 2">
            <a:extLst>
              <a:ext uri="{FF2B5EF4-FFF2-40B4-BE49-F238E27FC236}">
                <a16:creationId xmlns:a16="http://schemas.microsoft.com/office/drawing/2014/main" id="{A32540E6-8DDB-50B9-3309-170514441CB9}"/>
              </a:ext>
            </a:extLst>
          </p:cNvPr>
          <p:cNvSpPr>
            <a:spLocks noGrp="1"/>
          </p:cNvSpPr>
          <p:nvPr>
            <p:ph type="body" idx="1"/>
          </p:nvPr>
        </p:nvSpPr>
        <p:spPr/>
        <p:txBody>
          <a:bodyPr/>
          <a:lstStyle/>
          <a:p>
            <a:r>
              <a:rPr lang="en-US" dirty="0"/>
              <a:t>Extraction</a:t>
            </a:r>
          </a:p>
          <a:p>
            <a:pPr lvl="1"/>
            <a:r>
              <a:rPr lang="en-US" dirty="0"/>
              <a:t>NHANES multiple sub-files in XPT format</a:t>
            </a:r>
          </a:p>
          <a:p>
            <a:pPr lvl="2"/>
            <a:r>
              <a:rPr lang="en-US" dirty="0"/>
              <a:t>Downloaded to SAS converter per </a:t>
            </a:r>
            <a:r>
              <a:rPr lang="en-US" dirty="0">
                <a:solidFill>
                  <a:srgbClr val="FF0000"/>
                </a:solidFill>
              </a:rPr>
              <a:t>NCHS</a:t>
            </a:r>
            <a:r>
              <a:rPr lang="en-US" dirty="0"/>
              <a:t> recommendation.  Saved to CSV file. </a:t>
            </a:r>
          </a:p>
          <a:p>
            <a:pPr lvl="2"/>
            <a:r>
              <a:rPr lang="en-US" dirty="0"/>
              <a:t>Merged per Pandas in Python and extracted columns from large set</a:t>
            </a:r>
          </a:p>
          <a:p>
            <a:pPr lvl="1"/>
            <a:r>
              <a:rPr lang="en-US" dirty="0"/>
              <a:t>NAMCS </a:t>
            </a:r>
          </a:p>
          <a:p>
            <a:pPr lvl="2"/>
            <a:r>
              <a:rPr lang="en-US" dirty="0"/>
              <a:t>Downloaded TXT file from site </a:t>
            </a:r>
          </a:p>
          <a:p>
            <a:pPr lvl="2"/>
            <a:r>
              <a:rPr lang="en-US" dirty="0"/>
              <a:t>Converted with Python to CSV </a:t>
            </a:r>
            <a:r>
              <a:rPr lang="en-US" dirty="0">
                <a:solidFill>
                  <a:srgbClr val="FF0000"/>
                </a:solidFill>
              </a:rPr>
              <a:t>and extracted columns from large set</a:t>
            </a:r>
          </a:p>
          <a:p>
            <a:pPr lvl="1"/>
            <a:endParaRPr lang="en-US" dirty="0"/>
          </a:p>
        </p:txBody>
      </p:sp>
    </p:spTree>
    <p:extLst>
      <p:ext uri="{BB962C8B-B14F-4D97-AF65-F5344CB8AC3E}">
        <p14:creationId xmlns:p14="http://schemas.microsoft.com/office/powerpoint/2010/main" val="26435411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51381-E7DA-FFD5-7E0C-2AF544A589E6}"/>
              </a:ext>
            </a:extLst>
          </p:cNvPr>
          <p:cNvSpPr>
            <a:spLocks noGrp="1"/>
          </p:cNvSpPr>
          <p:nvPr>
            <p:ph type="title"/>
          </p:nvPr>
        </p:nvSpPr>
        <p:spPr/>
        <p:txBody>
          <a:bodyPr/>
          <a:lstStyle/>
          <a:p>
            <a:r>
              <a:rPr lang="en-US" dirty="0"/>
              <a:t>Cleaning</a:t>
            </a:r>
          </a:p>
        </p:txBody>
      </p:sp>
      <p:sp>
        <p:nvSpPr>
          <p:cNvPr id="3" name="Text Placeholder 2">
            <a:extLst>
              <a:ext uri="{FF2B5EF4-FFF2-40B4-BE49-F238E27FC236}">
                <a16:creationId xmlns:a16="http://schemas.microsoft.com/office/drawing/2014/main" id="{609AA83F-F2A3-F9A5-7D52-6E7A1E162229}"/>
              </a:ext>
            </a:extLst>
          </p:cNvPr>
          <p:cNvSpPr>
            <a:spLocks noGrp="1"/>
          </p:cNvSpPr>
          <p:nvPr>
            <p:ph type="body" idx="1"/>
          </p:nvPr>
        </p:nvSpPr>
        <p:spPr>
          <a:xfrm>
            <a:off x="1371600" y="1300899"/>
            <a:ext cx="9601200" cy="4566501"/>
          </a:xfrm>
        </p:spPr>
        <p:txBody>
          <a:bodyPr>
            <a:noAutofit/>
          </a:bodyPr>
          <a:lstStyle/>
          <a:p>
            <a:pPr marL="0" marR="0">
              <a:lnSpc>
                <a:spcPts val="2475"/>
              </a:lnSpc>
              <a:spcBef>
                <a:spcPts val="0"/>
              </a:spcBef>
              <a:spcAft>
                <a:spcPts val="80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Missing data calculation</a:t>
            </a:r>
          </a:p>
          <a:p>
            <a:pPr marL="530353" lvl="1">
              <a:lnSpc>
                <a:spcPts val="2475"/>
              </a:lnSpc>
              <a:spcBef>
                <a:spcPts val="0"/>
              </a:spcBef>
              <a:spcAft>
                <a:spcPts val="80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No data over the 10% cutoff </a:t>
            </a:r>
            <a:r>
              <a:rPr lang="en-US" sz="1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 the NHANES dataset </a:t>
            </a: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per proposal</a:t>
            </a:r>
          </a:p>
          <a:p>
            <a:pPr marL="530353" lvl="1">
              <a:lnSpc>
                <a:spcPts val="2475"/>
              </a:lnSpc>
              <a:spcBef>
                <a:spcPts val="0"/>
              </a:spcBef>
              <a:spcAft>
                <a:spcPts val="80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PHQ </a:t>
            </a: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questions were calculated, and all had very low missing, refused or unanswered</a:t>
            </a:r>
          </a:p>
          <a:p>
            <a:pPr marL="530353" lvl="1">
              <a:lnSpc>
                <a:spcPts val="2475"/>
              </a:lnSpc>
              <a:spcBef>
                <a:spcPts val="0"/>
              </a:spcBef>
              <a:spcAft>
                <a:spcPts val="80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Team chose to leave them in the dataset  and </a:t>
            </a:r>
            <a:r>
              <a:rPr lang="en-US" sz="1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convert to ‘0’. </a:t>
            </a: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D</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ropping those rows would lose data in 40+ other variables and other DI measures.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ts val="2475"/>
              </a:lnSpc>
              <a:spcBef>
                <a:spcPts val="0"/>
              </a:spcBef>
              <a:spcAft>
                <a:spcPts val="80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Categorical encoding</a:t>
            </a:r>
          </a:p>
          <a:p>
            <a:pPr marL="530353" lvl="1">
              <a:lnSpc>
                <a:spcPts val="2475"/>
              </a:lnSpc>
              <a:spcBef>
                <a:spcPts val="0"/>
              </a:spcBef>
              <a:spcAft>
                <a:spcPts val="80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Categories converted to Boolean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ts val="2475"/>
              </a:lnSpc>
              <a:spcBef>
                <a:spcPts val="0"/>
              </a:spcBef>
              <a:spcAft>
                <a:spcPts val="80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Variable transformation</a:t>
            </a:r>
          </a:p>
          <a:p>
            <a:pPr marL="530353" lvl="1">
              <a:lnSpc>
                <a:spcPts val="2475"/>
              </a:lnSpc>
              <a:spcBef>
                <a:spcPts val="0"/>
              </a:spcBef>
              <a:spcAft>
                <a:spcPts val="80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Some variables grouped for interpretation or ease in use in analysis</a:t>
            </a:r>
          </a:p>
          <a:p>
            <a:pPr marL="530353" lvl="1">
              <a:lnSpc>
                <a:spcPts val="2475"/>
              </a:lnSpc>
              <a:spcBef>
                <a:spcPts val="0"/>
              </a:spcBef>
              <a:spcAft>
                <a:spcPts val="800"/>
              </a:spcAft>
            </a:pPr>
            <a:r>
              <a:rPr lang="en-US" sz="1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See </a:t>
            </a:r>
            <a:r>
              <a:rPr lang="en-US" sz="140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Depression</a:t>
            </a:r>
            <a:r>
              <a:rPr lang="en-US" sz="1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Indicator slide for description of dependent variable transformation</a:t>
            </a:r>
          </a:p>
        </p:txBody>
      </p:sp>
    </p:spTree>
    <p:extLst>
      <p:ext uri="{BB962C8B-B14F-4D97-AF65-F5344CB8AC3E}">
        <p14:creationId xmlns:p14="http://schemas.microsoft.com/office/powerpoint/2010/main" val="427125225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9D30E-5E35-85C6-D11E-1266E0A4F9B3}"/>
              </a:ext>
            </a:extLst>
          </p:cNvPr>
          <p:cNvSpPr>
            <a:spLocks noGrp="1"/>
          </p:cNvSpPr>
          <p:nvPr>
            <p:ph type="title"/>
          </p:nvPr>
        </p:nvSpPr>
        <p:spPr/>
        <p:txBody>
          <a:bodyPr/>
          <a:lstStyle/>
          <a:p>
            <a:r>
              <a:rPr lang="en-US"/>
              <a:t>Depression</a:t>
            </a:r>
            <a:r>
              <a:rPr lang="en-US" dirty="0"/>
              <a:t> Indicator</a:t>
            </a:r>
          </a:p>
        </p:txBody>
      </p:sp>
      <p:sp>
        <p:nvSpPr>
          <p:cNvPr id="3" name="Text Placeholder 2">
            <a:extLst>
              <a:ext uri="{FF2B5EF4-FFF2-40B4-BE49-F238E27FC236}">
                <a16:creationId xmlns:a16="http://schemas.microsoft.com/office/drawing/2014/main" id="{CE552A79-3562-9FCE-13DF-A5D74A03F3F4}"/>
              </a:ext>
            </a:extLst>
          </p:cNvPr>
          <p:cNvSpPr>
            <a:spLocks noGrp="1"/>
          </p:cNvSpPr>
          <p:nvPr>
            <p:ph type="body" idx="1"/>
          </p:nvPr>
        </p:nvSpPr>
        <p:spPr/>
        <p:txBody>
          <a:bodyPr lIns="45719" tIns="45720" rIns="45719" bIns="45720" anchor="t">
            <a:normAutofit fontScale="25000" lnSpcReduction="20000"/>
          </a:bodyPr>
          <a:lstStyle/>
          <a:p>
            <a:pPr marL="383540" indent="-383540"/>
            <a:r>
              <a:rPr lang="en-US" sz="4800"/>
              <a:t>Depression</a:t>
            </a:r>
            <a:r>
              <a:rPr lang="en-US" sz="4800" dirty="0"/>
              <a:t> Indicator (DI)</a:t>
            </a:r>
            <a:endParaRPr lang="en-US"/>
          </a:p>
          <a:p>
            <a:pPr lvl="1" indent="-383540"/>
            <a:r>
              <a:rPr lang="en-US" sz="4800" dirty="0"/>
              <a:t>Boolean feature created for each set</a:t>
            </a:r>
          </a:p>
          <a:p>
            <a:pPr lvl="1" indent="-383540"/>
            <a:r>
              <a:rPr lang="en-US" sz="4800" dirty="0"/>
              <a:t>Compilation of variables that could indicate depression for each set, , positive for any = yes for DI</a:t>
            </a:r>
          </a:p>
          <a:p>
            <a:pPr marL="1414145" lvl="2" indent="-426085"/>
            <a:r>
              <a:rPr lang="en-US" sz="4800" dirty="0"/>
              <a:t>NHANES</a:t>
            </a:r>
          </a:p>
          <a:p>
            <a:pPr marL="1871345" lvl="3" indent="-426085"/>
            <a:r>
              <a:rPr lang="en-US" sz="4800" dirty="0"/>
              <a:t>PHQSCR: PHQ Total&gt;10-- (indicative of depression)</a:t>
            </a:r>
          </a:p>
          <a:p>
            <a:pPr marL="1871345" lvl="3" indent="-426085"/>
            <a:r>
              <a:rPr lang="en-US" sz="4800" dirty="0"/>
              <a:t>DLQ140: Feelings of depression-- &gt;=Monthly,</a:t>
            </a:r>
          </a:p>
          <a:p>
            <a:pPr marL="1871345" lvl="3" indent="-426085"/>
            <a:r>
              <a:rPr lang="en-US" sz="4800" dirty="0"/>
              <a:t>DLQ150: Medications for depression-- Yes </a:t>
            </a:r>
          </a:p>
          <a:p>
            <a:pPr marL="1871345" lvl="3" indent="-426085"/>
            <a:r>
              <a:rPr lang="en-US" sz="4800" dirty="0"/>
              <a:t>DLQ170: Depression Level-- A lot, A little or In between a lot and a little</a:t>
            </a:r>
          </a:p>
          <a:p>
            <a:pPr marL="1414145" lvl="2" indent="-426085"/>
            <a:r>
              <a:rPr lang="en-US" sz="4800" dirty="0"/>
              <a:t>NAMCS</a:t>
            </a:r>
          </a:p>
          <a:p>
            <a:pPr marL="1871345" lvl="3" indent="-426085"/>
            <a:r>
              <a:rPr lang="en-US" sz="4800" dirty="0"/>
              <a:t>DEPRN-- depression chronic disease</a:t>
            </a:r>
          </a:p>
          <a:p>
            <a:pPr marL="1871345" lvl="3" indent="-426085"/>
            <a:r>
              <a:rPr lang="en-US" sz="4800" dirty="0"/>
              <a:t>DEPRESS-- depression screen</a:t>
            </a:r>
          </a:p>
          <a:p>
            <a:pPr marL="1871345" lvl="3" indent="-426085"/>
            <a:r>
              <a:rPr lang="en-US" sz="4800" dirty="0"/>
              <a:t>MENTAL-- mental health counseling referral</a:t>
            </a:r>
          </a:p>
          <a:p>
            <a:pPr marL="1871345" lvl="3" indent="-426085"/>
            <a:r>
              <a:rPr lang="en-US" sz="4800" dirty="0"/>
              <a:t>PSYCHOTH—psychotherapist referral</a:t>
            </a:r>
          </a:p>
          <a:p>
            <a:pPr marL="1871345" lvl="3" indent="-426085"/>
            <a:r>
              <a:rPr lang="en-US" sz="4800" dirty="0"/>
              <a:t>DIAG 1-5 any code with F-code (Diagnosis code) for depression</a:t>
            </a:r>
          </a:p>
        </p:txBody>
      </p:sp>
    </p:spTree>
    <p:extLst>
      <p:ext uri="{BB962C8B-B14F-4D97-AF65-F5344CB8AC3E}">
        <p14:creationId xmlns:p14="http://schemas.microsoft.com/office/powerpoint/2010/main" val="235637637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0CC90C-CD02-CF7F-A2D4-0DF21D8F87CA}"/>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Data Description</a:t>
            </a:r>
          </a:p>
        </p:txBody>
      </p:sp>
      <p:sp>
        <p:nvSpPr>
          <p:cNvPr id="6" name="Text Placeholder 5">
            <a:extLst>
              <a:ext uri="{FF2B5EF4-FFF2-40B4-BE49-F238E27FC236}">
                <a16:creationId xmlns:a16="http://schemas.microsoft.com/office/drawing/2014/main" id="{B55441DE-BEDF-8193-0941-BE36E75505CB}"/>
              </a:ext>
            </a:extLst>
          </p:cNvPr>
          <p:cNvSpPr>
            <a:spLocks noGrp="1"/>
          </p:cNvSpPr>
          <p:nvPr>
            <p:ph type="body" idx="1"/>
          </p:nvPr>
        </p:nvSpPr>
        <p:spPr/>
        <p:txBody>
          <a:bodyPr lIns="45719" tIns="45720" rIns="45719" bIns="45720" anchor="t">
            <a:normAutofit lnSpcReduction="10000"/>
          </a:bodyPr>
          <a:lstStyle/>
          <a:p>
            <a:pPr marL="0" indent="0">
              <a:buNone/>
            </a:pPr>
            <a:r>
              <a:rPr lang="en-US" dirty="0"/>
              <a:t>	</a:t>
            </a:r>
          </a:p>
          <a:p>
            <a:pPr marL="383540" indent="-383540"/>
            <a:endParaRPr lang="en-US" dirty="0"/>
          </a:p>
          <a:p>
            <a:pPr marL="383540" indent="-383540"/>
            <a:r>
              <a:rPr lang="en-US" dirty="0"/>
              <a:t>variables after data extraction, cleaning</a:t>
            </a:r>
          </a:p>
          <a:p>
            <a:pPr lvl="1" indent="-383540"/>
            <a:r>
              <a:rPr lang="en-US" dirty="0"/>
              <a:t>NHANES-47</a:t>
            </a:r>
          </a:p>
          <a:p>
            <a:pPr lvl="1" indent="-383540"/>
            <a:r>
              <a:rPr lang="en-US" dirty="0"/>
              <a:t>NAMCS-39</a:t>
            </a:r>
          </a:p>
          <a:p>
            <a:pPr lvl="1" indent="-383540"/>
            <a:endParaRPr lang="en-US" dirty="0"/>
          </a:p>
          <a:p>
            <a:pPr marL="383540" indent="-383540"/>
            <a:r>
              <a:rPr lang="en-US" dirty="0">
                <a:solidFill>
                  <a:srgbClr val="FF0000"/>
                </a:solidFill>
              </a:rPr>
              <a:t>Variables after engineering</a:t>
            </a:r>
          </a:p>
          <a:p>
            <a:pPr lvl="1" indent="-383540"/>
            <a:r>
              <a:rPr lang="en-US" dirty="0">
                <a:solidFill>
                  <a:srgbClr val="FF0000"/>
                </a:solidFill>
              </a:rPr>
              <a:t>NHANES-29</a:t>
            </a:r>
          </a:p>
          <a:p>
            <a:pPr lvl="1" indent="-383540"/>
            <a:r>
              <a:rPr lang="en-US" dirty="0">
                <a:solidFill>
                  <a:srgbClr val="FF0000"/>
                </a:solidFill>
              </a:rPr>
              <a:t>NAMCS-35</a:t>
            </a:r>
            <a:endParaRPr lang="en-US" dirty="0"/>
          </a:p>
          <a:p>
            <a:pPr lvl="1" indent="-383540"/>
            <a:endParaRPr lang="en-US" dirty="0"/>
          </a:p>
        </p:txBody>
      </p:sp>
    </p:spTree>
    <p:extLst>
      <p:ext uri="{BB962C8B-B14F-4D97-AF65-F5344CB8AC3E}">
        <p14:creationId xmlns:p14="http://schemas.microsoft.com/office/powerpoint/2010/main" val="193730062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2392-A23B-118A-F336-BFBA5AC40E3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 of NHANES</a:t>
            </a:r>
          </a:p>
        </p:txBody>
      </p:sp>
      <p:pic>
        <p:nvPicPr>
          <p:cNvPr id="10" name="Picture 9">
            <a:extLst>
              <a:ext uri="{FF2B5EF4-FFF2-40B4-BE49-F238E27FC236}">
                <a16:creationId xmlns:a16="http://schemas.microsoft.com/office/drawing/2014/main" id="{2F516CB7-6574-EC65-2B41-A90B5DD90B7C}"/>
              </a:ext>
            </a:extLst>
          </p:cNvPr>
          <p:cNvPicPr>
            <a:picLocks noChangeAspect="1"/>
          </p:cNvPicPr>
          <p:nvPr/>
        </p:nvPicPr>
        <p:blipFill rotWithShape="1">
          <a:blip r:embed="rId2">
            <a:extLst>
              <a:ext uri="{28A0092B-C50C-407E-A947-70E740481C1C}">
                <a14:useLocalDpi xmlns:a14="http://schemas.microsoft.com/office/drawing/2010/main" val="0"/>
              </a:ext>
            </a:extLst>
          </a:blip>
          <a:srcRect l="15077" t="28927" r="23144" b="34157"/>
          <a:stretch/>
        </p:blipFill>
        <p:spPr>
          <a:xfrm>
            <a:off x="1371600" y="1555423"/>
            <a:ext cx="7395328" cy="25316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325BCEBB-09CF-ED5E-DFC7-C131AA41BDDF}"/>
              </a:ext>
            </a:extLst>
          </p:cNvPr>
          <p:cNvPicPr>
            <a:picLocks noChangeAspect="1"/>
          </p:cNvPicPr>
          <p:nvPr/>
        </p:nvPicPr>
        <p:blipFill rotWithShape="1">
          <a:blip r:embed="rId3">
            <a:extLst>
              <a:ext uri="{28A0092B-C50C-407E-A947-70E740481C1C}">
                <a14:useLocalDpi xmlns:a14="http://schemas.microsoft.com/office/drawing/2010/main" val="0"/>
              </a:ext>
            </a:extLst>
          </a:blip>
          <a:srcRect l="20335" t="49034" r="14175" b="24027"/>
          <a:stretch/>
        </p:blipFill>
        <p:spPr>
          <a:xfrm>
            <a:off x="1371600" y="4204355"/>
            <a:ext cx="9601200" cy="22247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3027656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13A1-5954-75F7-9EF1-430D867B344A}"/>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 of NAMCS</a:t>
            </a:r>
          </a:p>
        </p:txBody>
      </p:sp>
      <p:pic>
        <p:nvPicPr>
          <p:cNvPr id="5" name="Picture 4">
            <a:extLst>
              <a:ext uri="{FF2B5EF4-FFF2-40B4-BE49-F238E27FC236}">
                <a16:creationId xmlns:a16="http://schemas.microsoft.com/office/drawing/2014/main" id="{3DE7C022-648D-C2B1-EB40-942BFE433288}"/>
              </a:ext>
            </a:extLst>
          </p:cNvPr>
          <p:cNvPicPr>
            <a:picLocks noChangeAspect="1"/>
          </p:cNvPicPr>
          <p:nvPr/>
        </p:nvPicPr>
        <p:blipFill rotWithShape="1">
          <a:blip r:embed="rId2">
            <a:extLst>
              <a:ext uri="{28A0092B-C50C-407E-A947-70E740481C1C}">
                <a14:useLocalDpi xmlns:a14="http://schemas.microsoft.com/office/drawing/2010/main" val="0"/>
              </a:ext>
            </a:extLst>
          </a:blip>
          <a:srcRect l="15232" t="29003" r="23106" b="34570"/>
          <a:stretch/>
        </p:blipFill>
        <p:spPr>
          <a:xfrm>
            <a:off x="1371600" y="1602557"/>
            <a:ext cx="7517876" cy="2498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1D6622CF-095F-08BC-30B7-E81D250EBF13}"/>
              </a:ext>
            </a:extLst>
          </p:cNvPr>
          <p:cNvPicPr>
            <a:picLocks noChangeAspect="1"/>
          </p:cNvPicPr>
          <p:nvPr/>
        </p:nvPicPr>
        <p:blipFill rotWithShape="1">
          <a:blip r:embed="rId3">
            <a:extLst>
              <a:ext uri="{28A0092B-C50C-407E-A947-70E740481C1C}">
                <a14:useLocalDpi xmlns:a14="http://schemas.microsoft.com/office/drawing/2010/main" val="0"/>
              </a:ext>
            </a:extLst>
          </a:blip>
          <a:srcRect l="20026" t="38351" r="15335" b="34983"/>
          <a:stretch/>
        </p:blipFill>
        <p:spPr>
          <a:xfrm>
            <a:off x="1371600" y="4217905"/>
            <a:ext cx="9650993" cy="22771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2292194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7148-05CA-2149-3A1A-F07A3FD8AD0D}"/>
              </a:ext>
            </a:extLst>
          </p:cNvPr>
          <p:cNvSpPr>
            <a:spLocks noGrp="1"/>
          </p:cNvSpPr>
          <p:nvPr>
            <p:ph type="title"/>
          </p:nvPr>
        </p:nvSpPr>
        <p:spPr>
          <a:xfrm>
            <a:off x="1126503" y="0"/>
            <a:ext cx="9601200" cy="1485900"/>
          </a:xfrm>
        </p:spPr>
        <p:txBody>
          <a:bodyPr/>
          <a:lstStyle/>
          <a:p>
            <a:r>
              <a:rPr lang="en-US" dirty="0"/>
              <a:t>Descriptive Statistics</a:t>
            </a:r>
          </a:p>
        </p:txBody>
      </p:sp>
      <p:sp>
        <p:nvSpPr>
          <p:cNvPr id="3" name="Text Placeholder 2">
            <a:extLst>
              <a:ext uri="{FF2B5EF4-FFF2-40B4-BE49-F238E27FC236}">
                <a16:creationId xmlns:a16="http://schemas.microsoft.com/office/drawing/2014/main" id="{28B97040-2D58-31DC-0B18-58E6EB7F055A}"/>
              </a:ext>
            </a:extLst>
          </p:cNvPr>
          <p:cNvSpPr>
            <a:spLocks noGrp="1"/>
          </p:cNvSpPr>
          <p:nvPr>
            <p:ph type="body" idx="1"/>
          </p:nvPr>
        </p:nvSpPr>
        <p:spPr>
          <a:xfrm>
            <a:off x="1126503" y="676274"/>
            <a:ext cx="10779550" cy="1982085"/>
          </a:xfrm>
        </p:spPr>
        <p:txBody>
          <a:bodyPr>
            <a:normAutofit/>
          </a:bodyPr>
          <a:lstStyle/>
          <a:p>
            <a:pPr marL="0" indent="0">
              <a:buNone/>
            </a:pP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Normality Test using Python</a:t>
            </a:r>
          </a:p>
          <a:p>
            <a:r>
              <a:rPr lang="en-US" sz="1800" dirty="0">
                <a:effectLst/>
                <a:latin typeface="Times New Roman" panose="02020603050405020304" pitchFamily="18" charset="0"/>
                <a:ea typeface="Calibri" panose="020F0502020204030204" pitchFamily="34" charset="0"/>
                <a:cs typeface="Gautami" panose="020B0502040204020203" pitchFamily="34" charset="0"/>
              </a:rPr>
              <a:t>Measures of central tendency with variance &amp; range (each variable)</a:t>
            </a:r>
          </a:p>
          <a:p>
            <a:pPr lvl="1"/>
            <a:r>
              <a:rPr lang="en-US" sz="1800" dirty="0">
                <a:effectLst/>
                <a:latin typeface="Times New Roman" panose="02020603050405020304" pitchFamily="18" charset="0"/>
                <a:ea typeface="Calibri" panose="020F0502020204030204" pitchFamily="34" charset="0"/>
                <a:cs typeface="Gautami" panose="020B0502040204020203" pitchFamily="34" charset="0"/>
              </a:rPr>
              <a:t>Skewness and Kurtosis wa</a:t>
            </a:r>
            <a:r>
              <a:rPr lang="en-US" sz="1800" dirty="0">
                <a:latin typeface="Times New Roman" panose="02020603050405020304" pitchFamily="18" charset="0"/>
                <a:ea typeface="Calibri" panose="020F0502020204030204" pitchFamily="34" charset="0"/>
                <a:cs typeface="Gautami" panose="020B0502040204020203" pitchFamily="34" charset="0"/>
              </a:rPr>
              <a:t>s analyzed. </a:t>
            </a:r>
            <a:r>
              <a:rPr lang="en-US" sz="1800" dirty="0">
                <a:effectLst/>
                <a:latin typeface="Times New Roman" panose="02020603050405020304" pitchFamily="18" charset="0"/>
                <a:ea typeface="Calibri" panose="020F0502020204030204" pitchFamily="34" charset="0"/>
                <a:cs typeface="Gautami" panose="020B0502040204020203" pitchFamily="34" charset="0"/>
              </a:rPr>
              <a:t>(see appendix slide 33)</a:t>
            </a:r>
          </a:p>
          <a:p>
            <a:pPr lvl="1"/>
            <a:r>
              <a:rPr lang="en-US" sz="1800" dirty="0">
                <a:effectLst/>
                <a:latin typeface="Times New Roman" panose="02020603050405020304" pitchFamily="18" charset="0"/>
                <a:ea typeface="Calibri" panose="020F0502020204030204" pitchFamily="34" charset="0"/>
                <a:cs typeface="Gautami" panose="020B0502040204020203" pitchFamily="34" charset="0"/>
              </a:rPr>
              <a:t>According to Hair et al. (2010) and </a:t>
            </a:r>
            <a:r>
              <a:rPr lang="en-US" sz="1800" dirty="0" err="1">
                <a:effectLst/>
                <a:latin typeface="Times New Roman" panose="02020603050405020304" pitchFamily="18" charset="0"/>
                <a:ea typeface="Calibri" panose="020F0502020204030204" pitchFamily="34" charset="0"/>
                <a:cs typeface="Gautami" panose="020B0502040204020203" pitchFamily="34" charset="0"/>
              </a:rPr>
              <a:t>Bryne</a:t>
            </a:r>
            <a:r>
              <a:rPr lang="en-US" sz="1800" dirty="0">
                <a:effectLst/>
                <a:latin typeface="Times New Roman" panose="02020603050405020304" pitchFamily="18" charset="0"/>
                <a:ea typeface="Calibri" panose="020F0502020204030204" pitchFamily="34" charset="0"/>
                <a:cs typeface="Gautami" panose="020B0502040204020203" pitchFamily="34" charset="0"/>
              </a:rPr>
              <a:t> (2010), data is deemed normal if the skewness is between 2 and +2 and the kurtosis is between 7 and +7.</a:t>
            </a:r>
          </a:p>
          <a:p>
            <a:pPr lvl="1"/>
            <a:endParaRPr lang="en-US" sz="1800" dirty="0">
              <a:latin typeface="Times New Roman" panose="02020603050405020304" pitchFamily="18" charset="0"/>
              <a:ea typeface="Calibri" panose="020F0502020204030204" pitchFamily="34" charset="0"/>
              <a:cs typeface="Gautami" panose="020B0502040204020203" pitchFamily="34" charset="0"/>
            </a:endParaRPr>
          </a:p>
          <a:p>
            <a:pPr marL="530353" lvl="1" indent="0">
              <a:buNone/>
            </a:pPr>
            <a:endParaRPr lang="en-US" sz="1800" dirty="0">
              <a:effectLst/>
              <a:latin typeface="Times New Roman" panose="02020603050405020304" pitchFamily="18" charset="0"/>
              <a:ea typeface="Calibri" panose="020F0502020204030204" pitchFamily="34" charset="0"/>
              <a:cs typeface="Gautami" panose="020B0502040204020203" pitchFamily="34" charset="0"/>
            </a:endParaRPr>
          </a:p>
          <a:p>
            <a:pPr lvl="1"/>
            <a:endParaRPr lang="en-US" sz="1800" dirty="0">
              <a:effectLst/>
              <a:latin typeface="Times New Roman" panose="02020603050405020304" pitchFamily="18" charset="0"/>
              <a:ea typeface="Calibri" panose="020F0502020204030204" pitchFamily="34" charset="0"/>
              <a:cs typeface="Gautami" panose="020B0502040204020203" pitchFamily="34" charset="0"/>
            </a:endParaRPr>
          </a:p>
        </p:txBody>
      </p:sp>
      <p:pic>
        <p:nvPicPr>
          <p:cNvPr id="9" name="Picture 8">
            <a:extLst>
              <a:ext uri="{FF2B5EF4-FFF2-40B4-BE49-F238E27FC236}">
                <a16:creationId xmlns:a16="http://schemas.microsoft.com/office/drawing/2014/main" id="{FF141BDC-40BB-69B4-CA77-86C7CF1D5DD3}"/>
              </a:ext>
            </a:extLst>
          </p:cNvPr>
          <p:cNvPicPr>
            <a:picLocks noChangeAspect="1"/>
          </p:cNvPicPr>
          <p:nvPr/>
        </p:nvPicPr>
        <p:blipFill>
          <a:blip r:embed="rId2"/>
          <a:stretch>
            <a:fillRect/>
          </a:stretch>
        </p:blipFill>
        <p:spPr>
          <a:xfrm>
            <a:off x="1126503" y="2510112"/>
            <a:ext cx="10440186" cy="41214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206896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D112-8F11-4E9D-0C91-379D39C7B7C7}"/>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Descriptive Statistics</a:t>
            </a:r>
          </a:p>
        </p:txBody>
      </p:sp>
      <p:pic>
        <p:nvPicPr>
          <p:cNvPr id="13" name="Picture 12">
            <a:extLst>
              <a:ext uri="{FF2B5EF4-FFF2-40B4-BE49-F238E27FC236}">
                <a16:creationId xmlns:a16="http://schemas.microsoft.com/office/drawing/2014/main" id="{F3F965CB-5B06-F7CE-FF98-7721CF03DE0D}"/>
              </a:ext>
            </a:extLst>
          </p:cNvPr>
          <p:cNvPicPr>
            <a:picLocks noChangeAspect="1"/>
          </p:cNvPicPr>
          <p:nvPr/>
        </p:nvPicPr>
        <p:blipFill rotWithShape="1">
          <a:blip r:embed="rId2">
            <a:extLst>
              <a:ext uri="{28A0092B-C50C-407E-A947-70E740481C1C}">
                <a14:useLocalDpi xmlns:a14="http://schemas.microsoft.com/office/drawing/2010/main" val="0"/>
              </a:ext>
            </a:extLst>
          </a:blip>
          <a:srcRect l="19948" t="24468" r="50748" b="34433"/>
          <a:stretch/>
        </p:blipFill>
        <p:spPr>
          <a:xfrm>
            <a:off x="6660037" y="1582524"/>
            <a:ext cx="4953787" cy="47982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AEA4750F-4F30-7A58-4F52-689FEE67E722}"/>
              </a:ext>
            </a:extLst>
          </p:cNvPr>
          <p:cNvPicPr>
            <a:picLocks noChangeAspect="1"/>
          </p:cNvPicPr>
          <p:nvPr/>
        </p:nvPicPr>
        <p:blipFill rotWithShape="1">
          <a:blip r:embed="rId3">
            <a:extLst>
              <a:ext uri="{28A0092B-C50C-407E-A947-70E740481C1C}">
                <a14:useLocalDpi xmlns:a14="http://schemas.microsoft.com/office/drawing/2010/main" val="0"/>
              </a:ext>
            </a:extLst>
          </a:blip>
          <a:srcRect l="19562" t="35051" r="50026" b="11478"/>
          <a:stretch/>
        </p:blipFill>
        <p:spPr>
          <a:xfrm>
            <a:off x="1435231" y="1582524"/>
            <a:ext cx="5069264" cy="47982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219284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7D96-6A52-E77F-0960-7AAA0936507C}"/>
              </a:ext>
            </a:extLst>
          </p:cNvPr>
          <p:cNvSpPr>
            <a:spLocks noGrp="1"/>
          </p:cNvSpPr>
          <p:nvPr>
            <p:ph type="title"/>
          </p:nvPr>
        </p:nvSpPr>
        <p:spPr>
          <a:xfrm>
            <a:off x="1371600" y="400641"/>
            <a:ext cx="9601200" cy="1485900"/>
          </a:xfrm>
        </p:spPr>
        <p:txBody>
          <a:bodyPr/>
          <a:lstStyle/>
          <a:p>
            <a:r>
              <a:rPr lang="en-US">
                <a:latin typeface="Times New Roman" panose="02020603050405020304" pitchFamily="18" charset="0"/>
                <a:cs typeface="Times New Roman" panose="02020603050405020304" pitchFamily="18" charset="0"/>
              </a:rPr>
              <a:t>Data Analysis</a:t>
            </a:r>
          </a:p>
        </p:txBody>
      </p:sp>
      <p:sp>
        <p:nvSpPr>
          <p:cNvPr id="3" name="Text Placeholder 2">
            <a:extLst>
              <a:ext uri="{FF2B5EF4-FFF2-40B4-BE49-F238E27FC236}">
                <a16:creationId xmlns:a16="http://schemas.microsoft.com/office/drawing/2014/main" id="{1923A808-2646-D0CA-AD3E-0CAC42E927E9}"/>
              </a:ext>
            </a:extLst>
          </p:cNvPr>
          <p:cNvSpPr>
            <a:spLocks noGrp="1"/>
          </p:cNvSpPr>
          <p:nvPr>
            <p:ph type="body" idx="1"/>
          </p:nvPr>
        </p:nvSpPr>
        <p:spPr>
          <a:xfrm>
            <a:off x="1371600" y="1366886"/>
            <a:ext cx="9601200" cy="5090473"/>
          </a:xfrm>
        </p:spPr>
        <p:txBody>
          <a:bodyPr>
            <a:normAutofit fontScale="92500" lnSpcReduction="20000"/>
          </a:bodyPr>
          <a:lstStyle/>
          <a:p>
            <a:r>
              <a:rPr lang="en-US" dirty="0"/>
              <a:t>Following the descriptive statistics, visualizations were utilized to present data across groups and to determine the influence of the depression indicator on distinct groups.</a:t>
            </a:r>
          </a:p>
          <a:p>
            <a:r>
              <a:rPr lang="en-US" dirty="0"/>
              <a:t>A stacked bar was used to visualize the relationship between</a:t>
            </a:r>
          </a:p>
          <a:p>
            <a:pPr marL="0" indent="0">
              <a:buNone/>
            </a:pPr>
            <a:r>
              <a:rPr lang="en-US" dirty="0"/>
              <a:t>          1. Depression Indicator vs. Age</a:t>
            </a:r>
          </a:p>
          <a:p>
            <a:pPr marL="0" indent="0">
              <a:buNone/>
            </a:pPr>
            <a:r>
              <a:rPr lang="en-US" dirty="0"/>
              <a:t>          2. Depression Indicator vs. Relation to Race</a:t>
            </a:r>
          </a:p>
          <a:p>
            <a:pPr marL="0" indent="0">
              <a:buNone/>
            </a:pPr>
            <a:r>
              <a:rPr lang="en-US" dirty="0"/>
              <a:t>          3. Depression Indicator vs. Gender</a:t>
            </a:r>
          </a:p>
          <a:p>
            <a:pPr marL="0" indent="0">
              <a:buNone/>
            </a:pPr>
            <a:r>
              <a:rPr lang="en-US" dirty="0"/>
              <a:t>          4. Depression Indicator vs. Education</a:t>
            </a:r>
          </a:p>
          <a:p>
            <a:pPr marL="0" indent="0">
              <a:buNone/>
            </a:pPr>
            <a:r>
              <a:rPr lang="en-US" dirty="0"/>
              <a:t>          5. Depression Indicator vs. Insurance Types</a:t>
            </a:r>
          </a:p>
          <a:p>
            <a:pPr marL="0" indent="0">
              <a:buNone/>
            </a:pPr>
            <a:r>
              <a:rPr lang="en-US" dirty="0"/>
              <a:t>          6. Depression Indicator vs. Types of Providers</a:t>
            </a:r>
          </a:p>
          <a:p>
            <a:pPr marL="0" indent="0">
              <a:buNone/>
            </a:pPr>
            <a:r>
              <a:rPr lang="en-US" dirty="0"/>
              <a:t>          7. Depression Indicator vs. relation to co-morbid conditions</a:t>
            </a:r>
          </a:p>
          <a:p>
            <a:r>
              <a:rPr lang="en-US" dirty="0"/>
              <a:t>The pie chart was used to visualize the percentages of gender, depression, and education.</a:t>
            </a:r>
          </a:p>
          <a:p>
            <a:r>
              <a:rPr lang="en-US" dirty="0"/>
              <a:t>Histograms of Age, income, education, and gender were plotted to determine each distribution. </a:t>
            </a:r>
          </a:p>
          <a:p>
            <a:r>
              <a:rPr lang="en-US" dirty="0"/>
              <a:t>A heatmap was created to view and illustrate the correlations between variables in both datasets.</a:t>
            </a:r>
          </a:p>
        </p:txBody>
      </p:sp>
    </p:spTree>
    <p:extLst>
      <p:ext uri="{BB962C8B-B14F-4D97-AF65-F5344CB8AC3E}">
        <p14:creationId xmlns:p14="http://schemas.microsoft.com/office/powerpoint/2010/main" val="10439042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pie chart&#10;&#10;Description automatically generated">
            <a:extLst>
              <a:ext uri="{FF2B5EF4-FFF2-40B4-BE49-F238E27FC236}">
                <a16:creationId xmlns:a16="http://schemas.microsoft.com/office/drawing/2014/main" id="{DB44307E-A1D2-4D0C-B3E2-2B2D9EB18FC1}"/>
              </a:ext>
            </a:extLst>
          </p:cNvPr>
          <p:cNvPicPr>
            <a:picLocks noChangeAspect="1"/>
          </p:cNvPicPr>
          <p:nvPr/>
        </p:nvPicPr>
        <p:blipFill>
          <a:blip r:embed="rId2"/>
          <a:stretch>
            <a:fillRect/>
          </a:stretch>
        </p:blipFill>
        <p:spPr>
          <a:xfrm>
            <a:off x="1676401" y="577743"/>
            <a:ext cx="4340942" cy="45103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Chart, pie chart&#10;&#10;Description automatically generated">
            <a:extLst>
              <a:ext uri="{FF2B5EF4-FFF2-40B4-BE49-F238E27FC236}">
                <a16:creationId xmlns:a16="http://schemas.microsoft.com/office/drawing/2014/main" id="{CA6FCE36-452C-0226-2993-D76469179CA3}"/>
              </a:ext>
            </a:extLst>
          </p:cNvPr>
          <p:cNvPicPr>
            <a:picLocks noChangeAspect="1"/>
          </p:cNvPicPr>
          <p:nvPr/>
        </p:nvPicPr>
        <p:blipFill>
          <a:blip r:embed="rId3"/>
          <a:stretch>
            <a:fillRect/>
          </a:stretch>
        </p:blipFill>
        <p:spPr>
          <a:xfrm>
            <a:off x="6887497" y="577741"/>
            <a:ext cx="4340942" cy="45103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1C36934A-7277-8964-1B20-8CA2CE2DA005}"/>
              </a:ext>
            </a:extLst>
          </p:cNvPr>
          <p:cNvSpPr txBox="1"/>
          <p:nvPr/>
        </p:nvSpPr>
        <p:spPr>
          <a:xfrm>
            <a:off x="7393674" y="5312491"/>
            <a:ext cx="4340942"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Depression Indicator in NHANES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8" name="TextBox 7">
            <a:extLst>
              <a:ext uri="{FF2B5EF4-FFF2-40B4-BE49-F238E27FC236}">
                <a16:creationId xmlns:a16="http://schemas.microsoft.com/office/drawing/2014/main" id="{5E2DE874-DF2B-A8F9-4897-99FB2234DEC5}"/>
              </a:ext>
            </a:extLst>
          </p:cNvPr>
          <p:cNvSpPr txBox="1"/>
          <p:nvPr/>
        </p:nvSpPr>
        <p:spPr>
          <a:xfrm>
            <a:off x="2811411" y="5312491"/>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Gender in NHANES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2" name="TextBox 1">
            <a:extLst>
              <a:ext uri="{FF2B5EF4-FFF2-40B4-BE49-F238E27FC236}">
                <a16:creationId xmlns:a16="http://schemas.microsoft.com/office/drawing/2014/main" id="{B91C1D85-4277-08C6-1A3E-2C30F8E7FD3A}"/>
              </a:ext>
            </a:extLst>
          </p:cNvPr>
          <p:cNvSpPr txBox="1"/>
          <p:nvPr/>
        </p:nvSpPr>
        <p:spPr>
          <a:xfrm>
            <a:off x="1028042" y="5741275"/>
            <a:ext cx="5452241"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r>
              <a:rPr lang="en-US">
                <a:latin typeface="Times New Roman" panose="02020603050405020304" pitchFamily="18" charset="0"/>
                <a:cs typeface="Times New Roman" panose="02020603050405020304" pitchFamily="18" charset="0"/>
              </a:rPr>
              <a:t>The gender distribution was found to be 59.4% for Females and 40.6% for Males in NHANES.</a:t>
            </a:r>
          </a:p>
        </p:txBody>
      </p:sp>
      <p:sp>
        <p:nvSpPr>
          <p:cNvPr id="3" name="TextBox 2">
            <a:extLst>
              <a:ext uri="{FF2B5EF4-FFF2-40B4-BE49-F238E27FC236}">
                <a16:creationId xmlns:a16="http://schemas.microsoft.com/office/drawing/2014/main" id="{E50679BB-3A20-9BCC-FF6F-A2CA088A5C64}"/>
              </a:ext>
            </a:extLst>
          </p:cNvPr>
          <p:cNvSpPr txBox="1"/>
          <p:nvPr/>
        </p:nvSpPr>
        <p:spPr>
          <a:xfrm>
            <a:off x="6884277" y="5672301"/>
            <a:ext cx="4972705"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The Depression Indicator in NHANES showed a total of 24.5% had depression and 75.5% had no depression.</a:t>
            </a:r>
            <a:endParaRPr lang="en-US" sz="180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94503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id="{3C09D7C6-E784-FC08-6C48-405B4DD7A953}"/>
              </a:ext>
            </a:extLst>
          </p:cNvPr>
          <p:cNvPicPr>
            <a:picLocks noChangeAspect="1"/>
          </p:cNvPicPr>
          <p:nvPr/>
        </p:nvPicPr>
        <p:blipFill>
          <a:blip r:embed="rId2"/>
          <a:stretch>
            <a:fillRect/>
          </a:stretch>
        </p:blipFill>
        <p:spPr>
          <a:xfrm>
            <a:off x="6285695" y="445840"/>
            <a:ext cx="5496232" cy="39837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Chart, pie chart&#10;&#10;Description automatically generated">
            <a:extLst>
              <a:ext uri="{FF2B5EF4-FFF2-40B4-BE49-F238E27FC236}">
                <a16:creationId xmlns:a16="http://schemas.microsoft.com/office/drawing/2014/main" id="{A21B281A-2887-9FD6-4152-F21E696FFD08}"/>
              </a:ext>
            </a:extLst>
          </p:cNvPr>
          <p:cNvPicPr>
            <a:picLocks noChangeAspect="1"/>
          </p:cNvPicPr>
          <p:nvPr/>
        </p:nvPicPr>
        <p:blipFill rotWithShape="1">
          <a:blip r:embed="rId3"/>
          <a:srcRect t="-844" b="-335"/>
          <a:stretch/>
        </p:blipFill>
        <p:spPr>
          <a:xfrm>
            <a:off x="1399233" y="450842"/>
            <a:ext cx="4193479" cy="39758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9AED9EED-BE11-FF7E-BCB5-D3A528722563}"/>
              </a:ext>
            </a:extLst>
          </p:cNvPr>
          <p:cNvSpPr txBox="1"/>
          <p:nvPr/>
        </p:nvSpPr>
        <p:spPr>
          <a:xfrm>
            <a:off x="2837475" y="469892"/>
            <a:ext cx="1477910" cy="276997"/>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marL="0" marR="0" indent="0" algn="l" defTabSz="457200">
              <a:lnSpc>
                <a:spcPct val="100000"/>
              </a:lnSpc>
              <a:spcBef>
                <a:spcPts val="0"/>
              </a:spcBef>
              <a:spcAft>
                <a:spcPts val="0"/>
              </a:spcAft>
              <a:buNone/>
              <a:tabLst/>
            </a:pPr>
            <a:r>
              <a:rPr lang="en-US" sz="1200">
                <a:latin typeface="Calibri"/>
              </a:rPr>
              <a:t>EDUCATION</a:t>
            </a:r>
          </a:p>
        </p:txBody>
      </p:sp>
      <p:sp>
        <p:nvSpPr>
          <p:cNvPr id="9" name="TextBox 8">
            <a:extLst>
              <a:ext uri="{FF2B5EF4-FFF2-40B4-BE49-F238E27FC236}">
                <a16:creationId xmlns:a16="http://schemas.microsoft.com/office/drawing/2014/main" id="{844494DF-9656-1E6F-493C-EF7E54D4C5DE}"/>
              </a:ext>
            </a:extLst>
          </p:cNvPr>
          <p:cNvSpPr txBox="1"/>
          <p:nvPr/>
        </p:nvSpPr>
        <p:spPr>
          <a:xfrm>
            <a:off x="7346540" y="4576768"/>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Education Histogram in NHANES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10" name="TextBox 9">
            <a:extLst>
              <a:ext uri="{FF2B5EF4-FFF2-40B4-BE49-F238E27FC236}">
                <a16:creationId xmlns:a16="http://schemas.microsoft.com/office/drawing/2014/main" id="{218B4BDB-C79C-7D73-5CCA-A52173FEB085}"/>
              </a:ext>
            </a:extLst>
          </p:cNvPr>
          <p:cNvSpPr txBox="1"/>
          <p:nvPr/>
        </p:nvSpPr>
        <p:spPr>
          <a:xfrm>
            <a:off x="1815882" y="4572383"/>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Times New Roman"/>
                <a:cs typeface="Times New Roman"/>
              </a:rPr>
              <a:t>Education percentage in NHANES</a:t>
            </a:r>
            <a:endParaRPr kumimoji="0" lang="en-US" sz="1800" b="1" i="0" u="none" strike="noStrike" cap="none" spc="0" normalizeH="0" baseline="0">
              <a:ln>
                <a:noFill/>
              </a:ln>
              <a:solidFill>
                <a:srgbClr val="000000"/>
              </a:solidFill>
              <a:effectLst/>
              <a:uFillTx/>
              <a:latin typeface="Times New Roman"/>
              <a:cs typeface="Times New Roman"/>
              <a:sym typeface="Franklin Gothic Book"/>
            </a:endParaRPr>
          </a:p>
        </p:txBody>
      </p:sp>
      <p:sp>
        <p:nvSpPr>
          <p:cNvPr id="2" name="TextBox 1">
            <a:extLst>
              <a:ext uri="{FF2B5EF4-FFF2-40B4-BE49-F238E27FC236}">
                <a16:creationId xmlns:a16="http://schemas.microsoft.com/office/drawing/2014/main" id="{E92BE944-1C86-FBB8-AEE8-BC43970F6FA4}"/>
              </a:ext>
            </a:extLst>
          </p:cNvPr>
          <p:cNvSpPr txBox="1"/>
          <p:nvPr/>
        </p:nvSpPr>
        <p:spPr>
          <a:xfrm>
            <a:off x="6664215" y="5100802"/>
            <a:ext cx="4746077"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r>
              <a:rPr lang="en-US">
                <a:latin typeface="Times New Roman" panose="02020603050405020304" pitchFamily="18" charset="0"/>
                <a:cs typeface="Times New Roman" panose="02020603050405020304" pitchFamily="18" charset="0"/>
              </a:rPr>
              <a:t>This Histogram shows educational distribution of the sample from patients with no educational background to patients with higher studies.</a:t>
            </a:r>
          </a:p>
        </p:txBody>
      </p:sp>
      <p:sp>
        <p:nvSpPr>
          <p:cNvPr id="3" name="TextBox 2">
            <a:extLst>
              <a:ext uri="{FF2B5EF4-FFF2-40B4-BE49-F238E27FC236}">
                <a16:creationId xmlns:a16="http://schemas.microsoft.com/office/drawing/2014/main" id="{2ED179D7-6257-4AD7-81F3-D4D54F1E8764}"/>
              </a:ext>
            </a:extLst>
          </p:cNvPr>
          <p:cNvSpPr txBox="1"/>
          <p:nvPr/>
        </p:nvSpPr>
        <p:spPr>
          <a:xfrm>
            <a:off x="2545473" y="5682154"/>
            <a:ext cx="377715" cy="656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Franklin Gothic Book"/>
            </a:endParaRPr>
          </a:p>
        </p:txBody>
      </p:sp>
      <p:sp>
        <p:nvSpPr>
          <p:cNvPr id="6" name="TextBox 5">
            <a:extLst>
              <a:ext uri="{FF2B5EF4-FFF2-40B4-BE49-F238E27FC236}">
                <a16:creationId xmlns:a16="http://schemas.microsoft.com/office/drawing/2014/main" id="{8DAC679B-5D9D-A5BD-0ABC-3F580A8146D6}"/>
              </a:ext>
            </a:extLst>
          </p:cNvPr>
          <p:cNvSpPr txBox="1"/>
          <p:nvPr/>
        </p:nvSpPr>
        <p:spPr>
          <a:xfrm>
            <a:off x="1356491" y="5074526"/>
            <a:ext cx="4746077"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r>
              <a:rPr lang="en-US">
                <a:latin typeface="Times New Roman" panose="02020603050405020304" pitchFamily="18" charset="0"/>
                <a:cs typeface="Times New Roman" panose="02020603050405020304" pitchFamily="18" charset="0"/>
              </a:rPr>
              <a:t>This pie chart shows the Distribution of Education background with respect to AGE.</a:t>
            </a:r>
          </a:p>
        </p:txBody>
      </p:sp>
    </p:spTree>
    <p:extLst>
      <p:ext uri="{BB962C8B-B14F-4D97-AF65-F5344CB8AC3E}">
        <p14:creationId xmlns:p14="http://schemas.microsoft.com/office/powerpoint/2010/main" val="49673136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histogram&#10;&#10;Description automatically generated">
            <a:extLst>
              <a:ext uri="{FF2B5EF4-FFF2-40B4-BE49-F238E27FC236}">
                <a16:creationId xmlns:a16="http://schemas.microsoft.com/office/drawing/2014/main" id="{E97CA1CC-28DE-0522-6878-D965F1B118DC}"/>
              </a:ext>
            </a:extLst>
          </p:cNvPr>
          <p:cNvPicPr>
            <a:picLocks noChangeAspect="1"/>
          </p:cNvPicPr>
          <p:nvPr/>
        </p:nvPicPr>
        <p:blipFill>
          <a:blip r:embed="rId2"/>
          <a:stretch>
            <a:fillRect/>
          </a:stretch>
        </p:blipFill>
        <p:spPr>
          <a:xfrm>
            <a:off x="1012723" y="271278"/>
            <a:ext cx="5238135" cy="38450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Chart, histogram&#10;&#10;Description automatically generated">
            <a:extLst>
              <a:ext uri="{FF2B5EF4-FFF2-40B4-BE49-F238E27FC236}">
                <a16:creationId xmlns:a16="http://schemas.microsoft.com/office/drawing/2014/main" id="{18F5653A-61C2-D14C-F48B-3DAB5905F0F5}"/>
              </a:ext>
            </a:extLst>
          </p:cNvPr>
          <p:cNvPicPr>
            <a:picLocks noChangeAspect="1"/>
          </p:cNvPicPr>
          <p:nvPr/>
        </p:nvPicPr>
        <p:blipFill>
          <a:blip r:embed="rId3"/>
          <a:stretch>
            <a:fillRect/>
          </a:stretch>
        </p:blipFill>
        <p:spPr>
          <a:xfrm>
            <a:off x="6415136" y="2706875"/>
            <a:ext cx="5434780" cy="39637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93BEEAF0-A556-36B8-F85B-AF91A543F422}"/>
              </a:ext>
            </a:extLst>
          </p:cNvPr>
          <p:cNvSpPr txBox="1"/>
          <p:nvPr/>
        </p:nvSpPr>
        <p:spPr>
          <a:xfrm>
            <a:off x="2199530" y="4199319"/>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Calibri"/>
              </a:rPr>
              <a:t> </a:t>
            </a:r>
            <a:r>
              <a:rPr lang="en-US" b="1">
                <a:latin typeface="Times New Roman" panose="02020603050405020304" pitchFamily="18" charset="0"/>
                <a:cs typeface="Times New Roman" panose="02020603050405020304" pitchFamily="18" charset="0"/>
              </a:rPr>
              <a:t>AGE Histogram in NHANES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8" name="TextBox 7">
            <a:extLst>
              <a:ext uri="{FF2B5EF4-FFF2-40B4-BE49-F238E27FC236}">
                <a16:creationId xmlns:a16="http://schemas.microsoft.com/office/drawing/2014/main" id="{D0DFF807-7603-A348-7FEE-1DEA7AAA5B79}"/>
              </a:ext>
            </a:extLst>
          </p:cNvPr>
          <p:cNvSpPr txBox="1"/>
          <p:nvPr/>
        </p:nvSpPr>
        <p:spPr>
          <a:xfrm>
            <a:off x="8030616" y="2337545"/>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Calibri"/>
              </a:rPr>
              <a:t> </a:t>
            </a:r>
            <a:r>
              <a:rPr lang="en-US" b="1">
                <a:latin typeface="Times New Roman" panose="02020603050405020304" pitchFamily="18" charset="0"/>
                <a:cs typeface="Times New Roman" panose="02020603050405020304" pitchFamily="18" charset="0"/>
              </a:rPr>
              <a:t>Income in NHANES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6" name="TextBox 5">
            <a:extLst>
              <a:ext uri="{FF2B5EF4-FFF2-40B4-BE49-F238E27FC236}">
                <a16:creationId xmlns:a16="http://schemas.microsoft.com/office/drawing/2014/main" id="{C3CDCCE1-9FFC-6401-73B4-E20CD5F2CD78}"/>
              </a:ext>
            </a:extLst>
          </p:cNvPr>
          <p:cNvSpPr txBox="1"/>
          <p:nvPr/>
        </p:nvSpPr>
        <p:spPr>
          <a:xfrm>
            <a:off x="968922" y="4778922"/>
            <a:ext cx="4992413"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This age distribution NHANES shows that higher patient population were around 80 years of age and the lowest around 70 years.</a:t>
            </a:r>
            <a:endParaRPr lang="en-US" sz="1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93317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histogram&#10;&#10;Description automatically generated">
            <a:extLst>
              <a:ext uri="{FF2B5EF4-FFF2-40B4-BE49-F238E27FC236}">
                <a16:creationId xmlns:a16="http://schemas.microsoft.com/office/drawing/2014/main" id="{0EA72DD9-94CC-B563-396B-835A58014D46}"/>
              </a:ext>
            </a:extLst>
          </p:cNvPr>
          <p:cNvPicPr>
            <a:picLocks noChangeAspect="1"/>
          </p:cNvPicPr>
          <p:nvPr/>
        </p:nvPicPr>
        <p:blipFill>
          <a:blip r:embed="rId2"/>
          <a:stretch>
            <a:fillRect/>
          </a:stretch>
        </p:blipFill>
        <p:spPr>
          <a:xfrm>
            <a:off x="6091392" y="745101"/>
            <a:ext cx="5515281" cy="3991281"/>
          </a:xfrm>
          <a:prstGeom prst="rect">
            <a:avLst/>
          </a:prstGeom>
        </p:spPr>
      </p:pic>
      <p:pic>
        <p:nvPicPr>
          <p:cNvPr id="5" name="Picture 5" descr="Chart, pie chart&#10;&#10;Description automatically generated">
            <a:extLst>
              <a:ext uri="{FF2B5EF4-FFF2-40B4-BE49-F238E27FC236}">
                <a16:creationId xmlns:a16="http://schemas.microsoft.com/office/drawing/2014/main" id="{ADFF4FD6-A6BC-3841-B1D4-1C8087E2DCF2}"/>
              </a:ext>
            </a:extLst>
          </p:cNvPr>
          <p:cNvPicPr>
            <a:picLocks noChangeAspect="1"/>
          </p:cNvPicPr>
          <p:nvPr/>
        </p:nvPicPr>
        <p:blipFill>
          <a:blip r:embed="rId3"/>
          <a:stretch>
            <a:fillRect/>
          </a:stretch>
        </p:blipFill>
        <p:spPr>
          <a:xfrm>
            <a:off x="1416459" y="740491"/>
            <a:ext cx="3745476" cy="3889887"/>
          </a:xfrm>
          <a:prstGeom prst="rect">
            <a:avLst/>
          </a:prstGeom>
        </p:spPr>
      </p:pic>
      <p:sp>
        <p:nvSpPr>
          <p:cNvPr id="7" name="TextBox 6">
            <a:extLst>
              <a:ext uri="{FF2B5EF4-FFF2-40B4-BE49-F238E27FC236}">
                <a16:creationId xmlns:a16="http://schemas.microsoft.com/office/drawing/2014/main" id="{30F26F33-2927-1F48-93F3-41BF9A9F214F}"/>
              </a:ext>
            </a:extLst>
          </p:cNvPr>
          <p:cNvSpPr txBox="1"/>
          <p:nvPr/>
        </p:nvSpPr>
        <p:spPr>
          <a:xfrm>
            <a:off x="7838152" y="4919202"/>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Calibri"/>
              </a:rPr>
              <a:t> </a:t>
            </a:r>
            <a:r>
              <a:rPr lang="en-US" b="1">
                <a:latin typeface="Times New Roman" panose="02020603050405020304" pitchFamily="18" charset="0"/>
                <a:cs typeface="Times New Roman" panose="02020603050405020304" pitchFamily="18" charset="0"/>
              </a:rPr>
              <a:t>AGE Histogram in NAMCS</a:t>
            </a:r>
            <a:endParaRPr kumimoji="0" lang="en-US"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9" name="TextBox 8">
            <a:extLst>
              <a:ext uri="{FF2B5EF4-FFF2-40B4-BE49-F238E27FC236}">
                <a16:creationId xmlns:a16="http://schemas.microsoft.com/office/drawing/2014/main" id="{ED7714DE-8B1C-E5D4-DEF3-472955506F52}"/>
              </a:ext>
            </a:extLst>
          </p:cNvPr>
          <p:cNvSpPr txBox="1"/>
          <p:nvPr/>
        </p:nvSpPr>
        <p:spPr>
          <a:xfrm>
            <a:off x="2352969" y="4919202"/>
            <a:ext cx="36717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GENDER NAMCS</a:t>
            </a:r>
          </a:p>
        </p:txBody>
      </p:sp>
      <p:sp>
        <p:nvSpPr>
          <p:cNvPr id="6" name="TextBox 5">
            <a:extLst>
              <a:ext uri="{FF2B5EF4-FFF2-40B4-BE49-F238E27FC236}">
                <a16:creationId xmlns:a16="http://schemas.microsoft.com/office/drawing/2014/main" id="{6403E77C-0E9A-CE14-E51E-FF173473E0CB}"/>
              </a:ext>
            </a:extLst>
          </p:cNvPr>
          <p:cNvSpPr txBox="1"/>
          <p:nvPr/>
        </p:nvSpPr>
        <p:spPr>
          <a:xfrm>
            <a:off x="966507" y="5350808"/>
            <a:ext cx="467845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A total of 33.3% Males and 66.7% Females were involved in NAMCS dataset.</a:t>
            </a:r>
            <a:endParaRPr lang="en-US"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B3D1504-26F2-162E-3F75-9B7F8A71157E}"/>
              </a:ext>
            </a:extLst>
          </p:cNvPr>
          <p:cNvSpPr txBox="1"/>
          <p:nvPr/>
        </p:nvSpPr>
        <p:spPr>
          <a:xfrm>
            <a:off x="6205256" y="5448859"/>
            <a:ext cx="5602941"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The age distribution in NAMCS shows a larger patient group was aged around 70 years and the lowest with 90 years of age.</a:t>
            </a:r>
            <a:endParaRPr lang="en-US"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78677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856CB-313A-BF67-3FD7-E7911B2471C1}"/>
              </a:ext>
            </a:extLst>
          </p:cNvPr>
          <p:cNvSpPr>
            <a:spLocks noGrp="1"/>
          </p:cNvSpPr>
          <p:nvPr>
            <p:ph type="title"/>
          </p:nvPr>
        </p:nvSpPr>
        <p:spPr>
          <a:xfrm>
            <a:off x="1111577" y="84841"/>
            <a:ext cx="9601200" cy="652806"/>
          </a:xfrm>
        </p:spPr>
        <p:txBody>
          <a:bodyPr>
            <a:normAutofit fontScale="90000"/>
          </a:bodyPr>
          <a:lstStyle/>
          <a:p>
            <a:r>
              <a:rPr lang="en-IN" dirty="0">
                <a:latin typeface="Times New Roman" panose="02020603050405020304" pitchFamily="18" charset="0"/>
                <a:cs typeface="Times New Roman" panose="02020603050405020304" pitchFamily="18" charset="0"/>
              </a:rPr>
              <a:t>Exploratory Data Analysis</a:t>
            </a:r>
          </a:p>
        </p:txBody>
      </p:sp>
      <p:pic>
        <p:nvPicPr>
          <p:cNvPr id="5" name="Picture 4">
            <a:extLst>
              <a:ext uri="{FF2B5EF4-FFF2-40B4-BE49-F238E27FC236}">
                <a16:creationId xmlns:a16="http://schemas.microsoft.com/office/drawing/2014/main" id="{9AC8CB63-07B4-7D6D-7060-68895A2CF48D}"/>
              </a:ext>
            </a:extLst>
          </p:cNvPr>
          <p:cNvPicPr>
            <a:picLocks noChangeAspect="1"/>
          </p:cNvPicPr>
          <p:nvPr/>
        </p:nvPicPr>
        <p:blipFill rotWithShape="1">
          <a:blip r:embed="rId2">
            <a:extLst>
              <a:ext uri="{28A0092B-C50C-407E-A947-70E740481C1C}">
                <a14:useLocalDpi xmlns:a14="http://schemas.microsoft.com/office/drawing/2010/main" val="0"/>
              </a:ext>
            </a:extLst>
          </a:blip>
          <a:srcRect t="9764" b="6428"/>
          <a:stretch/>
        </p:blipFill>
        <p:spPr>
          <a:xfrm>
            <a:off x="970176" y="1001597"/>
            <a:ext cx="5204382" cy="4965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38A501A9-E36B-2BD5-B095-933ADBCAA93C}"/>
              </a:ext>
            </a:extLst>
          </p:cNvPr>
          <p:cNvSpPr txBox="1"/>
          <p:nvPr/>
        </p:nvSpPr>
        <p:spPr>
          <a:xfrm>
            <a:off x="1649384" y="6146276"/>
            <a:ext cx="424090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Race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pic>
        <p:nvPicPr>
          <p:cNvPr id="10" name="Picture 9">
            <a:extLst>
              <a:ext uri="{FF2B5EF4-FFF2-40B4-BE49-F238E27FC236}">
                <a16:creationId xmlns:a16="http://schemas.microsoft.com/office/drawing/2014/main" id="{3703F128-FBB1-7749-CE28-1AB8D29E0F4A}"/>
              </a:ext>
            </a:extLst>
          </p:cNvPr>
          <p:cNvPicPr>
            <a:picLocks noChangeAspect="1"/>
          </p:cNvPicPr>
          <p:nvPr/>
        </p:nvPicPr>
        <p:blipFill rotWithShape="1">
          <a:blip r:embed="rId3">
            <a:extLst>
              <a:ext uri="{28A0092B-C50C-407E-A947-70E740481C1C}">
                <a14:useLocalDpi xmlns:a14="http://schemas.microsoft.com/office/drawing/2010/main" val="0"/>
              </a:ext>
            </a:extLst>
          </a:blip>
          <a:srcRect t="8495" b="4557"/>
          <a:stretch/>
        </p:blipFill>
        <p:spPr>
          <a:xfrm>
            <a:off x="6381947" y="1001596"/>
            <a:ext cx="5505254" cy="4965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E326F6A6-638D-EEB6-8D81-3B1CF86F1F89}"/>
              </a:ext>
            </a:extLst>
          </p:cNvPr>
          <p:cNvSpPr txBox="1"/>
          <p:nvPr/>
        </p:nvSpPr>
        <p:spPr>
          <a:xfrm>
            <a:off x="7014122" y="6149531"/>
            <a:ext cx="412548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Race in NAMCS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217364427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E162AA-584A-A104-2694-80633ACB3516}"/>
              </a:ext>
            </a:extLst>
          </p:cNvPr>
          <p:cNvPicPr>
            <a:picLocks noChangeAspect="1"/>
          </p:cNvPicPr>
          <p:nvPr/>
        </p:nvPicPr>
        <p:blipFill rotWithShape="1">
          <a:blip r:embed="rId2">
            <a:extLst>
              <a:ext uri="{28A0092B-C50C-407E-A947-70E740481C1C}">
                <a14:useLocalDpi xmlns:a14="http://schemas.microsoft.com/office/drawing/2010/main" val="0"/>
              </a:ext>
            </a:extLst>
          </a:blip>
          <a:srcRect l="9722" t="12837" r="9478" b="5216"/>
          <a:stretch/>
        </p:blipFill>
        <p:spPr>
          <a:xfrm>
            <a:off x="1300899" y="245097"/>
            <a:ext cx="10416618" cy="27337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13F93219-5A66-8D7E-02C7-3F058DFF543B}"/>
              </a:ext>
            </a:extLst>
          </p:cNvPr>
          <p:cNvPicPr>
            <a:picLocks noChangeAspect="1"/>
          </p:cNvPicPr>
          <p:nvPr/>
        </p:nvPicPr>
        <p:blipFill rotWithShape="1">
          <a:blip r:embed="rId3">
            <a:extLst>
              <a:ext uri="{28A0092B-C50C-407E-A947-70E740481C1C}">
                <a14:useLocalDpi xmlns:a14="http://schemas.microsoft.com/office/drawing/2010/main" val="0"/>
              </a:ext>
            </a:extLst>
          </a:blip>
          <a:srcRect l="9820" t="11581" r="9304" b="4907"/>
          <a:stretch/>
        </p:blipFill>
        <p:spPr>
          <a:xfrm>
            <a:off x="1300899" y="3429000"/>
            <a:ext cx="10416618" cy="31014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35C4C2C8-937B-BA6E-8C6D-4CA5455B9176}"/>
              </a:ext>
            </a:extLst>
          </p:cNvPr>
          <p:cNvSpPr txBox="1"/>
          <p:nvPr/>
        </p:nvSpPr>
        <p:spPr>
          <a:xfrm>
            <a:off x="4241755" y="169681"/>
            <a:ext cx="413831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Age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9" name="TextBox 8">
            <a:extLst>
              <a:ext uri="{FF2B5EF4-FFF2-40B4-BE49-F238E27FC236}">
                <a16:creationId xmlns:a16="http://schemas.microsoft.com/office/drawing/2014/main" id="{5E746919-BF83-D112-CC04-C732955C016A}"/>
              </a:ext>
            </a:extLst>
          </p:cNvPr>
          <p:cNvSpPr txBox="1"/>
          <p:nvPr/>
        </p:nvSpPr>
        <p:spPr>
          <a:xfrm>
            <a:off x="4329484" y="3429000"/>
            <a:ext cx="415113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Age in NAMCS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153532152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8A9CF6-FADA-F309-FACF-CA8CB5046948}"/>
              </a:ext>
            </a:extLst>
          </p:cNvPr>
          <p:cNvPicPr>
            <a:picLocks noChangeAspect="1"/>
          </p:cNvPicPr>
          <p:nvPr/>
        </p:nvPicPr>
        <p:blipFill rotWithShape="1">
          <a:blip r:embed="rId2">
            <a:extLst>
              <a:ext uri="{28A0092B-C50C-407E-A947-70E740481C1C}">
                <a14:useLocalDpi xmlns:a14="http://schemas.microsoft.com/office/drawing/2010/main" val="0"/>
              </a:ext>
            </a:extLst>
          </a:blip>
          <a:srcRect l="6884" t="11959" r="9542" b="6460"/>
          <a:stretch/>
        </p:blipFill>
        <p:spPr>
          <a:xfrm>
            <a:off x="6702458" y="598602"/>
            <a:ext cx="5326144" cy="52790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8F9D92D7-F0FE-70CB-426B-5325CF8AD807}"/>
              </a:ext>
            </a:extLst>
          </p:cNvPr>
          <p:cNvPicPr>
            <a:picLocks noChangeAspect="1"/>
          </p:cNvPicPr>
          <p:nvPr/>
        </p:nvPicPr>
        <p:blipFill rotWithShape="1">
          <a:blip r:embed="rId3">
            <a:extLst>
              <a:ext uri="{28A0092B-C50C-407E-A947-70E740481C1C}">
                <a14:useLocalDpi xmlns:a14="http://schemas.microsoft.com/office/drawing/2010/main" val="0"/>
              </a:ext>
            </a:extLst>
          </a:blip>
          <a:srcRect l="6884" t="11546" r="9404" b="6667"/>
          <a:stretch/>
        </p:blipFill>
        <p:spPr>
          <a:xfrm>
            <a:off x="820132" y="598602"/>
            <a:ext cx="5740923" cy="52790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BDE79A30-7C17-90A2-EE60-7A68EC2158B5}"/>
              </a:ext>
            </a:extLst>
          </p:cNvPr>
          <p:cNvSpPr txBox="1"/>
          <p:nvPr/>
        </p:nvSpPr>
        <p:spPr>
          <a:xfrm>
            <a:off x="1771932" y="6074733"/>
            <a:ext cx="449738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Gender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11" name="TextBox 10">
            <a:extLst>
              <a:ext uri="{FF2B5EF4-FFF2-40B4-BE49-F238E27FC236}">
                <a16:creationId xmlns:a16="http://schemas.microsoft.com/office/drawing/2014/main" id="{7277A736-7751-95B8-22A7-0085B8D14B77}"/>
              </a:ext>
            </a:extLst>
          </p:cNvPr>
          <p:cNvSpPr txBox="1"/>
          <p:nvPr/>
        </p:nvSpPr>
        <p:spPr>
          <a:xfrm>
            <a:off x="7296375" y="6074733"/>
            <a:ext cx="438196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Gender in NAMCS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405354947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9621C8-2BE8-422E-CDB0-568663753CAD}"/>
              </a:ext>
            </a:extLst>
          </p:cNvPr>
          <p:cNvPicPr>
            <a:picLocks noChangeAspect="1"/>
          </p:cNvPicPr>
          <p:nvPr/>
        </p:nvPicPr>
        <p:blipFill rotWithShape="1">
          <a:blip r:embed="rId2">
            <a:extLst>
              <a:ext uri="{28A0092B-C50C-407E-A947-70E740481C1C}">
                <a14:useLocalDpi xmlns:a14="http://schemas.microsoft.com/office/drawing/2010/main" val="0"/>
              </a:ext>
            </a:extLst>
          </a:blip>
          <a:srcRect l="7159" t="11230" r="8992" b="6984"/>
          <a:stretch/>
        </p:blipFill>
        <p:spPr>
          <a:xfrm>
            <a:off x="842127" y="504333"/>
            <a:ext cx="5401559" cy="5354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CF1095D0-4E59-76E0-E22D-80D8E95E806E}"/>
              </a:ext>
            </a:extLst>
          </p:cNvPr>
          <p:cNvPicPr>
            <a:picLocks noChangeAspect="1"/>
          </p:cNvPicPr>
          <p:nvPr/>
        </p:nvPicPr>
        <p:blipFill rotWithShape="1">
          <a:blip r:embed="rId3">
            <a:extLst>
              <a:ext uri="{28A0092B-C50C-407E-A947-70E740481C1C}">
                <a14:useLocalDpi xmlns:a14="http://schemas.microsoft.com/office/drawing/2010/main" val="0"/>
              </a:ext>
            </a:extLst>
          </a:blip>
          <a:srcRect l="6610" t="11409" r="9542" b="6254"/>
          <a:stretch/>
        </p:blipFill>
        <p:spPr>
          <a:xfrm>
            <a:off x="6495068" y="504333"/>
            <a:ext cx="5542959" cy="5354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47510C3B-92FF-D726-52D6-30996680655E}"/>
              </a:ext>
            </a:extLst>
          </p:cNvPr>
          <p:cNvSpPr txBox="1"/>
          <p:nvPr/>
        </p:nvSpPr>
        <p:spPr>
          <a:xfrm>
            <a:off x="1432567" y="6074733"/>
            <a:ext cx="474103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Insurance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9" name="TextBox 8">
            <a:extLst>
              <a:ext uri="{FF2B5EF4-FFF2-40B4-BE49-F238E27FC236}">
                <a16:creationId xmlns:a16="http://schemas.microsoft.com/office/drawing/2014/main" id="{C3BF4032-C7DD-2FC4-6FA7-6067B9E70B39}"/>
              </a:ext>
            </a:extLst>
          </p:cNvPr>
          <p:cNvSpPr txBox="1"/>
          <p:nvPr/>
        </p:nvSpPr>
        <p:spPr>
          <a:xfrm>
            <a:off x="6896027" y="6074733"/>
            <a:ext cx="462562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Insurance in NAMCS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171968399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139B79-810F-11F5-DCC3-947FA8F6752C}"/>
              </a:ext>
            </a:extLst>
          </p:cNvPr>
          <p:cNvPicPr>
            <a:picLocks noChangeAspect="1"/>
          </p:cNvPicPr>
          <p:nvPr/>
        </p:nvPicPr>
        <p:blipFill rotWithShape="1">
          <a:blip r:embed="rId2">
            <a:extLst>
              <a:ext uri="{28A0092B-C50C-407E-A947-70E740481C1C}">
                <a14:useLocalDpi xmlns:a14="http://schemas.microsoft.com/office/drawing/2010/main" val="0"/>
              </a:ext>
            </a:extLst>
          </a:blip>
          <a:srcRect l="9587" t="11379" r="9691" b="4498"/>
          <a:stretch/>
        </p:blipFill>
        <p:spPr>
          <a:xfrm>
            <a:off x="763571" y="631595"/>
            <a:ext cx="6325386" cy="55948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49CA1BBC-9899-70A1-D676-9C8B8BE567E9}"/>
              </a:ext>
            </a:extLst>
          </p:cNvPr>
          <p:cNvPicPr>
            <a:picLocks noChangeAspect="1"/>
          </p:cNvPicPr>
          <p:nvPr/>
        </p:nvPicPr>
        <p:blipFill rotWithShape="1">
          <a:blip r:embed="rId3">
            <a:extLst>
              <a:ext uri="{28A0092B-C50C-407E-A947-70E740481C1C}">
                <a14:useLocalDpi xmlns:a14="http://schemas.microsoft.com/office/drawing/2010/main" val="0"/>
              </a:ext>
            </a:extLst>
          </a:blip>
          <a:srcRect l="7297" t="11546" r="9542" b="6873"/>
          <a:stretch/>
        </p:blipFill>
        <p:spPr>
          <a:xfrm>
            <a:off x="7230359" y="631596"/>
            <a:ext cx="4961641" cy="55948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CBB7B36C-2D1A-605B-FF52-9FE9EFABCF85}"/>
              </a:ext>
            </a:extLst>
          </p:cNvPr>
          <p:cNvSpPr txBox="1"/>
          <p:nvPr/>
        </p:nvSpPr>
        <p:spPr>
          <a:xfrm>
            <a:off x="1470274" y="6340255"/>
            <a:ext cx="448455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Income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
        <p:nvSpPr>
          <p:cNvPr id="9" name="TextBox 8">
            <a:extLst>
              <a:ext uri="{FF2B5EF4-FFF2-40B4-BE49-F238E27FC236}">
                <a16:creationId xmlns:a16="http://schemas.microsoft.com/office/drawing/2014/main" id="{91183534-EA51-00C6-CBFD-98A8F532464F}"/>
              </a:ext>
            </a:extLst>
          </p:cNvPr>
          <p:cNvSpPr txBox="1"/>
          <p:nvPr/>
        </p:nvSpPr>
        <p:spPr>
          <a:xfrm>
            <a:off x="7340659" y="6340255"/>
            <a:ext cx="476668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IN" b="1">
                <a:latin typeface="Times New Roman" panose="02020603050405020304" pitchFamily="18" charset="0"/>
                <a:cs typeface="Times New Roman" panose="02020603050405020304" pitchFamily="18" charset="0"/>
              </a:rPr>
              <a:t>Depression Indicator vs Education in NHANES</a:t>
            </a:r>
            <a:endPar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endParaRPr>
          </a:p>
        </p:txBody>
      </p:sp>
    </p:spTree>
    <p:extLst>
      <p:ext uri="{BB962C8B-B14F-4D97-AF65-F5344CB8AC3E}">
        <p14:creationId xmlns:p14="http://schemas.microsoft.com/office/powerpoint/2010/main" val="412225975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E87252B-E55C-6413-161F-8E7AD638E5D8}"/>
              </a:ext>
            </a:extLst>
          </p:cNvPr>
          <p:cNvPicPr>
            <a:picLocks noChangeAspect="1"/>
          </p:cNvPicPr>
          <p:nvPr/>
        </p:nvPicPr>
        <p:blipFill rotWithShape="1">
          <a:blip r:embed="rId2">
            <a:extLst>
              <a:ext uri="{28A0092B-C50C-407E-A947-70E740481C1C}">
                <a14:useLocalDpi xmlns:a14="http://schemas.microsoft.com/office/drawing/2010/main" val="0"/>
              </a:ext>
            </a:extLst>
          </a:blip>
          <a:srcRect l="6335" t="12096" r="9816" b="5842"/>
          <a:stretch/>
        </p:blipFill>
        <p:spPr>
          <a:xfrm>
            <a:off x="2130457" y="103694"/>
            <a:ext cx="8974318" cy="60991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6C8FBF79-70E1-9B05-97D3-C59401CA2C43}"/>
              </a:ext>
            </a:extLst>
          </p:cNvPr>
          <p:cNvSpPr txBox="1"/>
          <p:nvPr/>
        </p:nvSpPr>
        <p:spPr>
          <a:xfrm>
            <a:off x="4793557" y="6297236"/>
            <a:ext cx="61980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1800" b="1"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rPr>
              <a:t>Depression Indicator vs Provider type in NAMCS</a:t>
            </a:r>
          </a:p>
        </p:txBody>
      </p:sp>
    </p:spTree>
    <p:extLst>
      <p:ext uri="{BB962C8B-B14F-4D97-AF65-F5344CB8AC3E}">
        <p14:creationId xmlns:p14="http://schemas.microsoft.com/office/powerpoint/2010/main" val="315775020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55B7D0-EBD7-CF90-B924-1F1E3928CCA5}"/>
              </a:ext>
            </a:extLst>
          </p:cNvPr>
          <p:cNvPicPr>
            <a:picLocks noChangeAspect="1"/>
          </p:cNvPicPr>
          <p:nvPr/>
        </p:nvPicPr>
        <p:blipFill rotWithShape="1">
          <a:blip r:embed="rId2">
            <a:extLst>
              <a:ext uri="{28A0092B-C50C-407E-A947-70E740481C1C}">
                <a14:useLocalDpi xmlns:a14="http://schemas.microsoft.com/office/drawing/2010/main" val="0"/>
              </a:ext>
            </a:extLst>
          </a:blip>
          <a:srcRect l="9084" t="11409" r="9542" b="8729"/>
          <a:stretch/>
        </p:blipFill>
        <p:spPr>
          <a:xfrm>
            <a:off x="772998" y="30203"/>
            <a:ext cx="11302737" cy="65215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73D70C9E-BDA7-2416-6DD9-8DCE91BA796D}"/>
              </a:ext>
            </a:extLst>
          </p:cNvPr>
          <p:cNvSpPr txBox="1"/>
          <p:nvPr/>
        </p:nvSpPr>
        <p:spPr>
          <a:xfrm>
            <a:off x="3916864" y="6561316"/>
            <a:ext cx="61980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1800" b="1"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rPr>
              <a:t>Depression Indicator vs Co-Morbid conditions in NHANES</a:t>
            </a:r>
          </a:p>
        </p:txBody>
      </p:sp>
    </p:spTree>
    <p:extLst>
      <p:ext uri="{BB962C8B-B14F-4D97-AF65-F5344CB8AC3E}">
        <p14:creationId xmlns:p14="http://schemas.microsoft.com/office/powerpoint/2010/main" val="213426931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6E165F-E9FC-0250-646F-D152A146B769}"/>
              </a:ext>
            </a:extLst>
          </p:cNvPr>
          <p:cNvPicPr>
            <a:picLocks noChangeAspect="1"/>
          </p:cNvPicPr>
          <p:nvPr/>
        </p:nvPicPr>
        <p:blipFill rotWithShape="1">
          <a:blip r:embed="rId2">
            <a:extLst>
              <a:ext uri="{28A0092B-C50C-407E-A947-70E740481C1C}">
                <a14:useLocalDpi xmlns:a14="http://schemas.microsoft.com/office/drawing/2010/main" val="0"/>
              </a:ext>
            </a:extLst>
          </a:blip>
          <a:srcRect l="9496" t="11133" r="9129" b="8729"/>
          <a:stretch/>
        </p:blipFill>
        <p:spPr>
          <a:xfrm>
            <a:off x="716436" y="84840"/>
            <a:ext cx="11409575" cy="6410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D2D65D1C-0227-75E7-9733-32BD7E59609C}"/>
              </a:ext>
            </a:extLst>
          </p:cNvPr>
          <p:cNvSpPr txBox="1"/>
          <p:nvPr/>
        </p:nvSpPr>
        <p:spPr>
          <a:xfrm>
            <a:off x="3813169" y="6495067"/>
            <a:ext cx="61980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1800" b="1"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Franklin Gothic Book"/>
              </a:rPr>
              <a:t>Depression Indicator vs Co-Morbid conditions in NAMCS</a:t>
            </a:r>
          </a:p>
        </p:txBody>
      </p:sp>
    </p:spTree>
    <p:extLst>
      <p:ext uri="{BB962C8B-B14F-4D97-AF65-F5344CB8AC3E}">
        <p14:creationId xmlns:p14="http://schemas.microsoft.com/office/powerpoint/2010/main" val="196661139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549F32-BF4E-6184-17F1-C101CD09B4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7010" y="0"/>
            <a:ext cx="11484990" cy="6858000"/>
          </a:xfrm>
          <a:prstGeom prst="rect">
            <a:avLst/>
          </a:prstGeom>
        </p:spPr>
      </p:pic>
    </p:spTree>
    <p:extLst>
      <p:ext uri="{BB962C8B-B14F-4D97-AF65-F5344CB8AC3E}">
        <p14:creationId xmlns:p14="http://schemas.microsoft.com/office/powerpoint/2010/main" val="372419667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4372EB-A2AD-851C-B0E7-FC278BE5E9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7584" y="0"/>
            <a:ext cx="11494416" cy="6858000"/>
          </a:xfrm>
          <a:prstGeom prst="rect">
            <a:avLst/>
          </a:prstGeom>
        </p:spPr>
      </p:pic>
    </p:spTree>
    <p:extLst>
      <p:ext uri="{BB962C8B-B14F-4D97-AF65-F5344CB8AC3E}">
        <p14:creationId xmlns:p14="http://schemas.microsoft.com/office/powerpoint/2010/main" val="1599357637"/>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F84A-1809-AB01-47C3-716861813BBC}"/>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Hypothesis Testing</a:t>
            </a:r>
          </a:p>
        </p:txBody>
      </p:sp>
      <p:sp>
        <p:nvSpPr>
          <p:cNvPr id="3" name="Text Placeholder 2">
            <a:extLst>
              <a:ext uri="{FF2B5EF4-FFF2-40B4-BE49-F238E27FC236}">
                <a16:creationId xmlns:a16="http://schemas.microsoft.com/office/drawing/2014/main" id="{8B8444F3-A78F-63DD-A7B4-DF46628CA072}"/>
              </a:ext>
            </a:extLst>
          </p:cNvPr>
          <p:cNvSpPr>
            <a:spLocks noGrp="1"/>
          </p:cNvSpPr>
          <p:nvPr>
            <p:ph type="body" idx="1"/>
          </p:nvPr>
        </p:nvSpPr>
        <p:spPr/>
        <p:txBody>
          <a:bodyPr lIns="45719" tIns="45720" rIns="45719" bIns="45720" anchor="t">
            <a:normAutofit/>
          </a:bodyPr>
          <a:lstStyle/>
          <a:p>
            <a:pPr marL="383540" indent="-383540"/>
            <a:r>
              <a:rPr lang="en-US" dirty="0">
                <a:ea typeface="+mj-lt"/>
                <a:cs typeface="+mj-lt"/>
              </a:rPr>
              <a:t>The chi-square test was utilized for hypothesis testing because both of the data sets contained categorical data.</a:t>
            </a:r>
            <a:r>
              <a:rPr lang="en-US">
                <a:ea typeface="+mj-lt"/>
                <a:cs typeface="+mj-lt"/>
              </a:rPr>
              <a:t> </a:t>
            </a:r>
            <a:endParaRPr lang="en-US"/>
          </a:p>
          <a:p>
            <a:pPr marL="383540" indent="-383540"/>
            <a:r>
              <a:rPr lang="en-US">
                <a:ea typeface="+mj-lt"/>
                <a:cs typeface="+mj-lt"/>
              </a:rPr>
              <a:t>Even though we mentioned in the draft proposal using a two-sample t test, we employed the chi square test because the data we had was categorical. So we chose Chi Square over the two sample tests.  </a:t>
            </a:r>
          </a:p>
          <a:p>
            <a:pPr marL="383540" indent="-383540"/>
            <a:r>
              <a:rPr lang="en-US" dirty="0">
                <a:ea typeface="+mj-lt"/>
                <a:cs typeface="+mj-lt"/>
              </a:rPr>
              <a:t>With the use of the chi-square contingency test, we identified the significant factors from both datasets have an association with the depression indicator.</a:t>
            </a:r>
            <a:endParaRPr lang="en-US" dirty="0"/>
          </a:p>
          <a:p>
            <a:pPr marL="383540" indent="-383540"/>
            <a:r>
              <a:rPr lang="en-US" dirty="0">
                <a:ea typeface="+mj-lt"/>
                <a:cs typeface="+mj-lt"/>
              </a:rPr>
              <a:t>The significant factors for the depression indicator for both datasets was used to forecast depression using </a:t>
            </a:r>
            <a:r>
              <a:rPr lang="en-US">
                <a:ea typeface="+mj-lt"/>
                <a:cs typeface="+mj-lt"/>
              </a:rPr>
              <a:t>XGBoost</a:t>
            </a:r>
            <a:r>
              <a:rPr lang="en-US" dirty="0">
                <a:ea typeface="+mj-lt"/>
                <a:cs typeface="+mj-lt"/>
              </a:rPr>
              <a:t>, Random Forest and SVM models. </a:t>
            </a:r>
            <a:endParaRPr lang="en-US" dirty="0"/>
          </a:p>
          <a:p>
            <a:pPr marL="383540" indent="-383540"/>
            <a:endParaRPr lang="en-US" dirty="0"/>
          </a:p>
          <a:p>
            <a:pPr marL="383540" indent="-383540"/>
            <a:endParaRPr lang="en-US" dirty="0"/>
          </a:p>
          <a:p>
            <a:pPr marL="383540" indent="-383540"/>
            <a:endParaRPr lang="en-US" dirty="0"/>
          </a:p>
        </p:txBody>
      </p:sp>
    </p:spTree>
    <p:extLst>
      <p:ext uri="{BB962C8B-B14F-4D97-AF65-F5344CB8AC3E}">
        <p14:creationId xmlns:p14="http://schemas.microsoft.com/office/powerpoint/2010/main" val="186516836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5AA8710-EF17-FC1B-84C7-1CBBD9080061}"/>
              </a:ext>
            </a:extLst>
          </p:cNvPr>
          <p:cNvSpPr>
            <a:spLocks noGrp="1"/>
          </p:cNvSpPr>
          <p:nvPr>
            <p:ph type="title"/>
          </p:nvPr>
        </p:nvSpPr>
        <p:spPr>
          <a:xfrm>
            <a:off x="1371600" y="239486"/>
            <a:ext cx="9601200" cy="1485900"/>
          </a:xfrm>
        </p:spPr>
        <p:txBody>
          <a:bodyPr lIns="45719" tIns="45720" rIns="45719" bIns="45720" anchor="t">
            <a:normAutofit/>
          </a:bodyPr>
          <a:lstStyle/>
          <a:p>
            <a:r>
              <a:rPr lang="en-US">
                <a:latin typeface="Times New Roman" panose="02020603050405020304" pitchFamily="18" charset="0"/>
                <a:cs typeface="Times New Roman" panose="02020603050405020304" pitchFamily="18" charset="0"/>
              </a:rPr>
              <a:t>Significant Features found after the Chi Squared test </a:t>
            </a:r>
          </a:p>
        </p:txBody>
      </p:sp>
      <p:sp>
        <p:nvSpPr>
          <p:cNvPr id="7" name="Text Placeholder 2">
            <a:extLst>
              <a:ext uri="{FF2B5EF4-FFF2-40B4-BE49-F238E27FC236}">
                <a16:creationId xmlns:a16="http://schemas.microsoft.com/office/drawing/2014/main" id="{BE1C9113-B276-4F54-9AE3-53532597C3DD}"/>
              </a:ext>
            </a:extLst>
          </p:cNvPr>
          <p:cNvSpPr>
            <a:spLocks noGrp="1"/>
          </p:cNvSpPr>
          <p:nvPr>
            <p:ph type="body" idx="1"/>
          </p:nvPr>
        </p:nvSpPr>
        <p:spPr>
          <a:xfrm>
            <a:off x="1371600" y="1577068"/>
            <a:ext cx="10580914" cy="4769303"/>
          </a:xfrm>
        </p:spPr>
        <p:txBody>
          <a:bodyPr lIns="45719" tIns="45720" rIns="45719" bIns="45720" anchor="t">
            <a:normAutofit/>
          </a:bodyPr>
          <a:lstStyle/>
          <a:p>
            <a:pPr marL="383540" indent="-383540"/>
            <a:r>
              <a:rPr lang="en-US">
                <a:ea typeface="+mj-lt"/>
                <a:cs typeface="+mj-lt"/>
              </a:rPr>
              <a:t>namcs = ['AGE', 'GENDER', 'RACE-WHITE', 'Physician', 'Physician assistant', 'Mental health provider', 'Other provider', 'Medicare', 'State Insurance', 'Private Insurance', '</a:t>
            </a:r>
            <a:r>
              <a:rPr lang="en-US" err="1">
                <a:ea typeface="+mj-lt"/>
                <a:cs typeface="+mj-lt"/>
              </a:rPr>
              <a:t>Specialty:Primary</a:t>
            </a:r>
            <a:r>
              <a:rPr lang="en-US">
                <a:ea typeface="+mj-lt"/>
                <a:cs typeface="+mj-lt"/>
              </a:rPr>
              <a:t> care', 'Specialty:Surgical care', '</a:t>
            </a:r>
            <a:r>
              <a:rPr lang="en-US" err="1">
                <a:ea typeface="+mj-lt"/>
                <a:cs typeface="+mj-lt"/>
              </a:rPr>
              <a:t>Specialty:Medical</a:t>
            </a:r>
            <a:r>
              <a:rPr lang="en-US">
                <a:ea typeface="+mj-lt"/>
                <a:cs typeface="+mj-lt"/>
              </a:rPr>
              <a:t> care', '</a:t>
            </a:r>
            <a:r>
              <a:rPr lang="en-US" err="1">
                <a:ea typeface="+mj-lt"/>
                <a:cs typeface="+mj-lt"/>
              </a:rPr>
              <a:t>Practice_owner:Unknown</a:t>
            </a:r>
            <a:r>
              <a:rPr lang="en-US">
                <a:ea typeface="+mj-lt"/>
                <a:cs typeface="+mj-lt"/>
              </a:rPr>
              <a:t>', 'Practice_owner:Refused to answer question', '</a:t>
            </a:r>
            <a:r>
              <a:rPr lang="en-US" err="1">
                <a:ea typeface="+mj-lt"/>
                <a:cs typeface="+mj-lt"/>
              </a:rPr>
              <a:t>Practice_owner:Physician</a:t>
            </a:r>
            <a:r>
              <a:rPr lang="en-US">
                <a:ea typeface="+mj-lt"/>
                <a:cs typeface="+mj-lt"/>
              </a:rPr>
              <a:t> or physician group', '</a:t>
            </a:r>
            <a:r>
              <a:rPr lang="en-US" err="1">
                <a:ea typeface="+mj-lt"/>
                <a:cs typeface="+mj-lt"/>
              </a:rPr>
              <a:t>Practice_owner:Medical</a:t>
            </a:r>
            <a:r>
              <a:rPr lang="en-US">
                <a:ea typeface="+mj-lt"/>
                <a:cs typeface="+mj-lt"/>
              </a:rPr>
              <a:t>/Academic health center; other hospital', 'Diagnosis: No chronic conditions', 'Diagnosis: Cancer/Blood', 'Diagnosis: Metabolic', 'Diagnosis: Neurologic', 'Diagnosis: Eyes/Ears', 'Diagnosis: Heart/Lung', 'Diagnosis: Digestive', 'Diagnosis: Skin', 'Diagnosis: Bones', 'Diagnosis: Women\'s Health', 'Diagnosis: Injury', 'Diagnosis: Public Health']</a:t>
            </a:r>
            <a:endParaRPr lang="en-US"/>
          </a:p>
          <a:p>
            <a:pPr marL="383540" indent="-383540"/>
            <a:r>
              <a:rPr lang="en-US">
                <a:ea typeface="+mj-lt"/>
                <a:cs typeface="+mj-lt"/>
              </a:rPr>
              <a:t>nhanes = ['AGE', 'Month family income', '</a:t>
            </a:r>
            <a:r>
              <a:rPr lang="en-US" err="1">
                <a:ea typeface="+mj-lt"/>
                <a:cs typeface="+mj-lt"/>
              </a:rPr>
              <a:t>MedHistory</a:t>
            </a:r>
            <a:r>
              <a:rPr lang="en-US">
                <a:ea typeface="+mj-lt"/>
                <a:cs typeface="+mj-lt"/>
              </a:rPr>
              <a:t>: Asthma', '</a:t>
            </a:r>
            <a:r>
              <a:rPr lang="en-US" err="1">
                <a:ea typeface="+mj-lt"/>
                <a:cs typeface="+mj-lt"/>
              </a:rPr>
              <a:t>MedHistory</a:t>
            </a:r>
            <a:r>
              <a:rPr lang="en-US">
                <a:ea typeface="+mj-lt"/>
                <a:cs typeface="+mj-lt"/>
              </a:rPr>
              <a:t>: Overweight', '</a:t>
            </a:r>
            <a:r>
              <a:rPr lang="en-US" err="1">
                <a:ea typeface="+mj-lt"/>
                <a:cs typeface="+mj-lt"/>
              </a:rPr>
              <a:t>MedHistory</a:t>
            </a:r>
            <a:r>
              <a:rPr lang="en-US">
                <a:ea typeface="+mj-lt"/>
                <a:cs typeface="+mj-lt"/>
              </a:rPr>
              <a:t>: Arthritis', '</a:t>
            </a:r>
            <a:r>
              <a:rPr lang="en-US" err="1">
                <a:ea typeface="+mj-lt"/>
                <a:cs typeface="+mj-lt"/>
              </a:rPr>
              <a:t>MedHistory</a:t>
            </a:r>
            <a:r>
              <a:rPr lang="en-US">
                <a:ea typeface="+mj-lt"/>
                <a:cs typeface="+mj-lt"/>
              </a:rPr>
              <a:t>: Congestive heart failure', '</a:t>
            </a:r>
            <a:r>
              <a:rPr lang="en-US" err="1">
                <a:ea typeface="+mj-lt"/>
                <a:cs typeface="+mj-lt"/>
              </a:rPr>
              <a:t>MedHistory</a:t>
            </a:r>
            <a:r>
              <a:rPr lang="en-US">
                <a:ea typeface="+mj-lt"/>
                <a:cs typeface="+mj-lt"/>
              </a:rPr>
              <a:t>: Coronary heart disease', '</a:t>
            </a:r>
            <a:r>
              <a:rPr lang="en-US" err="1">
                <a:ea typeface="+mj-lt"/>
                <a:cs typeface="+mj-lt"/>
              </a:rPr>
              <a:t>MedHistory</a:t>
            </a:r>
            <a:r>
              <a:rPr lang="en-US">
                <a:ea typeface="+mj-lt"/>
                <a:cs typeface="+mj-lt"/>
              </a:rPr>
              <a:t>: Angina/Angina Pectoris', '</a:t>
            </a:r>
            <a:r>
              <a:rPr lang="en-US" err="1">
                <a:ea typeface="+mj-lt"/>
                <a:cs typeface="+mj-lt"/>
              </a:rPr>
              <a:t>MedHistory</a:t>
            </a:r>
            <a:r>
              <a:rPr lang="en-US">
                <a:ea typeface="+mj-lt"/>
                <a:cs typeface="+mj-lt"/>
              </a:rPr>
              <a:t>: Heart attack', '</a:t>
            </a:r>
            <a:r>
              <a:rPr lang="en-US" err="1">
                <a:ea typeface="+mj-lt"/>
                <a:cs typeface="+mj-lt"/>
              </a:rPr>
              <a:t>MedHistory</a:t>
            </a:r>
            <a:r>
              <a:rPr lang="en-US">
                <a:ea typeface="+mj-lt"/>
                <a:cs typeface="+mj-lt"/>
              </a:rPr>
              <a:t>: Stroke', '</a:t>
            </a:r>
            <a:r>
              <a:rPr lang="en-US" err="1">
                <a:ea typeface="+mj-lt"/>
                <a:cs typeface="+mj-lt"/>
              </a:rPr>
              <a:t>MedHistory</a:t>
            </a:r>
            <a:r>
              <a:rPr lang="en-US">
                <a:ea typeface="+mj-lt"/>
                <a:cs typeface="+mj-lt"/>
              </a:rPr>
              <a:t>: Thyroid problem', '</a:t>
            </a:r>
            <a:r>
              <a:rPr lang="en-US" err="1">
                <a:ea typeface="+mj-lt"/>
                <a:cs typeface="+mj-lt"/>
              </a:rPr>
              <a:t>MedHistory</a:t>
            </a:r>
            <a:r>
              <a:rPr lang="en-US">
                <a:ea typeface="+mj-lt"/>
                <a:cs typeface="+mj-lt"/>
              </a:rPr>
              <a:t>: Emphysema', '</a:t>
            </a:r>
            <a:r>
              <a:rPr lang="en-US" err="1">
                <a:ea typeface="+mj-lt"/>
                <a:cs typeface="+mj-lt"/>
              </a:rPr>
              <a:t>MedHistory</a:t>
            </a:r>
            <a:r>
              <a:rPr lang="en-US">
                <a:ea typeface="+mj-lt"/>
                <a:cs typeface="+mj-lt"/>
              </a:rPr>
              <a:t>: Chronic Bronchitis', '</a:t>
            </a:r>
            <a:r>
              <a:rPr lang="en-US" err="1">
                <a:ea typeface="+mj-lt"/>
                <a:cs typeface="+mj-lt"/>
              </a:rPr>
              <a:t>MedHistory</a:t>
            </a:r>
            <a:r>
              <a:rPr lang="en-US">
                <a:ea typeface="+mj-lt"/>
                <a:cs typeface="+mj-lt"/>
              </a:rPr>
              <a:t>: COPD', '</a:t>
            </a:r>
            <a:r>
              <a:rPr lang="en-US" err="1">
                <a:ea typeface="+mj-lt"/>
                <a:cs typeface="+mj-lt"/>
              </a:rPr>
              <a:t>MedHistory</a:t>
            </a:r>
            <a:r>
              <a:rPr lang="en-US">
                <a:ea typeface="+mj-lt"/>
                <a:cs typeface="+mj-lt"/>
              </a:rPr>
              <a:t>: Cancer or Malignancy', 'Private Insurance', 'Medicare', 'GENDER', 'RACE-WHITE', 'RACE-OTHERS', 'State Insurance', 'EDUCATION LEVEL', '</a:t>
            </a:r>
            <a:r>
              <a:rPr lang="en-US" err="1">
                <a:ea typeface="+mj-lt"/>
                <a:cs typeface="+mj-lt"/>
              </a:rPr>
              <a:t>MedHistory</a:t>
            </a:r>
            <a:r>
              <a:rPr lang="en-US">
                <a:ea typeface="+mj-lt"/>
                <a:cs typeface="+mj-lt"/>
              </a:rPr>
              <a:t>: Liver issues']</a:t>
            </a:r>
            <a:endParaRPr lang="en-US"/>
          </a:p>
          <a:p>
            <a:pPr marL="383540" indent="-383540"/>
            <a:endParaRPr lang="en-US"/>
          </a:p>
          <a:p>
            <a:pPr marL="383540" indent="-383540"/>
            <a:endParaRPr lang="en-US"/>
          </a:p>
        </p:txBody>
      </p:sp>
    </p:spTree>
    <p:extLst>
      <p:ext uri="{BB962C8B-B14F-4D97-AF65-F5344CB8AC3E}">
        <p14:creationId xmlns:p14="http://schemas.microsoft.com/office/powerpoint/2010/main" val="177862394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3D05-3D8D-B820-9B0C-A3A4338FC7A6}"/>
              </a:ext>
            </a:extLst>
          </p:cNvPr>
          <p:cNvSpPr>
            <a:spLocks noGrp="1"/>
          </p:cNvSpPr>
          <p:nvPr>
            <p:ph type="title"/>
          </p:nvPr>
        </p:nvSpPr>
        <p:spPr/>
        <p:txBody>
          <a:bodyPr lIns="45719" tIns="45720" rIns="45719" bIns="45720" anchor="t">
            <a:normAutofit/>
          </a:bodyPr>
          <a:lstStyle/>
          <a:p>
            <a:r>
              <a:rPr lang="en-US">
                <a:latin typeface="Times New Roman"/>
                <a:cs typeface="Times New Roman"/>
              </a:rPr>
              <a:t>Binary Classification Models</a:t>
            </a:r>
            <a:endParaRPr lang="en-US">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77EE1D7-3657-C45C-E06D-636D6856D0DE}"/>
              </a:ext>
            </a:extLst>
          </p:cNvPr>
          <p:cNvSpPr>
            <a:spLocks noGrp="1"/>
          </p:cNvSpPr>
          <p:nvPr>
            <p:ph type="body" idx="1"/>
          </p:nvPr>
        </p:nvSpPr>
        <p:spPr/>
        <p:txBody>
          <a:bodyPr lIns="45719" tIns="45720" rIns="45719" bIns="45720" anchor="t">
            <a:normAutofit/>
          </a:bodyPr>
          <a:lstStyle/>
          <a:p>
            <a:pPr marL="383540" indent="-383540"/>
            <a:r>
              <a:rPr lang="en-US">
                <a:latin typeface="Times New Roman" panose="02020603050405020304" pitchFamily="18" charset="0"/>
                <a:cs typeface="Times New Roman" panose="02020603050405020304" pitchFamily="18" charset="0"/>
              </a:rPr>
              <a:t>XG BOOST was applied for both significant variables of the datasets NHANES and NAMCS. We employed SMOTE to balance the dataset and to achieve better recall for the model. </a:t>
            </a:r>
          </a:p>
          <a:p>
            <a:pPr marL="383540" indent="-383540"/>
            <a:r>
              <a:rPr lang="en-US">
                <a:latin typeface="Times New Roman" panose="02020603050405020304" pitchFamily="18" charset="0"/>
                <a:cs typeface="Times New Roman" panose="02020603050405020304" pitchFamily="18" charset="0"/>
              </a:rPr>
              <a:t>We employ Random Forest model too for testing out the datasets for better explaining the pattern in it.</a:t>
            </a:r>
          </a:p>
          <a:p>
            <a:pPr marL="383540" indent="-383540"/>
            <a:endParaRPr lang="en-US"/>
          </a:p>
        </p:txBody>
      </p:sp>
    </p:spTree>
    <p:extLst>
      <p:ext uri="{BB962C8B-B14F-4D97-AF65-F5344CB8AC3E}">
        <p14:creationId xmlns:p14="http://schemas.microsoft.com/office/powerpoint/2010/main" val="310009503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10;&#10;Description automatically generated">
            <a:extLst>
              <a:ext uri="{FF2B5EF4-FFF2-40B4-BE49-F238E27FC236}">
                <a16:creationId xmlns:a16="http://schemas.microsoft.com/office/drawing/2014/main" id="{49BA8F1E-D139-A480-1DA9-81892EFAB210}"/>
              </a:ext>
            </a:extLst>
          </p:cNvPr>
          <p:cNvPicPr>
            <a:picLocks noChangeAspect="1"/>
          </p:cNvPicPr>
          <p:nvPr/>
        </p:nvPicPr>
        <p:blipFill>
          <a:blip r:embed="rId2"/>
          <a:stretch>
            <a:fillRect/>
          </a:stretch>
        </p:blipFill>
        <p:spPr>
          <a:xfrm>
            <a:off x="845322" y="1608438"/>
            <a:ext cx="10758579" cy="18896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descr="Graphical user interface, text, application&#10;&#10;Description automatically generated">
            <a:extLst>
              <a:ext uri="{FF2B5EF4-FFF2-40B4-BE49-F238E27FC236}">
                <a16:creationId xmlns:a16="http://schemas.microsoft.com/office/drawing/2014/main" id="{81CEA4A6-8741-7DCB-B7AD-A7F53938EA6A}"/>
              </a:ext>
            </a:extLst>
          </p:cNvPr>
          <p:cNvPicPr>
            <a:picLocks noChangeAspect="1"/>
          </p:cNvPicPr>
          <p:nvPr/>
        </p:nvPicPr>
        <p:blipFill>
          <a:blip r:embed="rId3"/>
          <a:stretch>
            <a:fillRect/>
          </a:stretch>
        </p:blipFill>
        <p:spPr>
          <a:xfrm>
            <a:off x="840350" y="3850427"/>
            <a:ext cx="10750785" cy="19444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itle 1">
            <a:extLst>
              <a:ext uri="{FF2B5EF4-FFF2-40B4-BE49-F238E27FC236}">
                <a16:creationId xmlns:a16="http://schemas.microsoft.com/office/drawing/2014/main" id="{4060F883-AEED-E8D6-BB01-05578A7ACBE2}"/>
              </a:ext>
            </a:extLst>
          </p:cNvPr>
          <p:cNvSpPr>
            <a:spLocks noGrp="1"/>
          </p:cNvSpPr>
          <p:nvPr/>
        </p:nvSpPr>
        <p:spPr>
          <a:xfrm>
            <a:off x="1371600" y="685800"/>
            <a:ext cx="9601200" cy="1485900"/>
          </a:xfrm>
          <a:prstGeom prst="rect">
            <a:avLst/>
          </a:prstGeom>
          <a:ln w="12700">
            <a:miter lim="400000"/>
          </a:ln>
          <a:extLst>
            <a:ext uri="{C572A759-6A51-4108-AA02-DFA0A04FC94B}">
              <ma14:wrappingTextBoxFlag xmlns:lc="http://schemas.openxmlformats.org/drawingml/2006/lockedCanvas" xmlns:m="http://schemas.openxmlformats.org/officeDocument/2006/math" xmlns:a14="http://schemas.microsoft.com/office/drawing/2010/main" xmlns:ma14="http://schemas.microsoft.com/office/mac/drawingml/2011/main" xmlns="" val="1"/>
            </a:ext>
          </a:extLst>
        </p:spPr>
        <p:txBody>
          <a:bodyPr lIns="45719" tIns="45720" rIns="45719" bIns="45720" anchor="t">
            <a:normAutofit/>
          </a:bodyPr>
          <a:lstStyle>
            <a:lvl1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1pPr>
            <a:lvl2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2pPr>
            <a:lvl3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3pPr>
            <a:lvl4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4pPr>
            <a:lvl5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5pPr>
            <a:lvl6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6pPr>
            <a:lvl7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7pPr>
            <a:lvl8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8pPr>
            <a:lvl9pPr marL="0" marR="0" indent="0" algn="l" defTabSz="914400" rtl="0" latinLnBrk="0">
              <a:lnSpc>
                <a:spcPct val="89000"/>
              </a:lnSpc>
              <a:spcBef>
                <a:spcPts val="0"/>
              </a:spcBef>
              <a:spcAft>
                <a:spcPts val="0"/>
              </a:spcAft>
              <a:buClrTx/>
              <a:buSzTx/>
              <a:buFontTx/>
              <a:buNone/>
              <a:tabLst/>
              <a:defRPr sz="4400" b="0" i="0" u="none" strike="noStrike" cap="none" spc="0" baseline="0">
                <a:ln>
                  <a:noFill/>
                </a:ln>
                <a:solidFill>
                  <a:srgbClr val="191B0E"/>
                </a:solidFill>
                <a:uFillTx/>
                <a:latin typeface="+mj-lt"/>
                <a:ea typeface="+mj-ea"/>
                <a:cs typeface="+mj-cs"/>
                <a:sym typeface="Franklin Gothic Book"/>
              </a:defRPr>
            </a:lvl9pPr>
          </a:lstStyle>
          <a:p>
            <a:r>
              <a:rPr lang="en-US">
                <a:latin typeface="Times New Roman" panose="02020603050405020304" pitchFamily="18" charset="0"/>
                <a:cs typeface="Times New Roman" panose="02020603050405020304" pitchFamily="18" charset="0"/>
              </a:rPr>
              <a:t>Using XG boost model </a:t>
            </a:r>
          </a:p>
        </p:txBody>
      </p:sp>
    </p:spTree>
    <p:extLst>
      <p:ext uri="{BB962C8B-B14F-4D97-AF65-F5344CB8AC3E}">
        <p14:creationId xmlns:p14="http://schemas.microsoft.com/office/powerpoint/2010/main" val="237096641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Chart&#10;&#10;Description automatically generated">
            <a:extLst>
              <a:ext uri="{FF2B5EF4-FFF2-40B4-BE49-F238E27FC236}">
                <a16:creationId xmlns:a16="http://schemas.microsoft.com/office/drawing/2014/main" id="{E1EDA270-25E9-BF07-A96A-E9182DD88FB5}"/>
              </a:ext>
            </a:extLst>
          </p:cNvPr>
          <p:cNvPicPr>
            <a:picLocks noChangeAspect="1"/>
          </p:cNvPicPr>
          <p:nvPr/>
        </p:nvPicPr>
        <p:blipFill>
          <a:blip r:embed="rId2"/>
          <a:stretch>
            <a:fillRect/>
          </a:stretch>
        </p:blipFill>
        <p:spPr>
          <a:xfrm>
            <a:off x="1489099" y="53135"/>
            <a:ext cx="9549689" cy="67517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8955961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29E21FE-4097-C9CD-F917-05B810FB57A9}"/>
              </a:ext>
            </a:extLst>
          </p:cNvPr>
          <p:cNvSpPr>
            <a:spLocks noGrp="1"/>
          </p:cNvSpPr>
          <p:nvPr>
            <p:ph type="body" idx="1"/>
          </p:nvPr>
        </p:nvSpPr>
        <p:spPr/>
        <p:txBody>
          <a:bodyPr lIns="45719" tIns="45720" rIns="45719" bIns="45720" anchor="t">
            <a:normAutofit/>
          </a:bodyPr>
          <a:lstStyle/>
          <a:p>
            <a:pPr marL="383540" indent="-383540"/>
            <a:r>
              <a:rPr lang="en-GB"/>
              <a:t>Feature Importance depicts the columns that contributed towards the Depression indication and according to the chart, the diagnosis of the patient's medical history has the greater feature importance out of all the NAMCS features provided.</a:t>
            </a:r>
          </a:p>
        </p:txBody>
      </p:sp>
      <p:sp>
        <p:nvSpPr>
          <p:cNvPr id="5" name="Title 4">
            <a:extLst>
              <a:ext uri="{FF2B5EF4-FFF2-40B4-BE49-F238E27FC236}">
                <a16:creationId xmlns:a16="http://schemas.microsoft.com/office/drawing/2014/main" id="{349FA291-CC25-4D83-0FD2-1476B71C0632}"/>
              </a:ext>
            </a:extLst>
          </p:cNvPr>
          <p:cNvSpPr>
            <a:spLocks noGrp="1"/>
          </p:cNvSpPr>
          <p:nvPr>
            <p:ph type="title"/>
          </p:nvPr>
        </p:nvSpPr>
        <p:spPr>
          <a:xfrm>
            <a:off x="1371600" y="685800"/>
            <a:ext cx="9601200" cy="973318"/>
          </a:xfrm>
        </p:spPr>
        <p:txBody>
          <a:bodyPr/>
          <a:lstStyle/>
          <a:p>
            <a:r>
              <a:rPr lang="en-GB">
                <a:latin typeface="Times New Roman" panose="02020603050405020304" pitchFamily="18" charset="0"/>
                <a:cs typeface="Times New Roman" panose="02020603050405020304" pitchFamily="18" charset="0"/>
              </a:rPr>
              <a:t>FEATURE IMPORTANCE</a:t>
            </a:r>
          </a:p>
        </p:txBody>
      </p:sp>
    </p:spTree>
    <p:extLst>
      <p:ext uri="{BB962C8B-B14F-4D97-AF65-F5344CB8AC3E}">
        <p14:creationId xmlns:p14="http://schemas.microsoft.com/office/powerpoint/2010/main" val="70721122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10;&#10;Description automatically generated">
            <a:extLst>
              <a:ext uri="{FF2B5EF4-FFF2-40B4-BE49-F238E27FC236}">
                <a16:creationId xmlns:a16="http://schemas.microsoft.com/office/drawing/2014/main" id="{04A9B5B1-9964-73F9-DE40-DD0B3ED6C205}"/>
              </a:ext>
            </a:extLst>
          </p:cNvPr>
          <p:cNvPicPr>
            <a:picLocks noChangeAspect="1"/>
          </p:cNvPicPr>
          <p:nvPr/>
        </p:nvPicPr>
        <p:blipFill>
          <a:blip r:embed="rId2"/>
          <a:stretch>
            <a:fillRect/>
          </a:stretch>
        </p:blipFill>
        <p:spPr>
          <a:xfrm>
            <a:off x="1558808" y="472244"/>
            <a:ext cx="10216410" cy="5919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5674888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line chart&#10;&#10;Description automatically generated">
            <a:extLst>
              <a:ext uri="{FF2B5EF4-FFF2-40B4-BE49-F238E27FC236}">
                <a16:creationId xmlns:a16="http://schemas.microsoft.com/office/drawing/2014/main" id="{F7E58DEC-CDB1-C641-9CCD-AC633AB4AF63}"/>
              </a:ext>
            </a:extLst>
          </p:cNvPr>
          <p:cNvPicPr>
            <a:picLocks noChangeAspect="1"/>
          </p:cNvPicPr>
          <p:nvPr/>
        </p:nvPicPr>
        <p:blipFill>
          <a:blip r:embed="rId2"/>
          <a:stretch>
            <a:fillRect/>
          </a:stretch>
        </p:blipFill>
        <p:spPr>
          <a:xfrm>
            <a:off x="1017881" y="1415845"/>
            <a:ext cx="4982162" cy="33395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descr="Chart, line chart&#10;&#10;Description automatically generated">
            <a:extLst>
              <a:ext uri="{FF2B5EF4-FFF2-40B4-BE49-F238E27FC236}">
                <a16:creationId xmlns:a16="http://schemas.microsoft.com/office/drawing/2014/main" id="{5FCBFBC9-AE03-1FD4-1DF3-001BD82B0B6F}"/>
              </a:ext>
            </a:extLst>
          </p:cNvPr>
          <p:cNvPicPr>
            <a:picLocks noChangeAspect="1"/>
          </p:cNvPicPr>
          <p:nvPr/>
        </p:nvPicPr>
        <p:blipFill>
          <a:blip r:embed="rId3"/>
          <a:stretch>
            <a:fillRect/>
          </a:stretch>
        </p:blipFill>
        <p:spPr>
          <a:xfrm>
            <a:off x="6634103" y="1451751"/>
            <a:ext cx="5038607" cy="32865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95AD20BF-633B-574E-CC6C-255DC261458B}"/>
              </a:ext>
            </a:extLst>
          </p:cNvPr>
          <p:cNvSpPr txBox="1"/>
          <p:nvPr/>
        </p:nvSpPr>
        <p:spPr>
          <a:xfrm>
            <a:off x="8339666" y="1128889"/>
            <a:ext cx="34829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GB"/>
              <a:t>ROC Curve for </a:t>
            </a:r>
            <a:r>
              <a:rPr lang="en-GB" err="1"/>
              <a:t>namcs</a:t>
            </a:r>
            <a:endParaRPr kumimoji="0" lang="en-GB" sz="1800" b="0" i="0" u="none" strike="noStrike" cap="none" spc="0" normalizeH="0" baseline="0" err="1">
              <a:ln>
                <a:noFill/>
              </a:ln>
              <a:solidFill>
                <a:srgbClr val="000000"/>
              </a:solidFill>
              <a:effectLst/>
              <a:uFillTx/>
              <a:latin typeface="+mj-lt"/>
              <a:ea typeface="+mj-ea"/>
              <a:cs typeface="+mj-cs"/>
              <a:sym typeface="Franklin Gothic Book"/>
            </a:endParaRPr>
          </a:p>
        </p:txBody>
      </p:sp>
    </p:spTree>
    <p:extLst>
      <p:ext uri="{BB962C8B-B14F-4D97-AF65-F5344CB8AC3E}">
        <p14:creationId xmlns:p14="http://schemas.microsoft.com/office/powerpoint/2010/main" val="341097601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 email&#10;&#10;Description automatically generated">
            <a:extLst>
              <a:ext uri="{FF2B5EF4-FFF2-40B4-BE49-F238E27FC236}">
                <a16:creationId xmlns:a16="http://schemas.microsoft.com/office/drawing/2014/main" id="{A16F6994-564B-E202-1B1B-9158C122DC65}"/>
              </a:ext>
            </a:extLst>
          </p:cNvPr>
          <p:cNvPicPr>
            <a:picLocks noChangeAspect="1"/>
          </p:cNvPicPr>
          <p:nvPr/>
        </p:nvPicPr>
        <p:blipFill>
          <a:blip r:embed="rId2"/>
          <a:stretch>
            <a:fillRect/>
          </a:stretch>
        </p:blipFill>
        <p:spPr>
          <a:xfrm>
            <a:off x="999066" y="732571"/>
            <a:ext cx="11012309" cy="22884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Graphical user interface, text, application, email&#10;&#10;Description automatically generated">
            <a:extLst>
              <a:ext uri="{FF2B5EF4-FFF2-40B4-BE49-F238E27FC236}">
                <a16:creationId xmlns:a16="http://schemas.microsoft.com/office/drawing/2014/main" id="{6FCAC40A-B489-338C-FB35-BC361C7A56C6}"/>
              </a:ext>
            </a:extLst>
          </p:cNvPr>
          <p:cNvPicPr>
            <a:picLocks noChangeAspect="1"/>
          </p:cNvPicPr>
          <p:nvPr/>
        </p:nvPicPr>
        <p:blipFill>
          <a:blip r:embed="rId3"/>
          <a:stretch>
            <a:fillRect/>
          </a:stretch>
        </p:blipFill>
        <p:spPr>
          <a:xfrm>
            <a:off x="999068" y="3426178"/>
            <a:ext cx="11012309" cy="22916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9677357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C370D442-B4B4-FF74-3058-2148CFB7FBBA}"/>
              </a:ext>
            </a:extLst>
          </p:cNvPr>
          <p:cNvPicPr>
            <a:picLocks noChangeAspect="1"/>
          </p:cNvPicPr>
          <p:nvPr/>
        </p:nvPicPr>
        <p:blipFill>
          <a:blip r:embed="rId2"/>
          <a:stretch>
            <a:fillRect/>
          </a:stretch>
        </p:blipFill>
        <p:spPr>
          <a:xfrm>
            <a:off x="1761144" y="687811"/>
            <a:ext cx="8942682" cy="54823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49770272"/>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10;&#10;Description automatically generated">
            <a:extLst>
              <a:ext uri="{FF2B5EF4-FFF2-40B4-BE49-F238E27FC236}">
                <a16:creationId xmlns:a16="http://schemas.microsoft.com/office/drawing/2014/main" id="{768C83FE-88C9-6169-D088-E5A9A696F2FC}"/>
              </a:ext>
            </a:extLst>
          </p:cNvPr>
          <p:cNvPicPr>
            <a:picLocks noChangeAspect="1"/>
          </p:cNvPicPr>
          <p:nvPr/>
        </p:nvPicPr>
        <p:blipFill>
          <a:blip r:embed="rId2"/>
          <a:stretch>
            <a:fillRect/>
          </a:stretch>
        </p:blipFill>
        <p:spPr>
          <a:xfrm>
            <a:off x="2909042" y="313454"/>
            <a:ext cx="7196492" cy="62310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274096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line chart&#10;&#10;Description automatically generated">
            <a:extLst>
              <a:ext uri="{FF2B5EF4-FFF2-40B4-BE49-F238E27FC236}">
                <a16:creationId xmlns:a16="http://schemas.microsoft.com/office/drawing/2014/main" id="{624695F7-8F84-DAC5-8D74-DBD0A9C31C75}"/>
              </a:ext>
            </a:extLst>
          </p:cNvPr>
          <p:cNvPicPr>
            <a:picLocks noChangeAspect="1"/>
          </p:cNvPicPr>
          <p:nvPr/>
        </p:nvPicPr>
        <p:blipFill>
          <a:blip r:embed="rId2"/>
          <a:stretch>
            <a:fillRect/>
          </a:stretch>
        </p:blipFill>
        <p:spPr>
          <a:xfrm>
            <a:off x="1140177" y="1531915"/>
            <a:ext cx="5019791" cy="3502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descr="Chart, line chart&#10;&#10;Description automatically generated">
            <a:extLst>
              <a:ext uri="{FF2B5EF4-FFF2-40B4-BE49-F238E27FC236}">
                <a16:creationId xmlns:a16="http://schemas.microsoft.com/office/drawing/2014/main" id="{49ED249F-C62D-C6E8-D548-D82CB4725937}"/>
              </a:ext>
            </a:extLst>
          </p:cNvPr>
          <p:cNvPicPr>
            <a:picLocks noChangeAspect="1"/>
          </p:cNvPicPr>
          <p:nvPr/>
        </p:nvPicPr>
        <p:blipFill>
          <a:blip r:embed="rId3"/>
          <a:stretch>
            <a:fillRect/>
          </a:stretch>
        </p:blipFill>
        <p:spPr>
          <a:xfrm>
            <a:off x="6445955" y="1490855"/>
            <a:ext cx="5526086" cy="35425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14333017"/>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4D36DD-EE26-5087-F5CA-0B1CE7D2F05D}"/>
              </a:ext>
            </a:extLst>
          </p:cNvPr>
          <p:cNvSpPr txBox="1"/>
          <p:nvPr/>
        </p:nvSpPr>
        <p:spPr>
          <a:xfrm>
            <a:off x="1410916" y="481724"/>
            <a:ext cx="8365419"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2800" b="1">
                <a:latin typeface="Times New Roman"/>
                <a:cs typeface="Times New Roman"/>
              </a:rPr>
              <a:t>Random Forest Classifier – NAMCS dataset</a:t>
            </a:r>
            <a:endParaRPr kumimoji="0" lang="en-US" sz="2800" b="1" i="0" u="none" strike="noStrike" cap="none" spc="0" normalizeH="0" baseline="0">
              <a:ln>
                <a:noFill/>
              </a:ln>
              <a:solidFill>
                <a:srgbClr val="000000"/>
              </a:solidFill>
              <a:effectLst/>
              <a:uFillTx/>
              <a:latin typeface="Times New Roman"/>
              <a:cs typeface="Times New Roman"/>
              <a:sym typeface="Franklin Gothic Book"/>
            </a:endParaRPr>
          </a:p>
        </p:txBody>
      </p:sp>
      <p:pic>
        <p:nvPicPr>
          <p:cNvPr id="5" name="Picture 5" descr="Graphical user interface, text, application&#10;&#10;Description automatically generated">
            <a:extLst>
              <a:ext uri="{FF2B5EF4-FFF2-40B4-BE49-F238E27FC236}">
                <a16:creationId xmlns:a16="http://schemas.microsoft.com/office/drawing/2014/main" id="{24B6E9A0-6306-B8B1-50AD-9859C6538704}"/>
              </a:ext>
            </a:extLst>
          </p:cNvPr>
          <p:cNvPicPr>
            <a:picLocks noChangeAspect="1"/>
          </p:cNvPicPr>
          <p:nvPr/>
        </p:nvPicPr>
        <p:blipFill>
          <a:blip r:embed="rId2"/>
          <a:stretch>
            <a:fillRect/>
          </a:stretch>
        </p:blipFill>
        <p:spPr>
          <a:xfrm>
            <a:off x="1290697" y="1146185"/>
            <a:ext cx="9300162" cy="8779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descr="Graphical user interface, text, application, email&#10;&#10;Description automatically generated">
            <a:extLst>
              <a:ext uri="{FF2B5EF4-FFF2-40B4-BE49-F238E27FC236}">
                <a16:creationId xmlns:a16="http://schemas.microsoft.com/office/drawing/2014/main" id="{72C22FF5-24B3-2E05-AE00-09F0F89A368A}"/>
              </a:ext>
            </a:extLst>
          </p:cNvPr>
          <p:cNvPicPr>
            <a:picLocks noChangeAspect="1"/>
          </p:cNvPicPr>
          <p:nvPr/>
        </p:nvPicPr>
        <p:blipFill>
          <a:blip r:embed="rId3"/>
          <a:stretch>
            <a:fillRect/>
          </a:stretch>
        </p:blipFill>
        <p:spPr>
          <a:xfrm>
            <a:off x="1290697" y="2614375"/>
            <a:ext cx="9478902" cy="28883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1972262"/>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graphical user interface&#10;&#10;Description automatically generated">
            <a:extLst>
              <a:ext uri="{FF2B5EF4-FFF2-40B4-BE49-F238E27FC236}">
                <a16:creationId xmlns:a16="http://schemas.microsoft.com/office/drawing/2014/main" id="{84CF93EB-961A-A7AC-D958-CD3A4A0972C3}"/>
              </a:ext>
            </a:extLst>
          </p:cNvPr>
          <p:cNvPicPr>
            <a:picLocks noChangeAspect="1"/>
          </p:cNvPicPr>
          <p:nvPr/>
        </p:nvPicPr>
        <p:blipFill>
          <a:blip r:embed="rId2"/>
          <a:stretch>
            <a:fillRect/>
          </a:stretch>
        </p:blipFill>
        <p:spPr>
          <a:xfrm>
            <a:off x="1704623" y="336868"/>
            <a:ext cx="8923865" cy="62783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5953445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4ED8F832-996C-B6CE-35CE-9E191CCFAE07}"/>
              </a:ext>
            </a:extLst>
          </p:cNvPr>
          <p:cNvPicPr>
            <a:picLocks noChangeAspect="1"/>
          </p:cNvPicPr>
          <p:nvPr/>
        </p:nvPicPr>
        <p:blipFill>
          <a:blip r:embed="rId2"/>
          <a:stretch>
            <a:fillRect/>
          </a:stretch>
        </p:blipFill>
        <p:spPr>
          <a:xfrm>
            <a:off x="1450623" y="705947"/>
            <a:ext cx="9318977" cy="54649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5863361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line chart&#10;&#10;Description automatically generated">
            <a:extLst>
              <a:ext uri="{FF2B5EF4-FFF2-40B4-BE49-F238E27FC236}">
                <a16:creationId xmlns:a16="http://schemas.microsoft.com/office/drawing/2014/main" id="{E670C116-D6C8-5EBC-608D-4072A7156E88}"/>
              </a:ext>
            </a:extLst>
          </p:cNvPr>
          <p:cNvPicPr>
            <a:picLocks noChangeAspect="1"/>
          </p:cNvPicPr>
          <p:nvPr/>
        </p:nvPicPr>
        <p:blipFill>
          <a:blip r:embed="rId2"/>
          <a:stretch>
            <a:fillRect/>
          </a:stretch>
        </p:blipFill>
        <p:spPr>
          <a:xfrm>
            <a:off x="1149585" y="1550867"/>
            <a:ext cx="5424311" cy="33705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Chart, line chart&#10;&#10;Description automatically generated">
            <a:extLst>
              <a:ext uri="{FF2B5EF4-FFF2-40B4-BE49-F238E27FC236}">
                <a16:creationId xmlns:a16="http://schemas.microsoft.com/office/drawing/2014/main" id="{0EB55494-7C37-C089-A82E-FFEFBD0D174D}"/>
              </a:ext>
            </a:extLst>
          </p:cNvPr>
          <p:cNvPicPr>
            <a:picLocks noChangeAspect="1"/>
          </p:cNvPicPr>
          <p:nvPr/>
        </p:nvPicPr>
        <p:blipFill>
          <a:blip r:embed="rId3"/>
          <a:stretch>
            <a:fillRect/>
          </a:stretch>
        </p:blipFill>
        <p:spPr>
          <a:xfrm>
            <a:off x="6944548" y="1552607"/>
            <a:ext cx="5095051" cy="33670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1249152"/>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 email&#10;&#10;Description automatically generated">
            <a:extLst>
              <a:ext uri="{FF2B5EF4-FFF2-40B4-BE49-F238E27FC236}">
                <a16:creationId xmlns:a16="http://schemas.microsoft.com/office/drawing/2014/main" id="{8046F223-03B7-ABEC-6BAA-9FE389859A0F}"/>
              </a:ext>
            </a:extLst>
          </p:cNvPr>
          <p:cNvPicPr>
            <a:picLocks noChangeAspect="1"/>
          </p:cNvPicPr>
          <p:nvPr/>
        </p:nvPicPr>
        <p:blipFill>
          <a:blip r:embed="rId2"/>
          <a:stretch>
            <a:fillRect/>
          </a:stretch>
        </p:blipFill>
        <p:spPr>
          <a:xfrm>
            <a:off x="2137363" y="707011"/>
            <a:ext cx="9269070" cy="5514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8437365"/>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7B98ADC9-359E-E15C-CFDA-BB93A5577177}"/>
              </a:ext>
            </a:extLst>
          </p:cNvPr>
          <p:cNvPicPr>
            <a:picLocks noChangeAspect="1"/>
          </p:cNvPicPr>
          <p:nvPr/>
        </p:nvPicPr>
        <p:blipFill>
          <a:blip r:embed="rId2"/>
          <a:stretch>
            <a:fillRect/>
          </a:stretch>
        </p:blipFill>
        <p:spPr>
          <a:xfrm>
            <a:off x="1958623" y="31531"/>
            <a:ext cx="8519347" cy="67855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94542763"/>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90710BB8-C676-E591-A04A-567C933B46D3}"/>
              </a:ext>
            </a:extLst>
          </p:cNvPr>
          <p:cNvPicPr>
            <a:picLocks noChangeAspect="1"/>
          </p:cNvPicPr>
          <p:nvPr/>
        </p:nvPicPr>
        <p:blipFill>
          <a:blip r:embed="rId2"/>
          <a:stretch>
            <a:fillRect/>
          </a:stretch>
        </p:blipFill>
        <p:spPr>
          <a:xfrm>
            <a:off x="1140178" y="528865"/>
            <a:ext cx="10466681" cy="6129530"/>
          </a:xfrm>
          <a:prstGeom prst="rect">
            <a:avLst/>
          </a:prstGeom>
        </p:spPr>
      </p:pic>
    </p:spTree>
    <p:extLst>
      <p:ext uri="{BB962C8B-B14F-4D97-AF65-F5344CB8AC3E}">
        <p14:creationId xmlns:p14="http://schemas.microsoft.com/office/powerpoint/2010/main" val="2405874194"/>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line chart&#10;&#10;Description automatically generated">
            <a:extLst>
              <a:ext uri="{FF2B5EF4-FFF2-40B4-BE49-F238E27FC236}">
                <a16:creationId xmlns:a16="http://schemas.microsoft.com/office/drawing/2014/main" id="{59F604F1-0B63-17F8-CD6C-AF880B59941A}"/>
              </a:ext>
            </a:extLst>
          </p:cNvPr>
          <p:cNvPicPr>
            <a:picLocks noChangeAspect="1"/>
          </p:cNvPicPr>
          <p:nvPr/>
        </p:nvPicPr>
        <p:blipFill>
          <a:blip r:embed="rId2"/>
          <a:stretch>
            <a:fillRect/>
          </a:stretch>
        </p:blipFill>
        <p:spPr>
          <a:xfrm>
            <a:off x="848548" y="1405008"/>
            <a:ext cx="5414904" cy="3775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5" descr="Chart, line chart&#10;&#10;Description automatically generated">
            <a:extLst>
              <a:ext uri="{FF2B5EF4-FFF2-40B4-BE49-F238E27FC236}">
                <a16:creationId xmlns:a16="http://schemas.microsoft.com/office/drawing/2014/main" id="{80157A3A-6F7B-6019-A4F3-6E0004D5AF3F}"/>
              </a:ext>
            </a:extLst>
          </p:cNvPr>
          <p:cNvPicPr>
            <a:picLocks noChangeAspect="1"/>
          </p:cNvPicPr>
          <p:nvPr/>
        </p:nvPicPr>
        <p:blipFill>
          <a:blip r:embed="rId3"/>
          <a:stretch>
            <a:fillRect/>
          </a:stretch>
        </p:blipFill>
        <p:spPr>
          <a:xfrm>
            <a:off x="6417733" y="1367216"/>
            <a:ext cx="5734755" cy="38131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5031774"/>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AAD9-40D5-CF5A-A23A-5CC663CDE004}"/>
              </a:ext>
            </a:extLst>
          </p:cNvPr>
          <p:cNvSpPr>
            <a:spLocks noGrp="1"/>
          </p:cNvSpPr>
          <p:nvPr>
            <p:ph type="title"/>
          </p:nvPr>
        </p:nvSpPr>
        <p:spPr/>
        <p:txBody>
          <a:bodyPr lIns="45719" tIns="45720" rIns="45719" bIns="45720" anchor="t">
            <a:normAutofit/>
          </a:bodyPr>
          <a:lstStyle/>
          <a:p>
            <a:r>
              <a:rPr lang="en-US">
                <a:latin typeface="Times New Roman"/>
                <a:cs typeface="Times New Roman"/>
              </a:rPr>
              <a:t>Findings</a:t>
            </a:r>
            <a:endParaRPr lang="en-US">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B95067F-044A-D19E-DBB0-73A56322742D}"/>
              </a:ext>
            </a:extLst>
          </p:cNvPr>
          <p:cNvSpPr>
            <a:spLocks noGrp="1"/>
          </p:cNvSpPr>
          <p:nvPr>
            <p:ph type="body" idx="1"/>
          </p:nvPr>
        </p:nvSpPr>
        <p:spPr/>
        <p:txBody>
          <a:bodyPr lIns="45719" tIns="45720" rIns="45719" bIns="45720" anchor="t">
            <a:normAutofit lnSpcReduction="10000"/>
          </a:bodyPr>
          <a:lstStyle/>
          <a:p>
            <a:pPr marL="383540" indent="-383540"/>
            <a:r>
              <a:rPr lang="en-US" dirty="0"/>
              <a:t>Both models were able to provide good classification for the </a:t>
            </a:r>
            <a:r>
              <a:rPr lang="en-US"/>
              <a:t>nhanes</a:t>
            </a:r>
            <a:r>
              <a:rPr lang="en-US" dirty="0"/>
              <a:t> and namcs datasets.</a:t>
            </a:r>
          </a:p>
          <a:p>
            <a:pPr marL="383540" indent="-383540"/>
            <a:r>
              <a:rPr lang="en-US" dirty="0"/>
              <a:t>The namcs data was able to provide better classification for the </a:t>
            </a:r>
            <a:r>
              <a:rPr lang="en-US"/>
              <a:t>Depression </a:t>
            </a:r>
            <a:r>
              <a:rPr lang="en-US" dirty="0"/>
              <a:t>as compared to </a:t>
            </a:r>
            <a:r>
              <a:rPr lang="en-US"/>
              <a:t>NHANES </a:t>
            </a:r>
            <a:r>
              <a:rPr lang="en-US" dirty="0"/>
              <a:t>survey data.</a:t>
            </a:r>
          </a:p>
          <a:p>
            <a:pPr marL="383540" indent="-383540"/>
            <a:r>
              <a:rPr lang="en-US" dirty="0"/>
              <a:t>The diagnosis codes were able to provide a good deal of information to the model to enable the Depression Indicator.</a:t>
            </a:r>
          </a:p>
          <a:p>
            <a:pPr marL="383540" indent="-383540"/>
            <a:r>
              <a:rPr lang="en-US" dirty="0"/>
              <a:t>There was found to be a decrease in the depression cases in the </a:t>
            </a:r>
            <a:r>
              <a:rPr lang="en-US"/>
              <a:t>nhanes</a:t>
            </a:r>
            <a:r>
              <a:rPr lang="en-US" dirty="0"/>
              <a:t> dataset as compared to namcs dataset. Hence, we reject the null hypothesis as there is </a:t>
            </a:r>
            <a:r>
              <a:rPr lang="en-US"/>
              <a:t>substantiating </a:t>
            </a:r>
            <a:r>
              <a:rPr lang="en-US" dirty="0"/>
              <a:t>evidence to do so.</a:t>
            </a:r>
          </a:p>
          <a:p>
            <a:pPr marL="383540" indent="-383540"/>
            <a:r>
              <a:rPr lang="en-US" dirty="0"/>
              <a:t>A person in the </a:t>
            </a:r>
            <a:r>
              <a:rPr lang="en-US"/>
              <a:t>NAMCS </a:t>
            </a:r>
            <a:r>
              <a:rPr lang="en-US" dirty="0"/>
              <a:t>dataset has higher chance of being detected for depression compared to a person who was surveyed in </a:t>
            </a:r>
            <a:r>
              <a:rPr lang="en-US"/>
              <a:t>NHANES.</a:t>
            </a:r>
            <a:endParaRPr lang="en-US" dirty="0"/>
          </a:p>
        </p:txBody>
      </p:sp>
    </p:spTree>
    <p:extLst>
      <p:ext uri="{BB962C8B-B14F-4D97-AF65-F5344CB8AC3E}">
        <p14:creationId xmlns:p14="http://schemas.microsoft.com/office/powerpoint/2010/main" val="2262463475"/>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6FA5-E423-10D7-A5D4-68BB5E0A45D8}"/>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8B32FA02-3202-5CE4-3248-C16285773A2E}"/>
              </a:ext>
            </a:extLst>
          </p:cNvPr>
          <p:cNvSpPr>
            <a:spLocks noGrp="1"/>
          </p:cNvSpPr>
          <p:nvPr>
            <p:ph type="body" idx="1"/>
          </p:nvPr>
        </p:nvSpPr>
        <p:spPr/>
        <p:txBody>
          <a:bodyPr lIns="45719" tIns="45720" rIns="45719" bIns="45720" anchor="t">
            <a:normAutofit/>
          </a:bodyPr>
          <a:lstStyle/>
          <a:p>
            <a:r>
              <a:rPr lang="en-US" dirty="0"/>
              <a:t>Hypothesis testing supported the rejection of the null hypothesis</a:t>
            </a:r>
          </a:p>
          <a:p>
            <a:r>
              <a:rPr lang="en-US" dirty="0"/>
              <a:t>This project was able to demonstrate multiple factors impacting depression and the providers who report depression.</a:t>
            </a:r>
          </a:p>
          <a:p>
            <a:r>
              <a:rPr lang="en-US" dirty="0"/>
              <a:t>A model was established to support the further development of a survey that can be used to further develop a depression indicator.</a:t>
            </a:r>
          </a:p>
          <a:p>
            <a:pPr marL="0" indent="0">
              <a:buNone/>
            </a:pPr>
            <a:endParaRPr lang="en-US" dirty="0"/>
          </a:p>
        </p:txBody>
      </p:sp>
    </p:spTree>
    <p:extLst>
      <p:ext uri="{BB962C8B-B14F-4D97-AF65-F5344CB8AC3E}">
        <p14:creationId xmlns:p14="http://schemas.microsoft.com/office/powerpoint/2010/main" val="1624020190"/>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93A1-7CD3-9157-1ED1-9663F8084102}"/>
              </a:ext>
            </a:extLst>
          </p:cNvPr>
          <p:cNvSpPr>
            <a:spLocks noGrp="1"/>
          </p:cNvSpPr>
          <p:nvPr>
            <p:ph type="title"/>
          </p:nvPr>
        </p:nvSpPr>
        <p:spPr/>
        <p:txBody>
          <a:bodyPr/>
          <a:lstStyle/>
          <a:p>
            <a:r>
              <a:rPr lang="en-US" dirty="0"/>
              <a:t>Limitations</a:t>
            </a:r>
          </a:p>
        </p:txBody>
      </p:sp>
      <p:sp>
        <p:nvSpPr>
          <p:cNvPr id="3" name="Text Placeholder 2">
            <a:extLst>
              <a:ext uri="{FF2B5EF4-FFF2-40B4-BE49-F238E27FC236}">
                <a16:creationId xmlns:a16="http://schemas.microsoft.com/office/drawing/2014/main" id="{8AF40AE0-2BEC-85AE-AE48-2EE70BF40BE5}"/>
              </a:ext>
            </a:extLst>
          </p:cNvPr>
          <p:cNvSpPr>
            <a:spLocks noGrp="1"/>
          </p:cNvSpPr>
          <p:nvPr>
            <p:ph type="body" idx="1"/>
          </p:nvPr>
        </p:nvSpPr>
        <p:spPr/>
        <p:txBody>
          <a:bodyPr lIns="45719" tIns="45720" rIns="45719" bIns="45720" anchor="t">
            <a:normAutofit/>
          </a:bodyPr>
          <a:lstStyle/>
          <a:p>
            <a:pPr marL="383540" indent="-383540"/>
            <a:r>
              <a:rPr lang="en-US" dirty="0">
                <a:ea typeface="+mj-lt"/>
                <a:cs typeface="+mj-lt"/>
              </a:rPr>
              <a:t>We used </a:t>
            </a:r>
            <a:r>
              <a:rPr lang="en-US" dirty="0" err="1">
                <a:ea typeface="+mj-lt"/>
                <a:cs typeface="+mj-lt"/>
              </a:rPr>
              <a:t>XGBoost</a:t>
            </a:r>
            <a:r>
              <a:rPr lang="en-US" dirty="0">
                <a:ea typeface="+mj-lt"/>
                <a:cs typeface="+mj-lt"/>
              </a:rPr>
              <a:t> and Random Forest instead of SVM because they provide more explanatory power for the datasets we used.</a:t>
            </a:r>
          </a:p>
          <a:p>
            <a:pPr marL="383540" indent="-383540"/>
            <a:r>
              <a:rPr lang="en-US" dirty="0">
                <a:ea typeface="+mj-lt"/>
                <a:cs typeface="+mj-lt"/>
              </a:rPr>
              <a:t>Findings are from two datasets taken from two populations. Conclusions from each set cannot be extrapolated to the other set without further testing.</a:t>
            </a:r>
          </a:p>
          <a:p>
            <a:pPr marL="383540" indent="-383540"/>
            <a:r>
              <a:rPr lang="en-US" dirty="0">
                <a:ea typeface="+mj-lt"/>
                <a:cs typeface="+mj-lt"/>
              </a:rPr>
              <a:t>The datasets are from 2018, collected in 2017. Covid limited more recent data collection.  Findings may not represent most resent environments and populations.</a:t>
            </a:r>
          </a:p>
          <a:p>
            <a:pPr marL="0" indent="0">
              <a:buNone/>
            </a:pPr>
            <a:endParaRPr lang="en-US" dirty="0"/>
          </a:p>
        </p:txBody>
      </p:sp>
    </p:spTree>
    <p:extLst>
      <p:ext uri="{BB962C8B-B14F-4D97-AF65-F5344CB8AC3E}">
        <p14:creationId xmlns:p14="http://schemas.microsoft.com/office/powerpoint/2010/main" val="3532900565"/>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7FE3-EACF-8918-616E-AA1235418362}"/>
              </a:ext>
            </a:extLst>
          </p:cNvPr>
          <p:cNvSpPr>
            <a:spLocks noGrp="1"/>
          </p:cNvSpPr>
          <p:nvPr>
            <p:ph type="title"/>
          </p:nvPr>
        </p:nvSpPr>
        <p:spPr>
          <a:xfrm>
            <a:off x="1292760" y="1358187"/>
            <a:ext cx="4124226" cy="1485900"/>
          </a:xfrm>
        </p:spPr>
        <p:txBody>
          <a:bodyPr/>
          <a:lstStyle/>
          <a:p>
            <a:r>
              <a:rPr lang="en-US" dirty="0"/>
              <a:t>Project Management</a:t>
            </a:r>
          </a:p>
        </p:txBody>
      </p:sp>
      <p:sp>
        <p:nvSpPr>
          <p:cNvPr id="3" name="Text Placeholder 2">
            <a:extLst>
              <a:ext uri="{FF2B5EF4-FFF2-40B4-BE49-F238E27FC236}">
                <a16:creationId xmlns:a16="http://schemas.microsoft.com/office/drawing/2014/main" id="{6469E427-6C4A-0AF5-1065-8A61C09806EA}"/>
              </a:ext>
            </a:extLst>
          </p:cNvPr>
          <p:cNvSpPr>
            <a:spLocks noGrp="1"/>
          </p:cNvSpPr>
          <p:nvPr>
            <p:ph type="body" sz="quarter" idx="1"/>
          </p:nvPr>
        </p:nvSpPr>
        <p:spPr>
          <a:xfrm>
            <a:off x="6615135" y="3921045"/>
            <a:ext cx="4580626" cy="1920431"/>
          </a:xfrm>
        </p:spPr>
        <p:txBody>
          <a:bodyPr lIns="45719" tIns="45720" rIns="45719" bIns="45720" anchor="b">
            <a:normAutofit lnSpcReduction="10000"/>
          </a:bodyPr>
          <a:lstStyle/>
          <a:p>
            <a:r>
              <a:rPr lang="en-US" sz="1800" dirty="0"/>
              <a:t>Challenges: </a:t>
            </a:r>
          </a:p>
          <a:p>
            <a:pPr marL="457200" indent="-457200">
              <a:buFont typeface="Arial" panose="020B0604020202020204" pitchFamily="34" charset="0"/>
              <a:buChar char="•"/>
            </a:pPr>
            <a:r>
              <a:rPr lang="en-US" sz="1800" dirty="0">
                <a:latin typeface="Times New Roman"/>
                <a:cs typeface="Times New Roman"/>
              </a:rPr>
              <a:t>Datasets complex and difficult to convert from XPT</a:t>
            </a:r>
          </a:p>
          <a:p>
            <a:pPr marL="457200" indent="-457200">
              <a:buFont typeface="Arial" panose="020B0604020202020204" pitchFamily="34" charset="0"/>
              <a:buChar char="•"/>
            </a:pPr>
            <a:r>
              <a:rPr lang="en-US" sz="1800" dirty="0">
                <a:latin typeface="Times New Roman"/>
                <a:cs typeface="Times New Roman"/>
              </a:rPr>
              <a:t>Two datasets increased complexity</a:t>
            </a:r>
          </a:p>
          <a:p>
            <a:pPr marL="457200" indent="-457200">
              <a:buFont typeface="Arial" panose="020B0604020202020204" pitchFamily="34" charset="0"/>
              <a:buChar char="•"/>
            </a:pPr>
            <a:r>
              <a:rPr lang="en-US" sz="1800" dirty="0">
                <a:latin typeface="Times New Roman"/>
                <a:cs typeface="Times New Roman"/>
              </a:rPr>
              <a:t>Most variables were categorical challenging the analysis</a:t>
            </a:r>
          </a:p>
          <a:p>
            <a:pPr marL="457200" indent="-457200">
              <a:buFont typeface="Arial" panose="020B0604020202020204" pitchFamily="34" charset="0"/>
              <a:buChar char="•"/>
            </a:pPr>
            <a:r>
              <a:rPr lang="en-US" sz="1800" dirty="0" err="1">
                <a:solidFill>
                  <a:srgbClr val="FF0000"/>
                </a:solidFill>
                <a:latin typeface="Times New Roman"/>
                <a:cs typeface="Times New Roman"/>
              </a:rPr>
              <a:t>Phpmyadmin</a:t>
            </a:r>
            <a:r>
              <a:rPr lang="en-US" sz="1800" dirty="0">
                <a:solidFill>
                  <a:srgbClr val="FF0000"/>
                </a:solidFill>
                <a:latin typeface="Times New Roman"/>
                <a:cs typeface="Times New Roman"/>
              </a:rPr>
              <a:t> site was challenging with these datasets</a:t>
            </a:r>
          </a:p>
        </p:txBody>
      </p:sp>
      <p:sp>
        <p:nvSpPr>
          <p:cNvPr id="4" name="Text Placeholder 3">
            <a:extLst>
              <a:ext uri="{FF2B5EF4-FFF2-40B4-BE49-F238E27FC236}">
                <a16:creationId xmlns:a16="http://schemas.microsoft.com/office/drawing/2014/main" id="{15E5E740-44E3-B011-D159-C8C3B9EAE103}"/>
              </a:ext>
            </a:extLst>
          </p:cNvPr>
          <p:cNvSpPr>
            <a:spLocks noGrp="1"/>
          </p:cNvSpPr>
          <p:nvPr>
            <p:ph type="body" sz="quarter" idx="13"/>
          </p:nvPr>
        </p:nvSpPr>
        <p:spPr>
          <a:xfrm>
            <a:off x="6615135" y="861648"/>
            <a:ext cx="4443985" cy="2478977"/>
          </a:xfrm>
        </p:spPr>
        <p:txBody>
          <a:bodyPr>
            <a:noAutofit/>
          </a:bodyPr>
          <a:lstStyle/>
          <a:p>
            <a:r>
              <a:rPr lang="en-US" sz="1400" dirty="0"/>
              <a:t>7-member team</a:t>
            </a:r>
          </a:p>
          <a:p>
            <a:r>
              <a:rPr lang="en-US" sz="1400" dirty="0"/>
              <a:t>Sub-teams-all members were lead of some aspect of a sub-team though-out the process</a:t>
            </a:r>
          </a:p>
          <a:p>
            <a:pPr lvl="1"/>
            <a:r>
              <a:rPr lang="en-US" sz="1400" dirty="0">
                <a:latin typeface="Times New Roman" panose="02020603050405020304" pitchFamily="18" charset="0"/>
                <a:cs typeface="Times New Roman" panose="02020603050405020304" pitchFamily="18" charset="0"/>
              </a:rPr>
              <a:t>Data Discovery &amp; Extractions</a:t>
            </a:r>
          </a:p>
          <a:p>
            <a:pPr lvl="1"/>
            <a:r>
              <a:rPr lang="en-US" sz="1400" dirty="0">
                <a:latin typeface="Times New Roman" panose="02020603050405020304" pitchFamily="18" charset="0"/>
                <a:cs typeface="Times New Roman" panose="02020603050405020304" pitchFamily="18" charset="0"/>
              </a:rPr>
              <a:t>Data Cleaning &amp; Engineering</a:t>
            </a:r>
          </a:p>
          <a:p>
            <a:pPr lvl="1"/>
            <a:r>
              <a:rPr lang="en-US" sz="1400" dirty="0">
                <a:latin typeface="Times New Roman" panose="02020603050405020304" pitchFamily="18" charset="0"/>
                <a:cs typeface="Times New Roman" panose="02020603050405020304" pitchFamily="18" charset="0"/>
              </a:rPr>
              <a:t>Machine Learning/Modeling</a:t>
            </a:r>
          </a:p>
          <a:p>
            <a:pPr lvl="1"/>
            <a:r>
              <a:rPr lang="en-US" sz="1400" dirty="0">
                <a:latin typeface="Times New Roman" panose="02020603050405020304" pitchFamily="18" charset="0"/>
                <a:cs typeface="Times New Roman" panose="02020603050405020304" pitchFamily="18" charset="0"/>
              </a:rPr>
              <a:t>Visualization</a:t>
            </a:r>
          </a:p>
          <a:p>
            <a:pPr lvl="1"/>
            <a:r>
              <a:rPr lang="en-US" sz="1400" dirty="0">
                <a:latin typeface="Times New Roman" panose="02020603050405020304" pitchFamily="18" charset="0"/>
                <a:cs typeface="Times New Roman" panose="02020603050405020304" pitchFamily="18" charset="0"/>
              </a:rPr>
              <a:t>Project Management</a:t>
            </a:r>
          </a:p>
        </p:txBody>
      </p:sp>
      <p:sp>
        <p:nvSpPr>
          <p:cNvPr id="5" name="Text Placeholder 3">
            <a:extLst>
              <a:ext uri="{FF2B5EF4-FFF2-40B4-BE49-F238E27FC236}">
                <a16:creationId xmlns:a16="http://schemas.microsoft.com/office/drawing/2014/main" id="{332AA1F9-2062-82E6-9A06-18B1161E4CD9}"/>
              </a:ext>
            </a:extLst>
          </p:cNvPr>
          <p:cNvSpPr txBox="1">
            <a:spLocks/>
          </p:cNvSpPr>
          <p:nvPr/>
        </p:nvSpPr>
        <p:spPr>
          <a:xfrm>
            <a:off x="1132881" y="3693223"/>
            <a:ext cx="4443985" cy="282892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b">
            <a:noAutofit/>
          </a:bodyPr>
          <a:lstStyle>
            <a:lvl1pPr marL="384047"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Times New Roman" panose="02020603050405020304" pitchFamily="18" charset="0"/>
                <a:ea typeface="+mj-ea"/>
                <a:cs typeface="Times New Roman" panose="02020603050405020304" pitchFamily="18" charset="0"/>
                <a:sym typeface="Franklin Gothic Book"/>
              </a:defRPr>
            </a:lvl1pPr>
            <a:lvl2pPr marL="914400" marR="0" indent="-384047"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2pPr>
            <a:lvl3pPr marL="14142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3pPr>
            <a:lvl4pPr marL="1871472" marR="0" indent="-42671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4pPr>
            <a:lvl5pPr marL="23820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5pPr>
            <a:lvl6pPr marL="2839211" marR="0" indent="-480060"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6pPr>
            <a:lvl7pPr marL="33649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7pPr>
            <a:lvl8pPr marL="38221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8pPr>
            <a:lvl9pPr marL="4279391" marR="0" indent="-548639" algn="l" defTabSz="914400" rtl="0" latinLnBrk="0">
              <a:lnSpc>
                <a:spcPct val="94000"/>
              </a:lnSpc>
              <a:spcBef>
                <a:spcPts val="1000"/>
              </a:spcBef>
              <a:spcAft>
                <a:spcPts val="0"/>
              </a:spcAft>
              <a:buClrTx/>
              <a:buSzPct val="100000"/>
              <a:buFont typeface="Helvetica Neue"/>
              <a:buChar char="■"/>
              <a:tabLst/>
              <a:defRPr sz="2000" b="0" i="0" u="none" strike="noStrike" cap="none" spc="0" baseline="0">
                <a:ln>
                  <a:noFill/>
                </a:ln>
                <a:solidFill>
                  <a:srgbClr val="191B0E"/>
                </a:solidFill>
                <a:uFillTx/>
                <a:latin typeface="+mj-lt"/>
                <a:ea typeface="+mj-ea"/>
                <a:cs typeface="+mj-cs"/>
                <a:sym typeface="Franklin Gothic Book"/>
              </a:defRPr>
            </a:lvl9pPr>
          </a:lstStyle>
          <a:p>
            <a:pPr hangingPunct="1"/>
            <a:r>
              <a:rPr lang="en-US" sz="1200">
                <a:latin typeface="Tahoma" panose="020B0604030504040204" pitchFamily="34" charset="0"/>
                <a:ea typeface="Tahoma" panose="020B0604030504040204" pitchFamily="34" charset="0"/>
                <a:cs typeface="Tahoma" panose="020B0604030504040204" pitchFamily="34" charset="0"/>
              </a:rPr>
              <a:t>Process</a:t>
            </a:r>
          </a:p>
          <a:p>
            <a:pPr lvl="1" hangingPunct="1"/>
            <a:r>
              <a:rPr lang="en-US" sz="1200">
                <a:latin typeface="Tahoma" panose="020B0604030504040204" pitchFamily="34" charset="0"/>
                <a:ea typeface="Tahoma" panose="020B0604030504040204" pitchFamily="34" charset="0"/>
                <a:cs typeface="Tahoma" panose="020B0604030504040204" pitchFamily="34" charset="0"/>
              </a:rPr>
              <a:t>Weekly Teams meetings 11am Fridays</a:t>
            </a:r>
          </a:p>
          <a:p>
            <a:pPr lvl="1" hangingPunct="1"/>
            <a:r>
              <a:rPr lang="en-US" sz="1200">
                <a:latin typeface="Tahoma" panose="020B0604030504040204" pitchFamily="34" charset="0"/>
                <a:ea typeface="Tahoma" panose="020B0604030504040204" pitchFamily="34" charset="0"/>
                <a:cs typeface="Tahoma" panose="020B0604030504040204" pitchFamily="34" charset="0"/>
              </a:rPr>
              <a:t>Teams / Canvas for file storage</a:t>
            </a:r>
          </a:p>
          <a:p>
            <a:pPr lvl="1" hangingPunct="1"/>
            <a:r>
              <a:rPr lang="en-US" sz="1200">
                <a:latin typeface="Tahoma" panose="020B0604030504040204" pitchFamily="34" charset="0"/>
                <a:ea typeface="Tahoma" panose="020B0604030504040204" pitchFamily="34" charset="0"/>
                <a:cs typeface="Tahoma" panose="020B0604030504040204" pitchFamily="34" charset="0"/>
              </a:rPr>
              <a:t>WhatsApp for daily direct communications</a:t>
            </a:r>
          </a:p>
          <a:p>
            <a:pPr lvl="1" hangingPunct="1"/>
            <a:r>
              <a:rPr lang="en-US" sz="1200">
                <a:latin typeface="Tahoma" panose="020B0604030504040204" pitchFamily="34" charset="0"/>
                <a:ea typeface="Tahoma" panose="020B0604030504040204" pitchFamily="34" charset="0"/>
                <a:cs typeface="Tahoma" panose="020B0604030504040204" pitchFamily="34" charset="0"/>
              </a:rPr>
              <a:t>Canvas for Official communications</a:t>
            </a:r>
          </a:p>
          <a:p>
            <a:pPr lvl="2" hangingPunct="1"/>
            <a:r>
              <a:rPr lang="en-US" sz="1200">
                <a:latin typeface="Tahoma" panose="020B0604030504040204" pitchFamily="34" charset="0"/>
                <a:ea typeface="Tahoma" panose="020B0604030504040204" pitchFamily="34" charset="0"/>
                <a:cs typeface="Tahoma" panose="020B0604030504040204" pitchFamily="34" charset="0"/>
              </a:rPr>
              <a:t>Announcements</a:t>
            </a:r>
          </a:p>
          <a:p>
            <a:pPr lvl="2" hangingPunct="1"/>
            <a:r>
              <a:rPr lang="en-US" sz="1200">
                <a:latin typeface="Tahoma" panose="020B0604030504040204" pitchFamily="34" charset="0"/>
                <a:ea typeface="Tahoma" panose="020B0604030504040204" pitchFamily="34" charset="0"/>
                <a:cs typeface="Tahoma" panose="020B0604030504040204" pitchFamily="34" charset="0"/>
              </a:rPr>
              <a:t>Communications with course staff/professor</a:t>
            </a:r>
          </a:p>
          <a:p>
            <a:pPr lvl="1" hangingPunct="1"/>
            <a:r>
              <a:rPr lang="en-US" sz="1200" err="1">
                <a:latin typeface="Tahoma" panose="020B0604030504040204" pitchFamily="34" charset="0"/>
                <a:ea typeface="Tahoma" panose="020B0604030504040204" pitchFamily="34" charset="0"/>
                <a:cs typeface="Tahoma" panose="020B0604030504040204" pitchFamily="34" charset="0"/>
              </a:rPr>
              <a:t>phpAdmin</a:t>
            </a:r>
            <a:r>
              <a:rPr lang="en-US" sz="1200">
                <a:latin typeface="Tahoma" panose="020B0604030504040204" pitchFamily="34" charset="0"/>
                <a:ea typeface="Tahoma" panose="020B0604030504040204" pitchFamily="34" charset="0"/>
                <a:cs typeface="Tahoma" panose="020B0604030504040204" pitchFamily="34" charset="0"/>
              </a:rPr>
              <a:t>(</a:t>
            </a:r>
            <a:r>
              <a:rPr lang="en-US" sz="1200" err="1">
                <a:latin typeface="Tahoma" panose="020B0604030504040204" pitchFamily="34" charset="0"/>
                <a:ea typeface="Tahoma" panose="020B0604030504040204" pitchFamily="34" charset="0"/>
                <a:cs typeface="Tahoma" panose="020B0604030504040204" pitchFamily="34" charset="0"/>
              </a:rPr>
              <a:t>mySQL</a:t>
            </a:r>
            <a:r>
              <a:rPr lang="en-US" sz="1200">
                <a:latin typeface="Tahoma" panose="020B0604030504040204" pitchFamily="34" charset="0"/>
                <a:ea typeface="Tahoma" panose="020B0604030504040204" pitchFamily="34" charset="0"/>
                <a:cs typeface="Tahoma" panose="020B0604030504040204" pitchFamily="34" charset="0"/>
              </a:rPr>
              <a:t>)/</a:t>
            </a:r>
            <a:r>
              <a:rPr lang="en-US" sz="1200" err="1">
                <a:latin typeface="Tahoma" panose="020B0604030504040204" pitchFamily="34" charset="0"/>
                <a:ea typeface="Tahoma" panose="020B0604030504040204" pitchFamily="34" charset="0"/>
                <a:cs typeface="Tahoma" panose="020B0604030504040204" pitchFamily="34" charset="0"/>
              </a:rPr>
              <a:t>Colab</a:t>
            </a:r>
            <a:r>
              <a:rPr lang="en-US" sz="1200">
                <a:latin typeface="Tahoma" panose="020B0604030504040204" pitchFamily="34" charset="0"/>
                <a:ea typeface="Tahoma" panose="020B0604030504040204" pitchFamily="34" charset="0"/>
                <a:cs typeface="Tahoma" panose="020B0604030504040204" pitchFamily="34" charset="0"/>
              </a:rPr>
              <a:t>- file storage</a:t>
            </a:r>
          </a:p>
          <a:p>
            <a:pPr lvl="1" hangingPunct="1"/>
            <a:r>
              <a:rPr lang="en-US" sz="1200">
                <a:latin typeface="Tahoma" panose="020B0604030504040204" pitchFamily="34" charset="0"/>
                <a:ea typeface="Tahoma" panose="020B0604030504040204" pitchFamily="34" charset="0"/>
                <a:cs typeface="Tahoma" panose="020B0604030504040204" pitchFamily="34" charset="0"/>
              </a:rPr>
              <a:t>Wrike Software for Project timeline development and tracking</a:t>
            </a:r>
          </a:p>
        </p:txBody>
      </p:sp>
      <p:cxnSp>
        <p:nvCxnSpPr>
          <p:cNvPr id="8" name="Straight Connector 7">
            <a:extLst>
              <a:ext uri="{FF2B5EF4-FFF2-40B4-BE49-F238E27FC236}">
                <a16:creationId xmlns:a16="http://schemas.microsoft.com/office/drawing/2014/main" id="{04976906-8679-24FE-F8F5-D85940D9B779}"/>
              </a:ext>
            </a:extLst>
          </p:cNvPr>
          <p:cNvCxnSpPr/>
          <p:nvPr/>
        </p:nvCxnSpPr>
        <p:spPr>
          <a:xfrm>
            <a:off x="1536569" y="3429000"/>
            <a:ext cx="9973559" cy="0"/>
          </a:xfrm>
          <a:prstGeom prst="line">
            <a:avLst/>
          </a:prstGeom>
          <a:noFill/>
          <a:ln w="34925" cap="flat">
            <a:solidFill>
              <a:schemeClr val="accent1"/>
            </a:solidFill>
            <a:prstDash val="solid"/>
            <a:round/>
          </a:ln>
          <a:effectLst/>
          <a:sp3d/>
        </p:spPr>
        <p:style>
          <a:lnRef idx="0">
            <a:scrgbClr r="0" g="0" b="0"/>
          </a:lnRef>
          <a:fillRef idx="0">
            <a:scrgbClr r="0" g="0" b="0"/>
          </a:fillRef>
          <a:effectRef idx="0">
            <a:scrgbClr r="0" g="0" b="0"/>
          </a:effectRef>
          <a:fontRef idx="none"/>
        </p:style>
      </p:cxnSp>
      <p:cxnSp>
        <p:nvCxnSpPr>
          <p:cNvPr id="10" name="Straight Connector 9">
            <a:extLst>
              <a:ext uri="{FF2B5EF4-FFF2-40B4-BE49-F238E27FC236}">
                <a16:creationId xmlns:a16="http://schemas.microsoft.com/office/drawing/2014/main" id="{D9980EBD-EB43-2919-3A88-02DF6F5B80BA}"/>
              </a:ext>
            </a:extLst>
          </p:cNvPr>
          <p:cNvCxnSpPr/>
          <p:nvPr/>
        </p:nvCxnSpPr>
        <p:spPr>
          <a:xfrm>
            <a:off x="6096000" y="1428750"/>
            <a:ext cx="0" cy="3727712"/>
          </a:xfrm>
          <a:prstGeom prst="line">
            <a:avLst/>
          </a:prstGeom>
          <a:noFill/>
          <a:ln w="34925" cap="flat">
            <a:solidFill>
              <a:schemeClr val="accent1"/>
            </a:solidFill>
            <a:prstDash val="solid"/>
            <a:round/>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74946254"/>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2A4A51-C6F7-9EE7-2429-F84F98849742}"/>
              </a:ext>
            </a:extLst>
          </p:cNvPr>
          <p:cNvSpPr>
            <a:spLocks noGrp="1"/>
          </p:cNvSpPr>
          <p:nvPr>
            <p:ph type="title"/>
          </p:nvPr>
        </p:nvSpPr>
        <p:spPr>
          <a:xfrm>
            <a:off x="1371600" y="685800"/>
            <a:ext cx="9601200" cy="5349240"/>
          </a:xfrm>
        </p:spPr>
        <p:txBody>
          <a:bodyPr anchor="ctr"/>
          <a:lstStyle/>
          <a:p>
            <a:pPr algn="ctr"/>
            <a:r>
              <a:rPr lang="en-US" dirty="0">
                <a:latin typeface="Times New Roman" panose="02020603050405020304" pitchFamily="18" charset="0"/>
                <a:cs typeface="Times New Roman" panose="02020603050405020304" pitchFamily="18" charset="0"/>
              </a:rPr>
              <a:t>Appendix</a:t>
            </a:r>
          </a:p>
        </p:txBody>
      </p:sp>
    </p:spTree>
    <p:extLst>
      <p:ext uri="{BB962C8B-B14F-4D97-AF65-F5344CB8AC3E}">
        <p14:creationId xmlns:p14="http://schemas.microsoft.com/office/powerpoint/2010/main" val="1138808030"/>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755E66-D812-7C0C-3E6A-4ACB989C74FA}"/>
              </a:ext>
            </a:extLst>
          </p:cNvPr>
          <p:cNvPicPr>
            <a:picLocks noChangeAspect="1"/>
          </p:cNvPicPr>
          <p:nvPr/>
        </p:nvPicPr>
        <p:blipFill>
          <a:blip r:embed="rId2"/>
          <a:stretch>
            <a:fillRect/>
          </a:stretch>
        </p:blipFill>
        <p:spPr>
          <a:xfrm>
            <a:off x="810706" y="0"/>
            <a:ext cx="11381294" cy="6858000"/>
          </a:xfrm>
          <a:prstGeom prst="rect">
            <a:avLst/>
          </a:prstGeom>
        </p:spPr>
      </p:pic>
      <p:pic>
        <p:nvPicPr>
          <p:cNvPr id="9" name="Picture 8">
            <a:extLst>
              <a:ext uri="{FF2B5EF4-FFF2-40B4-BE49-F238E27FC236}">
                <a16:creationId xmlns:a16="http://schemas.microsoft.com/office/drawing/2014/main" id="{446C549A-1CB4-654B-BD39-53BEAF4203CB}"/>
              </a:ext>
            </a:extLst>
          </p:cNvPr>
          <p:cNvPicPr>
            <a:picLocks noChangeAspect="1"/>
          </p:cNvPicPr>
          <p:nvPr/>
        </p:nvPicPr>
        <p:blipFill>
          <a:blip r:embed="rId3"/>
          <a:stretch>
            <a:fillRect/>
          </a:stretch>
        </p:blipFill>
        <p:spPr>
          <a:xfrm>
            <a:off x="810706" y="5938887"/>
            <a:ext cx="5863471" cy="919113"/>
          </a:xfrm>
          <a:prstGeom prst="rect">
            <a:avLst/>
          </a:prstGeom>
        </p:spPr>
      </p:pic>
    </p:spTree>
    <p:extLst>
      <p:ext uri="{BB962C8B-B14F-4D97-AF65-F5344CB8AC3E}">
        <p14:creationId xmlns:p14="http://schemas.microsoft.com/office/powerpoint/2010/main" val="1930987942"/>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BB8649-7D8A-EA3A-0BDA-472E2370C495}"/>
              </a:ext>
            </a:extLst>
          </p:cNvPr>
          <p:cNvSpPr>
            <a:spLocks noGrp="1"/>
          </p:cNvSpPr>
          <p:nvPr>
            <p:ph type="title"/>
          </p:nvPr>
        </p:nvSpPr>
        <p:spPr>
          <a:xfrm>
            <a:off x="10972800" y="165463"/>
            <a:ext cx="844731" cy="5701937"/>
          </a:xfrm>
        </p:spPr>
        <p:txBody>
          <a:bodyPr vert="vert"/>
          <a:lstStyle/>
          <a:p>
            <a:r>
              <a:rPr lang="en-US">
                <a:latin typeface="Times New Roman" panose="02020603050405020304" pitchFamily="18" charset="0"/>
                <a:cs typeface="Times New Roman" panose="02020603050405020304" pitchFamily="18" charset="0"/>
              </a:rPr>
              <a:t>References</a:t>
            </a:r>
          </a:p>
        </p:txBody>
      </p:sp>
      <p:sp>
        <p:nvSpPr>
          <p:cNvPr id="5" name="Text Placeholder 4">
            <a:extLst>
              <a:ext uri="{FF2B5EF4-FFF2-40B4-BE49-F238E27FC236}">
                <a16:creationId xmlns:a16="http://schemas.microsoft.com/office/drawing/2014/main" id="{B69E0569-B122-384D-EBE5-A9CAA114C4CD}"/>
              </a:ext>
            </a:extLst>
          </p:cNvPr>
          <p:cNvSpPr>
            <a:spLocks noGrp="1"/>
          </p:cNvSpPr>
          <p:nvPr>
            <p:ph type="body" idx="1"/>
          </p:nvPr>
        </p:nvSpPr>
        <p:spPr>
          <a:xfrm>
            <a:off x="1371600" y="624155"/>
            <a:ext cx="9688286" cy="5243245"/>
          </a:xfrm>
        </p:spPr>
        <p:txBody>
          <a:bodyPr/>
          <a:lstStyle/>
          <a:p>
            <a:pPr marL="0" indent="0" algn="l" rtl="0" fontAlgn="base">
              <a:buNone/>
            </a:pPr>
            <a:r>
              <a:rPr lang="en-US" sz="1200" b="0" i="0">
                <a:solidFill>
                  <a:srgbClr val="000000"/>
                </a:solidFill>
                <a:effectLst/>
              </a:rPr>
              <a:t>1. World Health Organization. (2022). </a:t>
            </a:r>
            <a:r>
              <a:rPr lang="en-US" sz="1200" b="0" i="1">
                <a:solidFill>
                  <a:srgbClr val="000000"/>
                </a:solidFill>
                <a:effectLst/>
              </a:rPr>
              <a:t>Mental Health and COVID-19: Early evidence of the pandemic’s impact </a:t>
            </a:r>
            <a:r>
              <a:rPr lang="en-US" sz="1200" b="0" i="0">
                <a:solidFill>
                  <a:srgbClr val="000000"/>
                </a:solidFill>
                <a:effectLst/>
              </a:rPr>
              <a:t>(WHO/2019-nCoV/Sci_Brief/Mental_health/2022.). </a:t>
            </a:r>
            <a:r>
              <a:rPr lang="en-US" sz="1200" b="0" i="0" u="sng" strike="noStrike">
                <a:solidFill>
                  <a:srgbClr val="000000"/>
                </a:solidFill>
                <a:effectLst/>
                <a:hlinkClick r:id="rId2"/>
              </a:rPr>
              <a:t>https://www.who.int/publications/i/item/WHO-2019-nCoV-Sci_Brief-Mental_health-2022.1</a:t>
            </a:r>
            <a:r>
              <a:rPr lang="en-US" sz="1200" b="0" i="0">
                <a:solidFill>
                  <a:srgbClr val="000000"/>
                </a:solidFill>
                <a:effectLst/>
              </a:rPr>
              <a:t> </a:t>
            </a:r>
          </a:p>
          <a:p>
            <a:pPr marL="0" indent="0" algn="l" rtl="0" fontAlgn="base">
              <a:buNone/>
            </a:pPr>
            <a:r>
              <a:rPr lang="en-US" sz="1200" b="0" i="0">
                <a:solidFill>
                  <a:srgbClr val="000000"/>
                </a:solidFill>
                <a:effectLst/>
              </a:rPr>
              <a:t>2. American Academy of Pediatrics, American Academy of Child, and Adolescent Psychiatry, and Children’s Hospital Association,. (2021, 10/19/2021). </a:t>
            </a:r>
            <a:r>
              <a:rPr lang="en-US" sz="1200" b="0" i="1">
                <a:solidFill>
                  <a:srgbClr val="000000"/>
                </a:solidFill>
                <a:effectLst/>
              </a:rPr>
              <a:t>AAP-AACAP-CHA Declaration of a National Emergency in Child and Adolescent Mental Health</a:t>
            </a:r>
            <a:r>
              <a:rPr lang="en-US" sz="1200" b="0" i="0">
                <a:solidFill>
                  <a:srgbClr val="000000"/>
                </a:solidFill>
                <a:effectLst/>
              </a:rPr>
              <a:t>. Retrieved 09/30/2022 from </a:t>
            </a:r>
            <a:r>
              <a:rPr lang="en-US" sz="1200" b="0" i="0" u="sng" strike="noStrike">
                <a:solidFill>
                  <a:srgbClr val="000000"/>
                </a:solidFill>
                <a:effectLst/>
                <a:hlinkClick r:id="rId3"/>
              </a:rPr>
              <a:t>https://www.aap.org/en/advocacy/child-and-adolescent-healthy-mental-development/aap-aacap-cha-declaration-of-a-national-emergency-in-child-and-adolescent-mental-health/</a:t>
            </a:r>
            <a:r>
              <a:rPr lang="en-US" sz="1200" b="0" i="0">
                <a:solidFill>
                  <a:srgbClr val="000000"/>
                </a:solidFill>
                <a:effectLst/>
              </a:rPr>
              <a:t> </a:t>
            </a:r>
          </a:p>
          <a:p>
            <a:pPr marL="0" indent="0" algn="l" rtl="0" fontAlgn="base">
              <a:buNone/>
            </a:pPr>
            <a:r>
              <a:rPr lang="en-US" sz="1200" b="0" i="0">
                <a:solidFill>
                  <a:srgbClr val="000000"/>
                </a:solidFill>
                <a:effectLst/>
              </a:rPr>
              <a:t>3. Hansson, L., Jormfeldt, H., Svedberg, P., &amp; Svensson, B. (2013). Mental health professionals' attitudes towards people with mental illness: do they differ from attitudes held by people with mental illness? </a:t>
            </a:r>
            <a:r>
              <a:rPr lang="en-US" sz="1200" b="0" i="1">
                <a:solidFill>
                  <a:srgbClr val="000000"/>
                </a:solidFill>
                <a:effectLst/>
              </a:rPr>
              <a:t>Int J Soc Psychiatry</a:t>
            </a:r>
            <a:r>
              <a:rPr lang="en-US" sz="1200" b="0" i="0">
                <a:solidFill>
                  <a:srgbClr val="000000"/>
                </a:solidFill>
                <a:effectLst/>
              </a:rPr>
              <a:t>,</a:t>
            </a:r>
            <a:r>
              <a:rPr lang="en-US" sz="1200" b="0" i="1">
                <a:solidFill>
                  <a:srgbClr val="000000"/>
                </a:solidFill>
                <a:effectLst/>
              </a:rPr>
              <a:t> 59</a:t>
            </a:r>
            <a:r>
              <a:rPr lang="en-US" sz="1200" b="0" i="0">
                <a:solidFill>
                  <a:srgbClr val="000000"/>
                </a:solidFill>
                <a:effectLst/>
              </a:rPr>
              <a:t>(1), 48-54. </a:t>
            </a:r>
            <a:r>
              <a:rPr lang="en-US" sz="1200" b="0" i="0" u="sng" strike="noStrike">
                <a:solidFill>
                  <a:srgbClr val="000000"/>
                </a:solidFill>
                <a:effectLst/>
                <a:hlinkClick r:id="rId4"/>
              </a:rPr>
              <a:t>https://doi.org/10.1177/0020764011423176</a:t>
            </a:r>
            <a:r>
              <a:rPr lang="en-US" sz="1200" b="0" i="0">
                <a:solidFill>
                  <a:srgbClr val="000000"/>
                </a:solidFill>
                <a:effectLst/>
              </a:rPr>
              <a:t>  </a:t>
            </a:r>
          </a:p>
          <a:p>
            <a:pPr marL="0" indent="0" algn="l" rtl="0" fontAlgn="base">
              <a:buNone/>
            </a:pPr>
            <a:r>
              <a:rPr lang="en-US" sz="1200" b="0" i="0">
                <a:solidFill>
                  <a:srgbClr val="000000"/>
                </a:solidFill>
                <a:effectLst/>
              </a:rPr>
              <a:t>4. Knaak, S., Mantler, E., &amp; Szeto, A. (2017). Mental illness-related stigma in healthcare. </a:t>
            </a:r>
            <a:r>
              <a:rPr lang="en-US" sz="1200" b="0" i="1">
                <a:solidFill>
                  <a:srgbClr val="000000"/>
                </a:solidFill>
                <a:effectLst/>
              </a:rPr>
              <a:t>Healthcare Management Forum</a:t>
            </a:r>
            <a:r>
              <a:rPr lang="en-US" sz="1200" b="0" i="0">
                <a:solidFill>
                  <a:srgbClr val="000000"/>
                </a:solidFill>
                <a:effectLst/>
              </a:rPr>
              <a:t>,</a:t>
            </a:r>
            <a:r>
              <a:rPr lang="en-US" sz="1200" b="0" i="1">
                <a:solidFill>
                  <a:srgbClr val="000000"/>
                </a:solidFill>
                <a:effectLst/>
              </a:rPr>
              <a:t> 30</a:t>
            </a:r>
            <a:r>
              <a:rPr lang="en-US" sz="1200" b="0" i="0">
                <a:solidFill>
                  <a:srgbClr val="000000"/>
                </a:solidFill>
                <a:effectLst/>
              </a:rPr>
              <a:t>(2), 111-116. </a:t>
            </a:r>
            <a:r>
              <a:rPr lang="en-US" sz="1200" b="0" i="0" u="sng" strike="noStrike">
                <a:solidFill>
                  <a:srgbClr val="000000"/>
                </a:solidFill>
                <a:effectLst/>
                <a:hlinkClick r:id="rId5"/>
              </a:rPr>
              <a:t>https://doi.org/10.1177/0840470416679413</a:t>
            </a:r>
            <a:r>
              <a:rPr lang="en-US" sz="1200" b="0" i="0">
                <a:solidFill>
                  <a:srgbClr val="000000"/>
                </a:solidFill>
                <a:effectLst/>
              </a:rPr>
              <a:t>  </a:t>
            </a:r>
          </a:p>
          <a:p>
            <a:pPr marL="0" indent="0">
              <a:buNone/>
            </a:pPr>
            <a:r>
              <a:rPr lang="en-US" sz="1200" b="0" i="0">
                <a:solidFill>
                  <a:srgbClr val="000000"/>
                </a:solidFill>
                <a:effectLst/>
              </a:rPr>
              <a:t>5. Garcia, M. E., Hinton, L., Neuhaus, J., Feldman, M., Livaudais-Toman, J., &amp; Karliner, L. S. (2022). Equitability of Depression Screening After Implementation of General Adult Screening in Primary Care. </a:t>
            </a:r>
            <a:r>
              <a:rPr lang="en-US" sz="1200" b="0" i="1">
                <a:solidFill>
                  <a:srgbClr val="000000"/>
                </a:solidFill>
                <a:effectLst/>
              </a:rPr>
              <a:t>JAMA Network Open</a:t>
            </a:r>
            <a:r>
              <a:rPr lang="en-US" sz="1200" b="0" i="0">
                <a:solidFill>
                  <a:srgbClr val="000000"/>
                </a:solidFill>
                <a:effectLst/>
              </a:rPr>
              <a:t>,</a:t>
            </a:r>
            <a:r>
              <a:rPr lang="en-US" sz="1200" b="0" i="1">
                <a:solidFill>
                  <a:srgbClr val="000000"/>
                </a:solidFill>
                <a:effectLst/>
              </a:rPr>
              <a:t> 5</a:t>
            </a:r>
            <a:r>
              <a:rPr lang="en-US" sz="1200" b="0" i="0">
                <a:solidFill>
                  <a:srgbClr val="000000"/>
                </a:solidFill>
                <a:effectLst/>
              </a:rPr>
              <a:t>(8), e2227658-e2227658. </a:t>
            </a:r>
            <a:r>
              <a:rPr lang="en-US" sz="1200" b="0" i="0" u="sng" strike="noStrike">
                <a:solidFill>
                  <a:srgbClr val="000000"/>
                </a:solidFill>
                <a:effectLst/>
                <a:hlinkClick r:id="rId6"/>
              </a:rPr>
              <a:t>https://doi.org/10.1001/jamanetworkopen.2022.27658</a:t>
            </a:r>
            <a:r>
              <a:rPr lang="en-US" sz="1200" b="0" i="0">
                <a:solidFill>
                  <a:srgbClr val="000000"/>
                </a:solidFill>
                <a:effectLst/>
              </a:rPr>
              <a:t>  </a:t>
            </a:r>
          </a:p>
          <a:p>
            <a:pPr marL="0" indent="0" algn="just">
              <a:buNone/>
            </a:pPr>
            <a:r>
              <a:rPr lang="en-US" sz="1200">
                <a:solidFill>
                  <a:srgbClr val="000000"/>
                </a:solidFill>
              </a:rPr>
              <a:t>6. </a:t>
            </a:r>
            <a:r>
              <a:rPr lang="en-US" sz="1100" b="0" i="0">
                <a:solidFill>
                  <a:srgbClr val="000000"/>
                </a:solidFill>
                <a:effectLst/>
                <a:latin typeface="Verdana" panose="020B0604030504040204" pitchFamily="34" charset="0"/>
              </a:rPr>
              <a:t>Hair, J., Black, W. C., Babin, B. J. &amp; Anderson, R. E. (2010) Multivariate data analysis (7th ed.). Upper Saddle River, New Jersey: Pearson Educational International.</a:t>
            </a:r>
          </a:p>
          <a:p>
            <a:pPr marL="0" indent="0">
              <a:buNone/>
            </a:pPr>
            <a:br>
              <a:rPr lang="en-US" sz="1100"/>
            </a:br>
            <a:endParaRPr lang="en-US" sz="1200" b="0" i="0">
              <a:solidFill>
                <a:srgbClr val="000000"/>
              </a:solidFill>
              <a:effectLst/>
            </a:endParaRPr>
          </a:p>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j-lt"/>
              <a:ea typeface="+mj-ea"/>
              <a:cs typeface="+mj-cs"/>
              <a:sym typeface="Franklin Gothic Book"/>
            </a:endParaRPr>
          </a:p>
          <a:p>
            <a:pPr marL="0" indent="0" fontAlgn="base">
              <a:buNone/>
            </a:pPr>
            <a:endParaRPr kumimoji="0" lang="en-US" sz="2000" b="0" i="0" u="none" strike="noStrike" cap="none" spc="0" normalizeH="0" baseline="0">
              <a:solidFill>
                <a:srgbClr val="000000"/>
              </a:solidFill>
              <a:effectLst/>
              <a:uFillTx/>
              <a:ea typeface="+mj-ea"/>
              <a:cs typeface="+mj-cs"/>
              <a:sym typeface="Franklin Gothic Book"/>
            </a:endParaRPr>
          </a:p>
          <a:p>
            <a:pPr marL="0" indent="0">
              <a:buNone/>
            </a:pPr>
            <a:endParaRPr lang="en-US"/>
          </a:p>
        </p:txBody>
      </p:sp>
    </p:spTree>
    <p:extLst>
      <p:ext uri="{BB962C8B-B14F-4D97-AF65-F5344CB8AC3E}">
        <p14:creationId xmlns:p14="http://schemas.microsoft.com/office/powerpoint/2010/main" val="771471136"/>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195D93-ABF5-33AB-3F45-DF57008C2CD1}"/>
              </a:ext>
            </a:extLst>
          </p:cNvPr>
          <p:cNvSpPr>
            <a:spLocks noGrp="1"/>
          </p:cNvSpPr>
          <p:nvPr>
            <p:ph type="title"/>
          </p:nvPr>
        </p:nvSpPr>
        <p:spPr>
          <a:xfrm>
            <a:off x="1295400" y="2957660"/>
            <a:ext cx="9601200" cy="1485900"/>
          </a:xfrm>
        </p:spPr>
        <p:txBody>
          <a:bodyPr/>
          <a:lstStyle/>
          <a:p>
            <a:pPr algn="ctr"/>
            <a:r>
              <a:rPr lang="en-US" dirty="0">
                <a:latin typeface="Times New Roman" panose="02020603050405020304" pitchFamily="18" charset="0"/>
                <a:cs typeface="Times New Roman" panose="02020603050405020304" pitchFamily="18" charset="0"/>
              </a:rPr>
              <a:t>Codes</a:t>
            </a:r>
            <a:endParaRPr lang="en-US" dirty="0"/>
          </a:p>
        </p:txBody>
      </p:sp>
    </p:spTree>
    <p:extLst>
      <p:ext uri="{BB962C8B-B14F-4D97-AF65-F5344CB8AC3E}">
        <p14:creationId xmlns:p14="http://schemas.microsoft.com/office/powerpoint/2010/main" val="594363930"/>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52A890-DA25-46F6-DBE6-2A3959B86BE1}"/>
              </a:ext>
            </a:extLst>
          </p:cNvPr>
          <p:cNvPicPr>
            <a:picLocks noChangeAspect="1"/>
          </p:cNvPicPr>
          <p:nvPr/>
        </p:nvPicPr>
        <p:blipFill>
          <a:blip r:embed="rId2"/>
          <a:stretch>
            <a:fillRect/>
          </a:stretch>
        </p:blipFill>
        <p:spPr>
          <a:xfrm>
            <a:off x="2967903" y="0"/>
            <a:ext cx="5764582" cy="6858000"/>
          </a:xfrm>
          <a:prstGeom prst="rect">
            <a:avLst/>
          </a:prstGeom>
        </p:spPr>
      </p:pic>
      <p:sp>
        <p:nvSpPr>
          <p:cNvPr id="7" name="Title 6">
            <a:extLst>
              <a:ext uri="{FF2B5EF4-FFF2-40B4-BE49-F238E27FC236}">
                <a16:creationId xmlns:a16="http://schemas.microsoft.com/office/drawing/2014/main" id="{3B77CB80-0322-E521-F924-90701F9BF05E}"/>
              </a:ext>
            </a:extLst>
          </p:cNvPr>
          <p:cNvSpPr>
            <a:spLocks noGrp="1"/>
          </p:cNvSpPr>
          <p:nvPr>
            <p:ph type="title"/>
          </p:nvPr>
        </p:nvSpPr>
        <p:spPr/>
        <p:txBody>
          <a:bodyPr vert="vert"/>
          <a:lstStyle/>
          <a:p>
            <a:r>
              <a:rPr lang="en-US" dirty="0"/>
              <a:t>Codebook</a:t>
            </a:r>
          </a:p>
        </p:txBody>
      </p:sp>
    </p:spTree>
    <p:extLst>
      <p:ext uri="{BB962C8B-B14F-4D97-AF65-F5344CB8AC3E}">
        <p14:creationId xmlns:p14="http://schemas.microsoft.com/office/powerpoint/2010/main" val="1933294628"/>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50C939-79FF-B727-25B9-4610BD5C443D}"/>
              </a:ext>
            </a:extLst>
          </p:cNvPr>
          <p:cNvPicPr>
            <a:picLocks noChangeAspect="1"/>
          </p:cNvPicPr>
          <p:nvPr/>
        </p:nvPicPr>
        <p:blipFill rotWithShape="1">
          <a:blip r:embed="rId2">
            <a:extLst>
              <a:ext uri="{28A0092B-C50C-407E-A947-70E740481C1C}">
                <a14:useLocalDpi xmlns:a14="http://schemas.microsoft.com/office/drawing/2010/main" val="0"/>
              </a:ext>
            </a:extLst>
          </a:blip>
          <a:srcRect l="5877" t="14571" r="1900" b="25361"/>
          <a:stretch/>
        </p:blipFill>
        <p:spPr>
          <a:xfrm>
            <a:off x="725863" y="527901"/>
            <a:ext cx="11243916" cy="3813140"/>
          </a:xfrm>
          <a:prstGeom prst="rect">
            <a:avLst/>
          </a:prstGeom>
        </p:spPr>
      </p:pic>
      <p:pic>
        <p:nvPicPr>
          <p:cNvPr id="7" name="Picture 6">
            <a:extLst>
              <a:ext uri="{FF2B5EF4-FFF2-40B4-BE49-F238E27FC236}">
                <a16:creationId xmlns:a16="http://schemas.microsoft.com/office/drawing/2014/main" id="{3AE5CF31-10AF-6D7B-511E-F0E05836F7D7}"/>
              </a:ext>
            </a:extLst>
          </p:cNvPr>
          <p:cNvPicPr>
            <a:picLocks noChangeAspect="1"/>
          </p:cNvPicPr>
          <p:nvPr/>
        </p:nvPicPr>
        <p:blipFill rotWithShape="1">
          <a:blip r:embed="rId3">
            <a:extLst>
              <a:ext uri="{28A0092B-C50C-407E-A947-70E740481C1C}">
                <a14:useLocalDpi xmlns:a14="http://schemas.microsoft.com/office/drawing/2010/main" val="0"/>
              </a:ext>
            </a:extLst>
          </a:blip>
          <a:srcRect l="6248" t="39932" r="22659" b="11614"/>
          <a:stretch/>
        </p:blipFill>
        <p:spPr>
          <a:xfrm>
            <a:off x="725863" y="4341041"/>
            <a:ext cx="11243916" cy="2434476"/>
          </a:xfrm>
          <a:prstGeom prst="rect">
            <a:avLst/>
          </a:prstGeom>
        </p:spPr>
      </p:pic>
      <p:sp>
        <p:nvSpPr>
          <p:cNvPr id="9" name="TextBox 8">
            <a:extLst>
              <a:ext uri="{FF2B5EF4-FFF2-40B4-BE49-F238E27FC236}">
                <a16:creationId xmlns:a16="http://schemas.microsoft.com/office/drawing/2014/main" id="{722AEAFC-70F4-5179-9136-C96BD04A817F}"/>
              </a:ext>
            </a:extLst>
          </p:cNvPr>
          <p:cNvSpPr txBox="1"/>
          <p:nvPr/>
        </p:nvSpPr>
        <p:spPr>
          <a:xfrm>
            <a:off x="848412" y="82483"/>
            <a:ext cx="3735957" cy="677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sz="2000" b="0" i="0">
                <a:solidFill>
                  <a:srgbClr val="212121"/>
                </a:solidFill>
                <a:effectLst/>
                <a:latin typeface="Times New Roman" panose="02020603050405020304" pitchFamily="18" charset="0"/>
                <a:cs typeface="Times New Roman" panose="02020603050405020304" pitchFamily="18" charset="0"/>
              </a:rPr>
              <a:t>Finding Missing values in NAMCS</a:t>
            </a:r>
          </a:p>
          <a:p>
            <a:pPr marL="0" marR="0" indent="0" algn="l" defTabSz="4572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a:ln>
                <a:noFill/>
              </a:ln>
              <a:solidFill>
                <a:srgbClr val="000000"/>
              </a:solidFill>
              <a:effectLst/>
              <a:uFillTx/>
              <a:latin typeface="+mj-lt"/>
              <a:ea typeface="+mj-ea"/>
              <a:cs typeface="+mj-cs"/>
              <a:sym typeface="Franklin Gothic Book"/>
            </a:endParaRPr>
          </a:p>
        </p:txBody>
      </p:sp>
    </p:spTree>
    <p:extLst>
      <p:ext uri="{BB962C8B-B14F-4D97-AF65-F5344CB8AC3E}">
        <p14:creationId xmlns:p14="http://schemas.microsoft.com/office/powerpoint/2010/main" val="2103324655"/>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4A78A382-FDBC-CAE4-A230-A631BFDE3ED5}"/>
              </a:ext>
            </a:extLst>
          </p:cNvPr>
          <p:cNvGrpSpPr/>
          <p:nvPr/>
        </p:nvGrpSpPr>
        <p:grpSpPr>
          <a:xfrm>
            <a:off x="943840" y="1037641"/>
            <a:ext cx="10524260" cy="5715584"/>
            <a:chOff x="-1" y="1142416"/>
            <a:chExt cx="11452616" cy="5715584"/>
          </a:xfrm>
        </p:grpSpPr>
        <p:pic>
          <p:nvPicPr>
            <p:cNvPr id="16" name="Picture 15">
              <a:extLst>
                <a:ext uri="{FF2B5EF4-FFF2-40B4-BE49-F238E27FC236}">
                  <a16:creationId xmlns:a16="http://schemas.microsoft.com/office/drawing/2014/main" id="{5BA29DFB-BE92-745D-EDD6-ADF4AD7F725E}"/>
                </a:ext>
              </a:extLst>
            </p:cNvPr>
            <p:cNvPicPr>
              <a:picLocks noChangeAspect="1"/>
            </p:cNvPicPr>
            <p:nvPr/>
          </p:nvPicPr>
          <p:blipFill rotWithShape="1">
            <a:blip r:embed="rId2"/>
            <a:srcRect r="6064"/>
            <a:stretch/>
          </p:blipFill>
          <p:spPr>
            <a:xfrm>
              <a:off x="-1" y="1142416"/>
              <a:ext cx="11452614" cy="2052807"/>
            </a:xfrm>
            <a:prstGeom prst="rect">
              <a:avLst/>
            </a:prstGeom>
          </p:spPr>
        </p:pic>
        <p:pic>
          <p:nvPicPr>
            <p:cNvPr id="18" name="Picture 17">
              <a:extLst>
                <a:ext uri="{FF2B5EF4-FFF2-40B4-BE49-F238E27FC236}">
                  <a16:creationId xmlns:a16="http://schemas.microsoft.com/office/drawing/2014/main" id="{38595525-C44D-154E-7E99-F8DF3E47E255}"/>
                </a:ext>
              </a:extLst>
            </p:cNvPr>
            <p:cNvPicPr>
              <a:picLocks noChangeAspect="1"/>
            </p:cNvPicPr>
            <p:nvPr/>
          </p:nvPicPr>
          <p:blipFill rotWithShape="1">
            <a:blip r:embed="rId3"/>
            <a:srcRect r="6064"/>
            <a:stretch/>
          </p:blipFill>
          <p:spPr>
            <a:xfrm>
              <a:off x="1" y="3195223"/>
              <a:ext cx="11452614" cy="3662777"/>
            </a:xfrm>
            <a:prstGeom prst="rect">
              <a:avLst/>
            </a:prstGeom>
          </p:spPr>
        </p:pic>
      </p:grpSp>
      <p:sp>
        <p:nvSpPr>
          <p:cNvPr id="19" name="Title 18">
            <a:extLst>
              <a:ext uri="{FF2B5EF4-FFF2-40B4-BE49-F238E27FC236}">
                <a16:creationId xmlns:a16="http://schemas.microsoft.com/office/drawing/2014/main" id="{AE033F9B-84AC-C885-AC18-C19E3AA9C40C}"/>
              </a:ext>
            </a:extLst>
          </p:cNvPr>
          <p:cNvSpPr>
            <a:spLocks noGrp="1"/>
          </p:cNvSpPr>
          <p:nvPr>
            <p:ph type="title"/>
          </p:nvPr>
        </p:nvSpPr>
        <p:spPr>
          <a:xfrm>
            <a:off x="723900" y="104775"/>
            <a:ext cx="10687050" cy="1485900"/>
          </a:xfrm>
        </p:spPr>
        <p:txBody>
          <a:bodyPr/>
          <a:lstStyle/>
          <a:p>
            <a:r>
              <a:rPr lang="en-US" dirty="0"/>
              <a:t>Limit NAMCS Source File to Project Variables </a:t>
            </a:r>
          </a:p>
        </p:txBody>
      </p:sp>
    </p:spTree>
    <p:extLst>
      <p:ext uri="{BB962C8B-B14F-4D97-AF65-F5344CB8AC3E}">
        <p14:creationId xmlns:p14="http://schemas.microsoft.com/office/powerpoint/2010/main" val="3649435797"/>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B5C8D-D8EF-F807-962F-798519AB953E}"/>
              </a:ext>
            </a:extLst>
          </p:cNvPr>
          <p:cNvSpPr>
            <a:spLocks noGrp="1"/>
          </p:cNvSpPr>
          <p:nvPr>
            <p:ph type="title"/>
          </p:nvPr>
        </p:nvSpPr>
        <p:spPr>
          <a:xfrm>
            <a:off x="808182" y="284596"/>
            <a:ext cx="9601200" cy="786822"/>
          </a:xfrm>
        </p:spPr>
        <p:txBody>
          <a:bodyPr/>
          <a:lstStyle/>
          <a:p>
            <a:r>
              <a:rPr lang="en-US" dirty="0"/>
              <a:t>Merging NHANES Source</a:t>
            </a:r>
          </a:p>
        </p:txBody>
      </p:sp>
      <p:grpSp>
        <p:nvGrpSpPr>
          <p:cNvPr id="11" name="Group 10">
            <a:extLst>
              <a:ext uri="{FF2B5EF4-FFF2-40B4-BE49-F238E27FC236}">
                <a16:creationId xmlns:a16="http://schemas.microsoft.com/office/drawing/2014/main" id="{BF483780-2AE8-E35F-0112-8E946DD4FC5E}"/>
              </a:ext>
            </a:extLst>
          </p:cNvPr>
          <p:cNvGrpSpPr/>
          <p:nvPr/>
        </p:nvGrpSpPr>
        <p:grpSpPr>
          <a:xfrm>
            <a:off x="969818" y="900545"/>
            <a:ext cx="10252364" cy="5957455"/>
            <a:chOff x="0" y="1071418"/>
            <a:chExt cx="10252364" cy="5957455"/>
          </a:xfrm>
        </p:grpSpPr>
        <p:pic>
          <p:nvPicPr>
            <p:cNvPr id="6" name="Picture 5">
              <a:extLst>
                <a:ext uri="{FF2B5EF4-FFF2-40B4-BE49-F238E27FC236}">
                  <a16:creationId xmlns:a16="http://schemas.microsoft.com/office/drawing/2014/main" id="{5A577B23-2E8F-956D-BFB9-C1EC257CD8D2}"/>
                </a:ext>
              </a:extLst>
            </p:cNvPr>
            <p:cNvPicPr>
              <a:picLocks noChangeAspect="1"/>
            </p:cNvPicPr>
            <p:nvPr/>
          </p:nvPicPr>
          <p:blipFill rotWithShape="1">
            <a:blip r:embed="rId2"/>
            <a:srcRect r="15909"/>
            <a:stretch/>
          </p:blipFill>
          <p:spPr>
            <a:xfrm>
              <a:off x="0" y="1071418"/>
              <a:ext cx="10252364" cy="3968991"/>
            </a:xfrm>
            <a:prstGeom prst="rect">
              <a:avLst/>
            </a:prstGeom>
          </p:spPr>
        </p:pic>
        <p:pic>
          <p:nvPicPr>
            <p:cNvPr id="9" name="Picture 8">
              <a:extLst>
                <a:ext uri="{FF2B5EF4-FFF2-40B4-BE49-F238E27FC236}">
                  <a16:creationId xmlns:a16="http://schemas.microsoft.com/office/drawing/2014/main" id="{38BF8F1C-A41E-78A8-0A70-A5173E148F3E}"/>
                </a:ext>
              </a:extLst>
            </p:cNvPr>
            <p:cNvPicPr>
              <a:picLocks noChangeAspect="1"/>
            </p:cNvPicPr>
            <p:nvPr/>
          </p:nvPicPr>
          <p:blipFill rotWithShape="1">
            <a:blip r:embed="rId3"/>
            <a:srcRect r="15909" b="56242"/>
            <a:stretch/>
          </p:blipFill>
          <p:spPr>
            <a:xfrm>
              <a:off x="0" y="2808080"/>
              <a:ext cx="10252364" cy="1505302"/>
            </a:xfrm>
            <a:prstGeom prst="rect">
              <a:avLst/>
            </a:prstGeom>
          </p:spPr>
        </p:pic>
        <p:pic>
          <p:nvPicPr>
            <p:cNvPr id="10" name="Picture 9">
              <a:extLst>
                <a:ext uri="{FF2B5EF4-FFF2-40B4-BE49-F238E27FC236}">
                  <a16:creationId xmlns:a16="http://schemas.microsoft.com/office/drawing/2014/main" id="{C9FBAD76-2BD0-8822-A8D7-477BDDC49809}"/>
                </a:ext>
              </a:extLst>
            </p:cNvPr>
            <p:cNvPicPr>
              <a:picLocks noChangeAspect="1"/>
            </p:cNvPicPr>
            <p:nvPr/>
          </p:nvPicPr>
          <p:blipFill rotWithShape="1">
            <a:blip r:embed="rId3"/>
            <a:srcRect r="15909" b="28856"/>
            <a:stretch/>
          </p:blipFill>
          <p:spPr>
            <a:xfrm>
              <a:off x="0" y="4581462"/>
              <a:ext cx="10252364" cy="2447411"/>
            </a:xfrm>
            <a:prstGeom prst="rect">
              <a:avLst/>
            </a:prstGeom>
          </p:spPr>
        </p:pic>
      </p:grpSp>
    </p:spTree>
    <p:extLst>
      <p:ext uri="{BB962C8B-B14F-4D97-AF65-F5344CB8AC3E}">
        <p14:creationId xmlns:p14="http://schemas.microsoft.com/office/powerpoint/2010/main" val="2341754159"/>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7BEBA2-AF8F-2516-5F5E-D5CBA836C0DC}"/>
              </a:ext>
            </a:extLst>
          </p:cNvPr>
          <p:cNvSpPr>
            <a:spLocks noGrp="1"/>
          </p:cNvSpPr>
          <p:nvPr>
            <p:ph type="title"/>
          </p:nvPr>
        </p:nvSpPr>
        <p:spPr>
          <a:xfrm>
            <a:off x="685800" y="265112"/>
            <a:ext cx="10972800" cy="657016"/>
          </a:xfrm>
        </p:spPr>
        <p:txBody>
          <a:bodyPr>
            <a:normAutofit fontScale="90000"/>
          </a:bodyPr>
          <a:lstStyle/>
          <a:p>
            <a:r>
              <a:rPr lang="en-US" dirty="0"/>
              <a:t>NAMCS Cleaning and Feature Engineering</a:t>
            </a:r>
          </a:p>
        </p:txBody>
      </p:sp>
      <p:pic>
        <p:nvPicPr>
          <p:cNvPr id="7" name="Picture 6">
            <a:extLst>
              <a:ext uri="{FF2B5EF4-FFF2-40B4-BE49-F238E27FC236}">
                <a16:creationId xmlns:a16="http://schemas.microsoft.com/office/drawing/2014/main" id="{3B7E7B1E-E191-6B35-D937-2D93269B6CC9}"/>
              </a:ext>
            </a:extLst>
          </p:cNvPr>
          <p:cNvPicPr>
            <a:picLocks noChangeAspect="1"/>
          </p:cNvPicPr>
          <p:nvPr/>
        </p:nvPicPr>
        <p:blipFill rotWithShape="1">
          <a:blip r:embed="rId2"/>
          <a:srcRect l="-6289" t="1" r="9085" b="-3036"/>
          <a:stretch/>
        </p:blipFill>
        <p:spPr>
          <a:xfrm>
            <a:off x="0" y="922128"/>
            <a:ext cx="11887200" cy="5935872"/>
          </a:xfrm>
          <a:prstGeom prst="rect">
            <a:avLst/>
          </a:prstGeom>
        </p:spPr>
      </p:pic>
    </p:spTree>
    <p:extLst>
      <p:ext uri="{BB962C8B-B14F-4D97-AF65-F5344CB8AC3E}">
        <p14:creationId xmlns:p14="http://schemas.microsoft.com/office/powerpoint/2010/main" val="2118048382"/>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B8812AE-3966-9846-C69C-C90F898FE28E}"/>
              </a:ext>
            </a:extLst>
          </p:cNvPr>
          <p:cNvGrpSpPr/>
          <p:nvPr/>
        </p:nvGrpSpPr>
        <p:grpSpPr>
          <a:xfrm>
            <a:off x="315421" y="0"/>
            <a:ext cx="10203412" cy="6451444"/>
            <a:chOff x="149167" y="325004"/>
            <a:chExt cx="10203412" cy="6451444"/>
          </a:xfrm>
        </p:grpSpPr>
        <p:pic>
          <p:nvPicPr>
            <p:cNvPr id="4" name="Picture 3">
              <a:extLst>
                <a:ext uri="{FF2B5EF4-FFF2-40B4-BE49-F238E27FC236}">
                  <a16:creationId xmlns:a16="http://schemas.microsoft.com/office/drawing/2014/main" id="{B7FAAAA6-87DF-B67B-4981-91C5EAC6B231}"/>
                </a:ext>
              </a:extLst>
            </p:cNvPr>
            <p:cNvPicPr>
              <a:picLocks noChangeAspect="1"/>
            </p:cNvPicPr>
            <p:nvPr/>
          </p:nvPicPr>
          <p:blipFill rotWithShape="1">
            <a:blip r:embed="rId2"/>
            <a:srcRect l="-6747" t="-7168" r="19759" b="7168"/>
            <a:stretch/>
          </p:blipFill>
          <p:spPr>
            <a:xfrm>
              <a:off x="249382" y="325004"/>
              <a:ext cx="10002982" cy="2929503"/>
            </a:xfrm>
            <a:prstGeom prst="rect">
              <a:avLst/>
            </a:prstGeom>
          </p:spPr>
        </p:pic>
        <p:pic>
          <p:nvPicPr>
            <p:cNvPr id="6" name="Picture 5">
              <a:extLst>
                <a:ext uri="{FF2B5EF4-FFF2-40B4-BE49-F238E27FC236}">
                  <a16:creationId xmlns:a16="http://schemas.microsoft.com/office/drawing/2014/main" id="{6C514F16-210E-E091-6164-BCD94B912374}"/>
                </a:ext>
              </a:extLst>
            </p:cNvPr>
            <p:cNvPicPr>
              <a:picLocks noChangeAspect="1"/>
            </p:cNvPicPr>
            <p:nvPr/>
          </p:nvPicPr>
          <p:blipFill rotWithShape="1">
            <a:blip r:embed="rId3"/>
            <a:srcRect l="-7149" t="3998" r="19501" b="41292"/>
            <a:stretch/>
          </p:blipFill>
          <p:spPr>
            <a:xfrm>
              <a:off x="149167" y="3254507"/>
              <a:ext cx="10203412" cy="3521941"/>
            </a:xfrm>
            <a:prstGeom prst="rect">
              <a:avLst/>
            </a:prstGeom>
          </p:spPr>
        </p:pic>
      </p:grpSp>
    </p:spTree>
    <p:extLst>
      <p:ext uri="{BB962C8B-B14F-4D97-AF65-F5344CB8AC3E}">
        <p14:creationId xmlns:p14="http://schemas.microsoft.com/office/powerpoint/2010/main" val="3144208610"/>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0D9881B-B1A3-73BF-5AEC-8CB486973293}"/>
              </a:ext>
            </a:extLst>
          </p:cNvPr>
          <p:cNvPicPr>
            <a:picLocks noChangeAspect="1"/>
          </p:cNvPicPr>
          <p:nvPr/>
        </p:nvPicPr>
        <p:blipFill rotWithShape="1">
          <a:blip r:embed="rId3"/>
          <a:srcRect l="1212" r="18864"/>
          <a:stretch/>
        </p:blipFill>
        <p:spPr>
          <a:xfrm>
            <a:off x="1089890" y="115946"/>
            <a:ext cx="9744363" cy="6626107"/>
          </a:xfrm>
          <a:prstGeom prst="rect">
            <a:avLst/>
          </a:prstGeom>
        </p:spPr>
      </p:pic>
    </p:spTree>
    <p:extLst>
      <p:ext uri="{BB962C8B-B14F-4D97-AF65-F5344CB8AC3E}">
        <p14:creationId xmlns:p14="http://schemas.microsoft.com/office/powerpoint/2010/main" val="3333137466"/>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B28476-F994-8040-41CF-7E8B216A3889}"/>
              </a:ext>
            </a:extLst>
          </p:cNvPr>
          <p:cNvPicPr>
            <a:picLocks noChangeAspect="1"/>
          </p:cNvPicPr>
          <p:nvPr/>
        </p:nvPicPr>
        <p:blipFill rotWithShape="1">
          <a:blip r:embed="rId2"/>
          <a:srcRect l="-3787" r="11212"/>
          <a:stretch/>
        </p:blipFill>
        <p:spPr>
          <a:xfrm>
            <a:off x="452581" y="0"/>
            <a:ext cx="11286837" cy="6858000"/>
          </a:xfrm>
          <a:prstGeom prst="rect">
            <a:avLst/>
          </a:prstGeom>
        </p:spPr>
      </p:pic>
    </p:spTree>
    <p:extLst>
      <p:ext uri="{BB962C8B-B14F-4D97-AF65-F5344CB8AC3E}">
        <p14:creationId xmlns:p14="http://schemas.microsoft.com/office/powerpoint/2010/main" val="193911111"/>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F37D6B-E7A2-20E3-2B07-0C223BDD6F7E}"/>
              </a:ext>
            </a:extLst>
          </p:cNvPr>
          <p:cNvPicPr>
            <a:picLocks noChangeAspect="1"/>
          </p:cNvPicPr>
          <p:nvPr/>
        </p:nvPicPr>
        <p:blipFill>
          <a:blip r:embed="rId2"/>
          <a:stretch>
            <a:fillRect/>
          </a:stretch>
        </p:blipFill>
        <p:spPr>
          <a:xfrm>
            <a:off x="1158612" y="0"/>
            <a:ext cx="7972083" cy="6858000"/>
          </a:xfrm>
          <a:prstGeom prst="rect">
            <a:avLst/>
          </a:prstGeom>
        </p:spPr>
      </p:pic>
    </p:spTree>
    <p:extLst>
      <p:ext uri="{BB962C8B-B14F-4D97-AF65-F5344CB8AC3E}">
        <p14:creationId xmlns:p14="http://schemas.microsoft.com/office/powerpoint/2010/main" val="968049147"/>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B964D69-5A03-22A9-BE50-C8F6C99EB878}"/>
              </a:ext>
            </a:extLst>
          </p:cNvPr>
          <p:cNvGrpSpPr/>
          <p:nvPr/>
        </p:nvGrpSpPr>
        <p:grpSpPr>
          <a:xfrm>
            <a:off x="748144" y="0"/>
            <a:ext cx="11072554" cy="6770255"/>
            <a:chOff x="748144" y="0"/>
            <a:chExt cx="11072554" cy="6770255"/>
          </a:xfrm>
        </p:grpSpPr>
        <p:pic>
          <p:nvPicPr>
            <p:cNvPr id="7" name="Picture 6">
              <a:extLst>
                <a:ext uri="{FF2B5EF4-FFF2-40B4-BE49-F238E27FC236}">
                  <a16:creationId xmlns:a16="http://schemas.microsoft.com/office/drawing/2014/main" id="{01918E83-4AFF-FC64-F1E3-C020B926C2B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8145" y="0"/>
              <a:ext cx="11072553" cy="3347154"/>
            </a:xfrm>
            <a:prstGeom prst="rect">
              <a:avLst/>
            </a:prstGeom>
          </p:spPr>
        </p:pic>
        <p:pic>
          <p:nvPicPr>
            <p:cNvPr id="9" name="Picture 8">
              <a:extLst>
                <a:ext uri="{FF2B5EF4-FFF2-40B4-BE49-F238E27FC236}">
                  <a16:creationId xmlns:a16="http://schemas.microsoft.com/office/drawing/2014/main" id="{D3C616AC-8082-B729-2650-624E259FE862}"/>
                </a:ext>
              </a:extLst>
            </p:cNvPr>
            <p:cNvPicPr>
              <a:picLocks noChangeAspect="1"/>
            </p:cNvPicPr>
            <p:nvPr/>
          </p:nvPicPr>
          <p:blipFill rotWithShape="1">
            <a:blip r:embed="rId3"/>
            <a:srcRect r="9182"/>
            <a:stretch/>
          </p:blipFill>
          <p:spPr>
            <a:xfrm>
              <a:off x="748144" y="3273392"/>
              <a:ext cx="11072553" cy="3496863"/>
            </a:xfrm>
            <a:prstGeom prst="rect">
              <a:avLst/>
            </a:prstGeom>
          </p:spPr>
        </p:pic>
      </p:grpSp>
    </p:spTree>
    <p:extLst>
      <p:ext uri="{BB962C8B-B14F-4D97-AF65-F5344CB8AC3E}">
        <p14:creationId xmlns:p14="http://schemas.microsoft.com/office/powerpoint/2010/main" val="2825400209"/>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E3AE8E-6C25-0A10-567D-0589E2EE14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18461" y="619065"/>
            <a:ext cx="10270840" cy="5295674"/>
          </a:xfrm>
          <a:prstGeom prst="rect">
            <a:avLst/>
          </a:prstGeom>
        </p:spPr>
      </p:pic>
    </p:spTree>
    <p:extLst>
      <p:ext uri="{BB962C8B-B14F-4D97-AF65-F5344CB8AC3E}">
        <p14:creationId xmlns:p14="http://schemas.microsoft.com/office/powerpoint/2010/main" val="2240312356"/>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587CA9-8BFE-3BED-2B0F-1299E32EAE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70771" y="527858"/>
            <a:ext cx="10903728" cy="5802283"/>
          </a:xfrm>
          <a:prstGeom prst="rect">
            <a:avLst/>
          </a:prstGeom>
        </p:spPr>
      </p:pic>
    </p:spTree>
    <p:extLst>
      <p:ext uri="{BB962C8B-B14F-4D97-AF65-F5344CB8AC3E}">
        <p14:creationId xmlns:p14="http://schemas.microsoft.com/office/powerpoint/2010/main" val="3230183172"/>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CAADCE-B379-F7FE-0C14-D3637C1C121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40177" y="230720"/>
            <a:ext cx="8699983" cy="6396559"/>
          </a:xfrm>
          <a:prstGeom prst="rect">
            <a:avLst/>
          </a:prstGeom>
        </p:spPr>
      </p:pic>
    </p:spTree>
    <p:extLst>
      <p:ext uri="{BB962C8B-B14F-4D97-AF65-F5344CB8AC3E}">
        <p14:creationId xmlns:p14="http://schemas.microsoft.com/office/powerpoint/2010/main" val="3016747784"/>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E240B4C-BD5C-939B-6B40-3573875DA00E}"/>
              </a:ext>
            </a:extLst>
          </p:cNvPr>
          <p:cNvGrpSpPr/>
          <p:nvPr/>
        </p:nvGrpSpPr>
        <p:grpSpPr>
          <a:xfrm>
            <a:off x="784905" y="0"/>
            <a:ext cx="10437462" cy="6834775"/>
            <a:chOff x="784905" y="0"/>
            <a:chExt cx="10437462" cy="6834775"/>
          </a:xfrm>
        </p:grpSpPr>
        <p:pic>
          <p:nvPicPr>
            <p:cNvPr id="7" name="Picture 6">
              <a:extLst>
                <a:ext uri="{FF2B5EF4-FFF2-40B4-BE49-F238E27FC236}">
                  <a16:creationId xmlns:a16="http://schemas.microsoft.com/office/drawing/2014/main" id="{7524814E-B4DD-32AF-BA85-7643621321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84905" y="0"/>
              <a:ext cx="10437462" cy="5273206"/>
            </a:xfrm>
            <a:prstGeom prst="rect">
              <a:avLst/>
            </a:prstGeom>
          </p:spPr>
        </p:pic>
        <p:pic>
          <p:nvPicPr>
            <p:cNvPr id="11" name="Picture 10">
              <a:extLst>
                <a:ext uri="{FF2B5EF4-FFF2-40B4-BE49-F238E27FC236}">
                  <a16:creationId xmlns:a16="http://schemas.microsoft.com/office/drawing/2014/main" id="{17BA7B38-EF3B-CE95-F0F3-3DACE1ACAB62}"/>
                </a:ext>
              </a:extLst>
            </p:cNvPr>
            <p:cNvPicPr>
              <a:picLocks noChangeAspect="1"/>
            </p:cNvPicPr>
            <p:nvPr/>
          </p:nvPicPr>
          <p:blipFill>
            <a:blip r:embed="rId3"/>
            <a:stretch>
              <a:fillRect/>
            </a:stretch>
          </p:blipFill>
          <p:spPr>
            <a:xfrm>
              <a:off x="784905" y="5273206"/>
              <a:ext cx="10437462" cy="1561569"/>
            </a:xfrm>
            <a:prstGeom prst="rect">
              <a:avLst/>
            </a:prstGeom>
          </p:spPr>
        </p:pic>
      </p:grpSp>
    </p:spTree>
    <p:extLst>
      <p:ext uri="{BB962C8B-B14F-4D97-AF65-F5344CB8AC3E}">
        <p14:creationId xmlns:p14="http://schemas.microsoft.com/office/powerpoint/2010/main" val="1482629282"/>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A209C-43E3-A836-6560-D79F610CDC8F}"/>
              </a:ext>
            </a:extLst>
          </p:cNvPr>
          <p:cNvSpPr>
            <a:spLocks noGrp="1"/>
          </p:cNvSpPr>
          <p:nvPr>
            <p:ph type="title"/>
          </p:nvPr>
        </p:nvSpPr>
        <p:spPr>
          <a:xfrm>
            <a:off x="930112" y="331198"/>
            <a:ext cx="10972800" cy="657016"/>
          </a:xfrm>
        </p:spPr>
        <p:txBody>
          <a:bodyPr>
            <a:normAutofit fontScale="90000"/>
          </a:bodyPr>
          <a:lstStyle/>
          <a:p>
            <a:r>
              <a:rPr lang="en-US" b="0" i="0" dirty="0">
                <a:solidFill>
                  <a:srgbClr val="212121"/>
                </a:solidFill>
                <a:effectLst/>
                <a:latin typeface="Roboto" panose="02000000000000000000" pitchFamily="2" charset="0"/>
              </a:rPr>
              <a:t>Finding Missing values in namcs.csv</a:t>
            </a:r>
            <a:br>
              <a:rPr lang="en-US" b="0" i="0" dirty="0">
                <a:solidFill>
                  <a:srgbClr val="212121"/>
                </a:solidFill>
                <a:effectLst/>
                <a:latin typeface="Roboto" panose="02000000000000000000" pitchFamily="2" charset="0"/>
              </a:rPr>
            </a:br>
            <a:endParaRPr lang="en-US" dirty="0"/>
          </a:p>
        </p:txBody>
      </p:sp>
      <p:pic>
        <p:nvPicPr>
          <p:cNvPr id="4" name="Picture 3">
            <a:extLst>
              <a:ext uri="{FF2B5EF4-FFF2-40B4-BE49-F238E27FC236}">
                <a16:creationId xmlns:a16="http://schemas.microsoft.com/office/drawing/2014/main" id="{384D81CE-0D77-6C36-73F9-7C5B28B809E2}"/>
              </a:ext>
            </a:extLst>
          </p:cNvPr>
          <p:cNvPicPr>
            <a:picLocks noChangeAspect="1"/>
          </p:cNvPicPr>
          <p:nvPr/>
        </p:nvPicPr>
        <p:blipFill>
          <a:blip r:embed="rId2"/>
          <a:stretch>
            <a:fillRect/>
          </a:stretch>
        </p:blipFill>
        <p:spPr>
          <a:xfrm>
            <a:off x="2266415" y="1099812"/>
            <a:ext cx="7659169" cy="4658375"/>
          </a:xfrm>
          <a:prstGeom prst="rect">
            <a:avLst/>
          </a:prstGeom>
        </p:spPr>
      </p:pic>
    </p:spTree>
    <p:extLst>
      <p:ext uri="{BB962C8B-B14F-4D97-AF65-F5344CB8AC3E}">
        <p14:creationId xmlns:p14="http://schemas.microsoft.com/office/powerpoint/2010/main" val="2412054809"/>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7BEBA2-AF8F-2516-5F5E-D5CBA836C0DC}"/>
              </a:ext>
            </a:extLst>
          </p:cNvPr>
          <p:cNvSpPr>
            <a:spLocks noGrp="1"/>
          </p:cNvSpPr>
          <p:nvPr>
            <p:ph type="title"/>
          </p:nvPr>
        </p:nvSpPr>
        <p:spPr>
          <a:xfrm>
            <a:off x="685800" y="265112"/>
            <a:ext cx="10972800" cy="657016"/>
          </a:xfrm>
        </p:spPr>
        <p:txBody>
          <a:bodyPr>
            <a:normAutofit fontScale="90000"/>
          </a:bodyPr>
          <a:lstStyle/>
          <a:p>
            <a:r>
              <a:rPr lang="en-US" dirty="0"/>
              <a:t>NHANES Cleaning and Feature Engineering</a:t>
            </a:r>
          </a:p>
        </p:txBody>
      </p:sp>
      <p:pic>
        <p:nvPicPr>
          <p:cNvPr id="7" name="Picture 6">
            <a:extLst>
              <a:ext uri="{FF2B5EF4-FFF2-40B4-BE49-F238E27FC236}">
                <a16:creationId xmlns:a16="http://schemas.microsoft.com/office/drawing/2014/main" id="{3B7E7B1E-E191-6B35-D937-2D93269B6CC9}"/>
              </a:ext>
            </a:extLst>
          </p:cNvPr>
          <p:cNvPicPr>
            <a:picLocks noChangeAspect="1"/>
          </p:cNvPicPr>
          <p:nvPr/>
        </p:nvPicPr>
        <p:blipFill rotWithShape="1">
          <a:blip r:embed="rId2">
            <a:extLst>
              <a:ext uri="{28A0092B-C50C-407E-A947-70E740481C1C}">
                <a14:useLocalDpi xmlns:a14="http://schemas.microsoft.com/office/drawing/2010/main" val="0"/>
              </a:ext>
            </a:extLst>
          </a:blip>
          <a:srcRect l="4753" r="19017"/>
          <a:stretch/>
        </p:blipFill>
        <p:spPr>
          <a:xfrm>
            <a:off x="849794" y="1035787"/>
            <a:ext cx="11342206" cy="5557101"/>
          </a:xfrm>
          <a:prstGeom prst="rect">
            <a:avLst/>
          </a:prstGeom>
        </p:spPr>
      </p:pic>
    </p:spTree>
    <p:extLst>
      <p:ext uri="{BB962C8B-B14F-4D97-AF65-F5344CB8AC3E}">
        <p14:creationId xmlns:p14="http://schemas.microsoft.com/office/powerpoint/2010/main" val="3171685872"/>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1BC44F-0C44-5B0C-F5A5-1BF0A195D735}"/>
              </a:ext>
            </a:extLst>
          </p:cNvPr>
          <p:cNvPicPr>
            <a:picLocks noChangeAspect="1"/>
          </p:cNvPicPr>
          <p:nvPr/>
        </p:nvPicPr>
        <p:blipFill>
          <a:blip r:embed="rId2"/>
          <a:stretch>
            <a:fillRect/>
          </a:stretch>
        </p:blipFill>
        <p:spPr>
          <a:xfrm>
            <a:off x="2144485" y="0"/>
            <a:ext cx="7903029" cy="6858000"/>
          </a:xfrm>
          <a:prstGeom prst="rect">
            <a:avLst/>
          </a:prstGeom>
        </p:spPr>
      </p:pic>
    </p:spTree>
    <p:extLst>
      <p:ext uri="{BB962C8B-B14F-4D97-AF65-F5344CB8AC3E}">
        <p14:creationId xmlns:p14="http://schemas.microsoft.com/office/powerpoint/2010/main" val="2591129585"/>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0D9881B-B1A3-73BF-5AEC-8CB486973293}"/>
              </a:ext>
            </a:extLst>
          </p:cNvPr>
          <p:cNvPicPr>
            <a:picLocks noChangeAspect="1"/>
          </p:cNvPicPr>
          <p:nvPr/>
        </p:nvPicPr>
        <p:blipFill rotWithShape="1">
          <a:blip r:embed="rId3">
            <a:extLst>
              <a:ext uri="{28A0092B-C50C-407E-A947-70E740481C1C}">
                <a14:useLocalDpi xmlns:a14="http://schemas.microsoft.com/office/drawing/2010/main" val="0"/>
              </a:ext>
            </a:extLst>
          </a:blip>
          <a:srcRect l="807" t="382" r="-871" b="33832"/>
          <a:stretch/>
        </p:blipFill>
        <p:spPr>
          <a:xfrm>
            <a:off x="1084084" y="148976"/>
            <a:ext cx="9285402" cy="6670084"/>
          </a:xfrm>
          <a:prstGeom prst="rect">
            <a:avLst/>
          </a:prstGeom>
        </p:spPr>
      </p:pic>
    </p:spTree>
    <p:extLst>
      <p:ext uri="{BB962C8B-B14F-4D97-AF65-F5344CB8AC3E}">
        <p14:creationId xmlns:p14="http://schemas.microsoft.com/office/powerpoint/2010/main" val="2742733880"/>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B28476-F994-8040-41CF-7E8B216A3889}"/>
              </a:ext>
            </a:extLst>
          </p:cNvPr>
          <p:cNvPicPr>
            <a:picLocks noChangeAspect="1"/>
          </p:cNvPicPr>
          <p:nvPr/>
        </p:nvPicPr>
        <p:blipFill rotWithShape="1">
          <a:blip r:embed="rId2">
            <a:extLst>
              <a:ext uri="{28A0092B-C50C-407E-A947-70E740481C1C}">
                <a14:useLocalDpi xmlns:a14="http://schemas.microsoft.com/office/drawing/2010/main" val="0"/>
              </a:ext>
            </a:extLst>
          </a:blip>
          <a:srcRect l="3310" r="3310"/>
          <a:stretch/>
        </p:blipFill>
        <p:spPr>
          <a:xfrm>
            <a:off x="452581" y="0"/>
            <a:ext cx="11286837" cy="6858000"/>
          </a:xfrm>
          <a:prstGeom prst="rect">
            <a:avLst/>
          </a:prstGeom>
        </p:spPr>
      </p:pic>
    </p:spTree>
    <p:extLst>
      <p:ext uri="{BB962C8B-B14F-4D97-AF65-F5344CB8AC3E}">
        <p14:creationId xmlns:p14="http://schemas.microsoft.com/office/powerpoint/2010/main" val="827276432"/>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8F01B-4A1F-5BEB-3FDE-49C361C3289F}"/>
              </a:ext>
            </a:extLst>
          </p:cNvPr>
          <p:cNvPicPr>
            <a:picLocks noChangeAspect="1"/>
          </p:cNvPicPr>
          <p:nvPr/>
        </p:nvPicPr>
        <p:blipFill>
          <a:blip r:embed="rId2"/>
          <a:stretch>
            <a:fillRect/>
          </a:stretch>
        </p:blipFill>
        <p:spPr>
          <a:xfrm>
            <a:off x="1121790" y="156858"/>
            <a:ext cx="10192232" cy="6557240"/>
          </a:xfrm>
          <a:prstGeom prst="rect">
            <a:avLst/>
          </a:prstGeom>
        </p:spPr>
      </p:pic>
    </p:spTree>
    <p:extLst>
      <p:ext uri="{BB962C8B-B14F-4D97-AF65-F5344CB8AC3E}">
        <p14:creationId xmlns:p14="http://schemas.microsoft.com/office/powerpoint/2010/main" val="801985698"/>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484C5-B925-F376-D259-AAA763EB2BDF}"/>
              </a:ext>
            </a:extLst>
          </p:cNvPr>
          <p:cNvPicPr>
            <a:picLocks noChangeAspect="1"/>
          </p:cNvPicPr>
          <p:nvPr/>
        </p:nvPicPr>
        <p:blipFill rotWithShape="1">
          <a:blip r:embed="rId2"/>
          <a:srcRect l="-1" r="-8943"/>
          <a:stretch/>
        </p:blipFill>
        <p:spPr>
          <a:xfrm>
            <a:off x="848412" y="681399"/>
            <a:ext cx="12192000" cy="5495202"/>
          </a:xfrm>
          <a:prstGeom prst="rect">
            <a:avLst/>
          </a:prstGeom>
        </p:spPr>
      </p:pic>
    </p:spTree>
    <p:extLst>
      <p:ext uri="{BB962C8B-B14F-4D97-AF65-F5344CB8AC3E}">
        <p14:creationId xmlns:p14="http://schemas.microsoft.com/office/powerpoint/2010/main" val="38557356"/>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86C7BB-6D0A-0612-F045-520867E57A9E}"/>
              </a:ext>
            </a:extLst>
          </p:cNvPr>
          <p:cNvPicPr>
            <a:picLocks noChangeAspect="1"/>
          </p:cNvPicPr>
          <p:nvPr/>
        </p:nvPicPr>
        <p:blipFill rotWithShape="1">
          <a:blip r:embed="rId2"/>
          <a:srcRect t="13896"/>
          <a:stretch/>
        </p:blipFill>
        <p:spPr>
          <a:xfrm>
            <a:off x="754143" y="0"/>
            <a:ext cx="11362441" cy="3212684"/>
          </a:xfrm>
          <a:prstGeom prst="rect">
            <a:avLst/>
          </a:prstGeom>
        </p:spPr>
      </p:pic>
      <p:pic>
        <p:nvPicPr>
          <p:cNvPr id="7" name="Picture 6">
            <a:extLst>
              <a:ext uri="{FF2B5EF4-FFF2-40B4-BE49-F238E27FC236}">
                <a16:creationId xmlns:a16="http://schemas.microsoft.com/office/drawing/2014/main" id="{7B1DDBD5-9F50-30D9-D41B-F041D5CC1FEE}"/>
              </a:ext>
            </a:extLst>
          </p:cNvPr>
          <p:cNvPicPr>
            <a:picLocks noChangeAspect="1"/>
          </p:cNvPicPr>
          <p:nvPr/>
        </p:nvPicPr>
        <p:blipFill rotWithShape="1">
          <a:blip r:embed="rId3"/>
          <a:srcRect r="7514"/>
          <a:stretch/>
        </p:blipFill>
        <p:spPr>
          <a:xfrm>
            <a:off x="754143" y="3293745"/>
            <a:ext cx="11275932" cy="3261360"/>
          </a:xfrm>
          <a:prstGeom prst="rect">
            <a:avLst/>
          </a:prstGeom>
        </p:spPr>
      </p:pic>
    </p:spTree>
    <p:extLst>
      <p:ext uri="{BB962C8B-B14F-4D97-AF65-F5344CB8AC3E}">
        <p14:creationId xmlns:p14="http://schemas.microsoft.com/office/powerpoint/2010/main" val="2668342614"/>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7C79EF8-9AF5-B881-92C6-5B25A3827301}"/>
              </a:ext>
            </a:extLst>
          </p:cNvPr>
          <p:cNvPicPr>
            <a:picLocks noChangeAspect="1"/>
          </p:cNvPicPr>
          <p:nvPr/>
        </p:nvPicPr>
        <p:blipFill rotWithShape="1">
          <a:blip r:embed="rId2"/>
          <a:srcRect r="2268"/>
          <a:stretch/>
        </p:blipFill>
        <p:spPr>
          <a:xfrm>
            <a:off x="851614" y="475873"/>
            <a:ext cx="11120427" cy="6092169"/>
          </a:xfrm>
          <a:prstGeom prst="rect">
            <a:avLst/>
          </a:prstGeom>
        </p:spPr>
      </p:pic>
    </p:spTree>
    <p:extLst>
      <p:ext uri="{BB962C8B-B14F-4D97-AF65-F5344CB8AC3E}">
        <p14:creationId xmlns:p14="http://schemas.microsoft.com/office/powerpoint/2010/main" val="3842826351"/>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8F01B-4A1F-5BEB-3FDE-49C361C328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1790" y="516863"/>
            <a:ext cx="10192232" cy="5837230"/>
          </a:xfrm>
          <a:prstGeom prst="rect">
            <a:avLst/>
          </a:prstGeom>
        </p:spPr>
      </p:pic>
    </p:spTree>
    <p:extLst>
      <p:ext uri="{BB962C8B-B14F-4D97-AF65-F5344CB8AC3E}">
        <p14:creationId xmlns:p14="http://schemas.microsoft.com/office/powerpoint/2010/main" val="2384088162"/>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484C5-B925-F376-D259-AAA763EB2BDF}"/>
              </a:ext>
            </a:extLst>
          </p:cNvPr>
          <p:cNvPicPr>
            <a:picLocks noChangeAspect="1"/>
          </p:cNvPicPr>
          <p:nvPr/>
        </p:nvPicPr>
        <p:blipFill rotWithShape="1">
          <a:blip r:embed="rId2">
            <a:extLst>
              <a:ext uri="{28A0092B-C50C-407E-A947-70E740481C1C}">
                <a14:useLocalDpi xmlns:a14="http://schemas.microsoft.com/office/drawing/2010/main" val="0"/>
              </a:ext>
            </a:extLst>
          </a:blip>
          <a:srcRect l="1162" r="1162"/>
          <a:stretch/>
        </p:blipFill>
        <p:spPr>
          <a:xfrm>
            <a:off x="848412" y="681399"/>
            <a:ext cx="12192000" cy="5495202"/>
          </a:xfrm>
          <a:prstGeom prst="rect">
            <a:avLst/>
          </a:prstGeom>
        </p:spPr>
      </p:pic>
    </p:spTree>
    <p:extLst>
      <p:ext uri="{BB962C8B-B14F-4D97-AF65-F5344CB8AC3E}">
        <p14:creationId xmlns:p14="http://schemas.microsoft.com/office/powerpoint/2010/main" val="3275925061"/>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DA928F-603F-DF22-0E16-D71898CAB299}"/>
              </a:ext>
            </a:extLst>
          </p:cNvPr>
          <p:cNvPicPr>
            <a:picLocks noChangeAspect="1"/>
          </p:cNvPicPr>
          <p:nvPr/>
        </p:nvPicPr>
        <p:blipFill rotWithShape="1">
          <a:blip r:embed="rId2">
            <a:extLst>
              <a:ext uri="{28A0092B-C50C-407E-A947-70E740481C1C}">
                <a14:useLocalDpi xmlns:a14="http://schemas.microsoft.com/office/drawing/2010/main" val="0"/>
              </a:ext>
            </a:extLst>
          </a:blip>
          <a:srcRect t="-298" b="279"/>
          <a:stretch/>
        </p:blipFill>
        <p:spPr>
          <a:xfrm>
            <a:off x="752629" y="773252"/>
            <a:ext cx="11439371" cy="5693536"/>
          </a:xfrm>
          <a:prstGeom prst="rect">
            <a:avLst/>
          </a:prstGeom>
        </p:spPr>
      </p:pic>
    </p:spTree>
    <p:extLst>
      <p:ext uri="{BB962C8B-B14F-4D97-AF65-F5344CB8AC3E}">
        <p14:creationId xmlns:p14="http://schemas.microsoft.com/office/powerpoint/2010/main" val="931589882"/>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7C79EF8-9AF5-B881-92C6-5B25A3827301}"/>
              </a:ext>
            </a:extLst>
          </p:cNvPr>
          <p:cNvPicPr>
            <a:picLocks noChangeAspect="1"/>
          </p:cNvPicPr>
          <p:nvPr/>
        </p:nvPicPr>
        <p:blipFill rotWithShape="1">
          <a:blip r:embed="rId2">
            <a:extLst>
              <a:ext uri="{28A0092B-C50C-407E-A947-70E740481C1C}">
                <a14:useLocalDpi xmlns:a14="http://schemas.microsoft.com/office/drawing/2010/main" val="0"/>
              </a:ext>
            </a:extLst>
          </a:blip>
          <a:srcRect l="-299" t="-446" r="9136" b="446"/>
          <a:stretch/>
        </p:blipFill>
        <p:spPr>
          <a:xfrm>
            <a:off x="851614" y="355772"/>
            <a:ext cx="11120427" cy="6092169"/>
          </a:xfrm>
          <a:prstGeom prst="rect">
            <a:avLst/>
          </a:prstGeom>
        </p:spPr>
      </p:pic>
    </p:spTree>
    <p:extLst>
      <p:ext uri="{BB962C8B-B14F-4D97-AF65-F5344CB8AC3E}">
        <p14:creationId xmlns:p14="http://schemas.microsoft.com/office/powerpoint/2010/main" val="2540731566"/>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8F01B-4A1F-5BEB-3FDE-49C361C328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1790" y="651785"/>
            <a:ext cx="10192232" cy="5567386"/>
          </a:xfrm>
          <a:prstGeom prst="rect">
            <a:avLst/>
          </a:prstGeom>
        </p:spPr>
      </p:pic>
    </p:spTree>
    <p:extLst>
      <p:ext uri="{BB962C8B-B14F-4D97-AF65-F5344CB8AC3E}">
        <p14:creationId xmlns:p14="http://schemas.microsoft.com/office/powerpoint/2010/main" val="1769877537"/>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484C5-B925-F376-D259-AAA763EB2BDF}"/>
              </a:ext>
            </a:extLst>
          </p:cNvPr>
          <p:cNvPicPr>
            <a:picLocks noChangeAspect="1"/>
          </p:cNvPicPr>
          <p:nvPr/>
        </p:nvPicPr>
        <p:blipFill rotWithShape="1">
          <a:blip r:embed="rId2">
            <a:extLst>
              <a:ext uri="{28A0092B-C50C-407E-A947-70E740481C1C}">
                <a14:useLocalDpi xmlns:a14="http://schemas.microsoft.com/office/drawing/2010/main" val="0"/>
              </a:ext>
            </a:extLst>
          </a:blip>
          <a:srcRect l="-78" t="5180" r="78" b="17740"/>
          <a:stretch/>
        </p:blipFill>
        <p:spPr>
          <a:xfrm>
            <a:off x="848412" y="681399"/>
            <a:ext cx="12192000" cy="5495202"/>
          </a:xfrm>
          <a:prstGeom prst="rect">
            <a:avLst/>
          </a:prstGeom>
        </p:spPr>
      </p:pic>
    </p:spTree>
    <p:extLst>
      <p:ext uri="{BB962C8B-B14F-4D97-AF65-F5344CB8AC3E}">
        <p14:creationId xmlns:p14="http://schemas.microsoft.com/office/powerpoint/2010/main" val="349155175"/>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DA928F-603F-DF22-0E16-D71898CAB299}"/>
              </a:ext>
            </a:extLst>
          </p:cNvPr>
          <p:cNvPicPr>
            <a:picLocks noChangeAspect="1"/>
          </p:cNvPicPr>
          <p:nvPr/>
        </p:nvPicPr>
        <p:blipFill rotWithShape="1">
          <a:blip r:embed="rId2">
            <a:extLst>
              <a:ext uri="{28A0092B-C50C-407E-A947-70E740481C1C}">
                <a14:useLocalDpi xmlns:a14="http://schemas.microsoft.com/office/drawing/2010/main" val="0"/>
              </a:ext>
            </a:extLst>
          </a:blip>
          <a:srcRect t="3497" b="677"/>
          <a:stretch/>
        </p:blipFill>
        <p:spPr>
          <a:xfrm>
            <a:off x="752629" y="224013"/>
            <a:ext cx="11439371" cy="6409973"/>
          </a:xfrm>
          <a:prstGeom prst="rect">
            <a:avLst/>
          </a:prstGeom>
        </p:spPr>
      </p:pic>
    </p:spTree>
    <p:extLst>
      <p:ext uri="{BB962C8B-B14F-4D97-AF65-F5344CB8AC3E}">
        <p14:creationId xmlns:p14="http://schemas.microsoft.com/office/powerpoint/2010/main" val="1966542113"/>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3D95E-9E55-F5E0-E167-7D12F2554C7F}"/>
              </a:ext>
            </a:extLst>
          </p:cNvPr>
          <p:cNvSpPr>
            <a:spLocks noGrp="1"/>
          </p:cNvSpPr>
          <p:nvPr>
            <p:ph type="title"/>
          </p:nvPr>
        </p:nvSpPr>
        <p:spPr>
          <a:xfrm>
            <a:off x="735290" y="-8167"/>
            <a:ext cx="10498318" cy="657016"/>
          </a:xfrm>
        </p:spPr>
        <p:txBody>
          <a:bodyPr>
            <a:normAutofit fontScale="90000"/>
          </a:bodyPr>
          <a:lstStyle/>
          <a:p>
            <a:r>
              <a:rPr lang="en-US">
                <a:latin typeface="Times New Roman" panose="02020603050405020304" pitchFamily="18" charset="0"/>
                <a:cs typeface="Times New Roman" panose="02020603050405020304" pitchFamily="18" charset="0"/>
              </a:rPr>
              <a:t>Descriptive Statistics of NHANES</a:t>
            </a:r>
          </a:p>
        </p:txBody>
      </p:sp>
      <p:pic>
        <p:nvPicPr>
          <p:cNvPr id="4" name="Picture 3">
            <a:extLst>
              <a:ext uri="{FF2B5EF4-FFF2-40B4-BE49-F238E27FC236}">
                <a16:creationId xmlns:a16="http://schemas.microsoft.com/office/drawing/2014/main" id="{DD0848EF-E3DE-C068-8593-6A0607C15D71}"/>
              </a:ext>
            </a:extLst>
          </p:cNvPr>
          <p:cNvPicPr>
            <a:picLocks noChangeAspect="1"/>
          </p:cNvPicPr>
          <p:nvPr/>
        </p:nvPicPr>
        <p:blipFill rotWithShape="1">
          <a:blip r:embed="rId2">
            <a:extLst>
              <a:ext uri="{28A0092B-C50C-407E-A947-70E740481C1C}">
                <a14:useLocalDpi xmlns:a14="http://schemas.microsoft.com/office/drawing/2010/main" val="0"/>
              </a:ext>
            </a:extLst>
          </a:blip>
          <a:srcRect l="6263" t="15395" r="2114" b="10790"/>
          <a:stretch/>
        </p:blipFill>
        <p:spPr>
          <a:xfrm>
            <a:off x="735290" y="564008"/>
            <a:ext cx="10906813" cy="4942581"/>
          </a:xfrm>
          <a:prstGeom prst="rect">
            <a:avLst/>
          </a:prstGeom>
        </p:spPr>
      </p:pic>
      <p:pic>
        <p:nvPicPr>
          <p:cNvPr id="6" name="Picture 5">
            <a:extLst>
              <a:ext uri="{FF2B5EF4-FFF2-40B4-BE49-F238E27FC236}">
                <a16:creationId xmlns:a16="http://schemas.microsoft.com/office/drawing/2014/main" id="{D93EEBC6-27E9-521B-6C57-2E17A5B072E3}"/>
              </a:ext>
            </a:extLst>
          </p:cNvPr>
          <p:cNvPicPr>
            <a:picLocks noChangeAspect="1"/>
          </p:cNvPicPr>
          <p:nvPr/>
        </p:nvPicPr>
        <p:blipFill rotWithShape="1">
          <a:blip r:embed="rId3">
            <a:extLst>
              <a:ext uri="{28A0092B-C50C-407E-A947-70E740481C1C}">
                <a14:useLocalDpi xmlns:a14="http://schemas.microsoft.com/office/drawing/2010/main" val="0"/>
              </a:ext>
            </a:extLst>
          </a:blip>
          <a:srcRect l="6133" t="55315" r="2243" b="23986"/>
          <a:stretch/>
        </p:blipFill>
        <p:spPr>
          <a:xfrm>
            <a:off x="735290" y="5503476"/>
            <a:ext cx="10906813" cy="1351411"/>
          </a:xfrm>
          <a:prstGeom prst="rect">
            <a:avLst/>
          </a:prstGeom>
        </p:spPr>
      </p:pic>
    </p:spTree>
    <p:extLst>
      <p:ext uri="{BB962C8B-B14F-4D97-AF65-F5344CB8AC3E}">
        <p14:creationId xmlns:p14="http://schemas.microsoft.com/office/powerpoint/2010/main" val="3720524328"/>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3D95E-9E55-F5E0-E167-7D12F2554C7F}"/>
              </a:ext>
            </a:extLst>
          </p:cNvPr>
          <p:cNvSpPr>
            <a:spLocks noGrp="1"/>
          </p:cNvSpPr>
          <p:nvPr>
            <p:ph type="title"/>
          </p:nvPr>
        </p:nvSpPr>
        <p:spPr>
          <a:xfrm>
            <a:off x="732148" y="0"/>
            <a:ext cx="10972800" cy="657016"/>
          </a:xfrm>
        </p:spPr>
        <p:txBody>
          <a:bodyPr>
            <a:normAutofit/>
          </a:bodyPr>
          <a:lstStyle/>
          <a:p>
            <a:r>
              <a:rPr lang="en-US" sz="4000">
                <a:latin typeface="Times New Roman" panose="02020603050405020304" pitchFamily="18" charset="0"/>
                <a:cs typeface="Times New Roman" panose="02020603050405020304" pitchFamily="18" charset="0"/>
              </a:rPr>
              <a:t>Descriptive Statistics of NAMCS</a:t>
            </a:r>
          </a:p>
        </p:txBody>
      </p:sp>
      <p:pic>
        <p:nvPicPr>
          <p:cNvPr id="4" name="Picture 3">
            <a:extLst>
              <a:ext uri="{FF2B5EF4-FFF2-40B4-BE49-F238E27FC236}">
                <a16:creationId xmlns:a16="http://schemas.microsoft.com/office/drawing/2014/main" id="{8AB6970D-23A0-11EF-2219-94B7FC070E6E}"/>
              </a:ext>
            </a:extLst>
          </p:cNvPr>
          <p:cNvPicPr>
            <a:picLocks noChangeAspect="1"/>
          </p:cNvPicPr>
          <p:nvPr/>
        </p:nvPicPr>
        <p:blipFill rotWithShape="1">
          <a:blip r:embed="rId2">
            <a:extLst>
              <a:ext uri="{28A0092B-C50C-407E-A947-70E740481C1C}">
                <a14:useLocalDpi xmlns:a14="http://schemas.microsoft.com/office/drawing/2010/main" val="0"/>
              </a:ext>
            </a:extLst>
          </a:blip>
          <a:srcRect l="6006" t="15945" r="2422" b="8316"/>
          <a:stretch/>
        </p:blipFill>
        <p:spPr>
          <a:xfrm>
            <a:off x="732148" y="546754"/>
            <a:ext cx="11459852" cy="5194170"/>
          </a:xfrm>
          <a:prstGeom prst="rect">
            <a:avLst/>
          </a:prstGeom>
        </p:spPr>
      </p:pic>
      <p:pic>
        <p:nvPicPr>
          <p:cNvPr id="6" name="Picture 5">
            <a:extLst>
              <a:ext uri="{FF2B5EF4-FFF2-40B4-BE49-F238E27FC236}">
                <a16:creationId xmlns:a16="http://schemas.microsoft.com/office/drawing/2014/main" id="{E1D6C23B-4BDE-4A0A-D06E-4DBDFEF7D795}"/>
              </a:ext>
            </a:extLst>
          </p:cNvPr>
          <p:cNvPicPr>
            <a:picLocks noChangeAspect="1"/>
          </p:cNvPicPr>
          <p:nvPr/>
        </p:nvPicPr>
        <p:blipFill rotWithShape="1">
          <a:blip r:embed="rId3">
            <a:extLst>
              <a:ext uri="{28A0092B-C50C-407E-A947-70E740481C1C}">
                <a14:useLocalDpi xmlns:a14="http://schemas.microsoft.com/office/drawing/2010/main" val="0"/>
              </a:ext>
            </a:extLst>
          </a:blip>
          <a:srcRect l="6006" t="45773" r="2731" b="37457"/>
          <a:stretch/>
        </p:blipFill>
        <p:spPr>
          <a:xfrm>
            <a:off x="732147" y="5712643"/>
            <a:ext cx="11459851" cy="1150070"/>
          </a:xfrm>
          <a:prstGeom prst="rect">
            <a:avLst/>
          </a:prstGeom>
        </p:spPr>
      </p:pic>
    </p:spTree>
    <p:extLst>
      <p:ext uri="{BB962C8B-B14F-4D97-AF65-F5344CB8AC3E}">
        <p14:creationId xmlns:p14="http://schemas.microsoft.com/office/powerpoint/2010/main" val="3132135923"/>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BFE5BE1-4F74-8ABA-8286-C099617EDA9A}"/>
              </a:ext>
            </a:extLst>
          </p:cNvPr>
          <p:cNvSpPr>
            <a:spLocks noGrp="1"/>
          </p:cNvSpPr>
          <p:nvPr>
            <p:ph type="body" idx="1"/>
          </p:nvPr>
        </p:nvSpPr>
        <p:spPr>
          <a:xfrm>
            <a:off x="854383" y="149351"/>
            <a:ext cx="10832592" cy="6559297"/>
          </a:xfrm>
        </p:spPr>
        <p:txBody>
          <a:bodyPr lIns="45719" tIns="45720" rIns="45719" bIns="45720" anchor="t">
            <a:normAutofit/>
          </a:bodyPr>
          <a:lstStyle/>
          <a:p>
            <a:pPr marL="0" indent="0">
              <a:buNone/>
            </a:pPr>
            <a:r>
              <a:rPr lang="en-IN" sz="3600">
                <a:latin typeface="Times New Roman"/>
                <a:cs typeface="Times New Roman"/>
              </a:rPr>
              <a:t>EXPLORATORY DATA ANALYSIS</a:t>
            </a:r>
          </a:p>
          <a:p>
            <a:pPr marL="0" indent="0">
              <a:buNone/>
            </a:pPr>
            <a:endParaRPr lang="en-IN"/>
          </a:p>
        </p:txBody>
      </p:sp>
      <p:pic>
        <p:nvPicPr>
          <p:cNvPr id="3" name="Picture 2">
            <a:extLst>
              <a:ext uri="{FF2B5EF4-FFF2-40B4-BE49-F238E27FC236}">
                <a16:creationId xmlns:a16="http://schemas.microsoft.com/office/drawing/2014/main" id="{75CB1BCC-ADB8-E13E-1B89-64E6519AE108}"/>
              </a:ext>
            </a:extLst>
          </p:cNvPr>
          <p:cNvPicPr>
            <a:picLocks noChangeAspect="1"/>
          </p:cNvPicPr>
          <p:nvPr/>
        </p:nvPicPr>
        <p:blipFill rotWithShape="1">
          <a:blip r:embed="rId2"/>
          <a:srcRect l="4383"/>
          <a:stretch/>
        </p:blipFill>
        <p:spPr>
          <a:xfrm>
            <a:off x="854382" y="643476"/>
            <a:ext cx="11268488" cy="3108394"/>
          </a:xfrm>
          <a:prstGeom prst="rect">
            <a:avLst/>
          </a:prstGeom>
        </p:spPr>
      </p:pic>
      <p:pic>
        <p:nvPicPr>
          <p:cNvPr id="5" name="Picture 4">
            <a:extLst>
              <a:ext uri="{FF2B5EF4-FFF2-40B4-BE49-F238E27FC236}">
                <a16:creationId xmlns:a16="http://schemas.microsoft.com/office/drawing/2014/main" id="{BB54012C-DBA9-931F-E469-E25343A45D04}"/>
              </a:ext>
            </a:extLst>
          </p:cNvPr>
          <p:cNvPicPr>
            <a:picLocks noChangeAspect="1"/>
          </p:cNvPicPr>
          <p:nvPr/>
        </p:nvPicPr>
        <p:blipFill rotWithShape="1">
          <a:blip r:embed="rId3"/>
          <a:srcRect l="5347"/>
          <a:stretch/>
        </p:blipFill>
        <p:spPr>
          <a:xfrm>
            <a:off x="854381" y="3761296"/>
            <a:ext cx="11337619" cy="3051048"/>
          </a:xfrm>
          <a:prstGeom prst="rect">
            <a:avLst/>
          </a:prstGeom>
        </p:spPr>
      </p:pic>
    </p:spTree>
    <p:extLst>
      <p:ext uri="{BB962C8B-B14F-4D97-AF65-F5344CB8AC3E}">
        <p14:creationId xmlns:p14="http://schemas.microsoft.com/office/powerpoint/2010/main" val="1006472425"/>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AFA8E9-E48A-B857-4394-7F1C0636444F}"/>
              </a:ext>
            </a:extLst>
          </p:cNvPr>
          <p:cNvPicPr>
            <a:picLocks noChangeAspect="1"/>
          </p:cNvPicPr>
          <p:nvPr/>
        </p:nvPicPr>
        <p:blipFill>
          <a:blip r:embed="rId2"/>
          <a:stretch>
            <a:fillRect/>
          </a:stretch>
        </p:blipFill>
        <p:spPr>
          <a:xfrm>
            <a:off x="923584" y="-46892"/>
            <a:ext cx="11066311" cy="6858000"/>
          </a:xfrm>
          <a:prstGeom prst="rect">
            <a:avLst/>
          </a:prstGeom>
        </p:spPr>
      </p:pic>
    </p:spTree>
    <p:extLst>
      <p:ext uri="{BB962C8B-B14F-4D97-AF65-F5344CB8AC3E}">
        <p14:creationId xmlns:p14="http://schemas.microsoft.com/office/powerpoint/2010/main" val="1503588328"/>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F7EB6-D947-D8B9-5AAD-76DD9DE44B68}"/>
              </a:ext>
            </a:extLst>
          </p:cNvPr>
          <p:cNvPicPr>
            <a:picLocks noChangeAspect="1"/>
          </p:cNvPicPr>
          <p:nvPr/>
        </p:nvPicPr>
        <p:blipFill>
          <a:blip r:embed="rId2"/>
          <a:stretch>
            <a:fillRect/>
          </a:stretch>
        </p:blipFill>
        <p:spPr>
          <a:xfrm>
            <a:off x="841282" y="0"/>
            <a:ext cx="11290936" cy="6858000"/>
          </a:xfrm>
          <a:prstGeom prst="rect">
            <a:avLst/>
          </a:prstGeom>
        </p:spPr>
      </p:pic>
    </p:spTree>
    <p:extLst>
      <p:ext uri="{BB962C8B-B14F-4D97-AF65-F5344CB8AC3E}">
        <p14:creationId xmlns:p14="http://schemas.microsoft.com/office/powerpoint/2010/main" val="3818013425"/>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D6897D-82CD-08C0-003F-13D0ECF6D632}"/>
              </a:ext>
            </a:extLst>
          </p:cNvPr>
          <p:cNvPicPr>
            <a:picLocks noChangeAspect="1"/>
          </p:cNvPicPr>
          <p:nvPr/>
        </p:nvPicPr>
        <p:blipFill rotWithShape="1">
          <a:blip r:embed="rId2"/>
          <a:srcRect l="5378" t="-2731" r="-8708" b="2731"/>
          <a:stretch/>
        </p:blipFill>
        <p:spPr>
          <a:xfrm>
            <a:off x="782425" y="0"/>
            <a:ext cx="12405674" cy="2659236"/>
          </a:xfrm>
          <a:prstGeom prst="rect">
            <a:avLst/>
          </a:prstGeom>
        </p:spPr>
      </p:pic>
      <p:pic>
        <p:nvPicPr>
          <p:cNvPr id="2" name="Picture 1">
            <a:extLst>
              <a:ext uri="{FF2B5EF4-FFF2-40B4-BE49-F238E27FC236}">
                <a16:creationId xmlns:a16="http://schemas.microsoft.com/office/drawing/2014/main" id="{B993C9E6-21FD-7D9F-6FCE-24A056EC4219}"/>
              </a:ext>
            </a:extLst>
          </p:cNvPr>
          <p:cNvPicPr>
            <a:picLocks noChangeAspect="1"/>
          </p:cNvPicPr>
          <p:nvPr/>
        </p:nvPicPr>
        <p:blipFill rotWithShape="1">
          <a:blip r:embed="rId3"/>
          <a:srcRect l="5298" t="-3988" r="4444" b="3988"/>
          <a:stretch/>
        </p:blipFill>
        <p:spPr>
          <a:xfrm>
            <a:off x="782425" y="2627259"/>
            <a:ext cx="11331018" cy="801741"/>
          </a:xfrm>
          <a:prstGeom prst="rect">
            <a:avLst/>
          </a:prstGeom>
        </p:spPr>
      </p:pic>
      <p:pic>
        <p:nvPicPr>
          <p:cNvPr id="3" name="Picture 2">
            <a:extLst>
              <a:ext uri="{FF2B5EF4-FFF2-40B4-BE49-F238E27FC236}">
                <a16:creationId xmlns:a16="http://schemas.microsoft.com/office/drawing/2014/main" id="{86ADEE50-B78C-137C-E872-CB33CA1BE36D}"/>
              </a:ext>
            </a:extLst>
          </p:cNvPr>
          <p:cNvPicPr>
            <a:picLocks noChangeAspect="1"/>
          </p:cNvPicPr>
          <p:nvPr/>
        </p:nvPicPr>
        <p:blipFill rotWithShape="1">
          <a:blip r:embed="rId4"/>
          <a:srcRect l="5232" r="498"/>
          <a:stretch/>
        </p:blipFill>
        <p:spPr>
          <a:xfrm>
            <a:off x="782425" y="3428999"/>
            <a:ext cx="11331018" cy="3429001"/>
          </a:xfrm>
          <a:prstGeom prst="rect">
            <a:avLst/>
          </a:prstGeom>
        </p:spPr>
      </p:pic>
    </p:spTree>
    <p:extLst>
      <p:ext uri="{BB962C8B-B14F-4D97-AF65-F5344CB8AC3E}">
        <p14:creationId xmlns:p14="http://schemas.microsoft.com/office/powerpoint/2010/main" val="933801313"/>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AF25CFBD-E3EC-652F-F29C-B1AC753FC121}"/>
              </a:ext>
            </a:extLst>
          </p:cNvPr>
          <p:cNvPicPr>
            <a:picLocks noChangeAspect="1"/>
          </p:cNvPicPr>
          <p:nvPr/>
        </p:nvPicPr>
        <p:blipFill rotWithShape="1">
          <a:blip r:embed="rId2">
            <a:extLst>
              <a:ext uri="{28A0092B-C50C-407E-A947-70E740481C1C}">
                <a14:useLocalDpi xmlns:a14="http://schemas.microsoft.com/office/drawing/2010/main" val="0"/>
              </a:ext>
            </a:extLst>
          </a:blip>
          <a:srcRect l="6186" t="10997" r="2500" b="28247"/>
          <a:stretch/>
        </p:blipFill>
        <p:spPr>
          <a:xfrm>
            <a:off x="754142" y="65988"/>
            <a:ext cx="11437858" cy="6674177"/>
          </a:xfrm>
          <a:prstGeom prst="rect">
            <a:avLst/>
          </a:prstGeom>
        </p:spPr>
      </p:pic>
    </p:spTree>
    <p:extLst>
      <p:ext uri="{BB962C8B-B14F-4D97-AF65-F5344CB8AC3E}">
        <p14:creationId xmlns:p14="http://schemas.microsoft.com/office/powerpoint/2010/main" val="985857289"/>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B6435D-4DFA-940E-38EA-0C57DFFE2BD7}"/>
              </a:ext>
            </a:extLst>
          </p:cNvPr>
          <p:cNvPicPr>
            <a:picLocks noChangeAspect="1"/>
          </p:cNvPicPr>
          <p:nvPr/>
        </p:nvPicPr>
        <p:blipFill rotWithShape="1">
          <a:blip r:embed="rId2">
            <a:extLst>
              <a:ext uri="{28A0092B-C50C-407E-A947-70E740481C1C}">
                <a14:useLocalDpi xmlns:a14="http://schemas.microsoft.com/office/drawing/2010/main" val="0"/>
              </a:ext>
            </a:extLst>
          </a:blip>
          <a:srcRect l="6109" t="45361" r="1727" b="12028"/>
          <a:stretch/>
        </p:blipFill>
        <p:spPr>
          <a:xfrm>
            <a:off x="921564" y="213863"/>
            <a:ext cx="11019934" cy="3886798"/>
          </a:xfrm>
          <a:prstGeom prst="rect">
            <a:avLst/>
          </a:prstGeom>
        </p:spPr>
      </p:pic>
      <p:pic>
        <p:nvPicPr>
          <p:cNvPr id="15" name="Picture 14">
            <a:extLst>
              <a:ext uri="{FF2B5EF4-FFF2-40B4-BE49-F238E27FC236}">
                <a16:creationId xmlns:a16="http://schemas.microsoft.com/office/drawing/2014/main" id="{AC1C70BE-BB65-AFDC-DCC0-9DD929E8261B}"/>
              </a:ext>
            </a:extLst>
          </p:cNvPr>
          <p:cNvPicPr>
            <a:picLocks noChangeAspect="1"/>
          </p:cNvPicPr>
          <p:nvPr/>
        </p:nvPicPr>
        <p:blipFill rotWithShape="1">
          <a:blip r:embed="rId3">
            <a:extLst>
              <a:ext uri="{28A0092B-C50C-407E-A947-70E740481C1C}">
                <a14:useLocalDpi xmlns:a14="http://schemas.microsoft.com/office/drawing/2010/main" val="0"/>
              </a:ext>
            </a:extLst>
          </a:blip>
          <a:srcRect l="5799" t="50156" r="2366" b="41069"/>
          <a:stretch/>
        </p:blipFill>
        <p:spPr>
          <a:xfrm>
            <a:off x="921564" y="4100661"/>
            <a:ext cx="11019934" cy="725863"/>
          </a:xfrm>
          <a:prstGeom prst="rect">
            <a:avLst/>
          </a:prstGeom>
        </p:spPr>
      </p:pic>
      <p:pic>
        <p:nvPicPr>
          <p:cNvPr id="17" name="Picture 16">
            <a:extLst>
              <a:ext uri="{FF2B5EF4-FFF2-40B4-BE49-F238E27FC236}">
                <a16:creationId xmlns:a16="http://schemas.microsoft.com/office/drawing/2014/main" id="{8E89034D-DBAD-C452-2F1A-B4B629372A1A}"/>
              </a:ext>
            </a:extLst>
          </p:cNvPr>
          <p:cNvPicPr>
            <a:picLocks noChangeAspect="1"/>
          </p:cNvPicPr>
          <p:nvPr/>
        </p:nvPicPr>
        <p:blipFill rotWithShape="1">
          <a:blip r:embed="rId4">
            <a:extLst>
              <a:ext uri="{28A0092B-C50C-407E-A947-70E740481C1C}">
                <a14:useLocalDpi xmlns:a14="http://schemas.microsoft.com/office/drawing/2010/main" val="0"/>
              </a:ext>
            </a:extLst>
          </a:blip>
          <a:srcRect l="5954" t="55395" r="2055" b="16014"/>
          <a:stretch/>
        </p:blipFill>
        <p:spPr>
          <a:xfrm>
            <a:off x="921564" y="4826524"/>
            <a:ext cx="11019934" cy="2031476"/>
          </a:xfrm>
          <a:prstGeom prst="rect">
            <a:avLst/>
          </a:prstGeom>
        </p:spPr>
      </p:pic>
    </p:spTree>
    <p:extLst>
      <p:ext uri="{BB962C8B-B14F-4D97-AF65-F5344CB8AC3E}">
        <p14:creationId xmlns:p14="http://schemas.microsoft.com/office/powerpoint/2010/main" val="3218999674"/>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text&#10;&#10;Description automatically generated">
            <a:extLst>
              <a:ext uri="{FF2B5EF4-FFF2-40B4-BE49-F238E27FC236}">
                <a16:creationId xmlns:a16="http://schemas.microsoft.com/office/drawing/2014/main" id="{B20CF05B-5CB3-D219-81A8-1BCEFF3372F4}"/>
              </a:ext>
            </a:extLst>
          </p:cNvPr>
          <p:cNvPicPr>
            <a:picLocks noChangeAspect="1"/>
          </p:cNvPicPr>
          <p:nvPr/>
        </p:nvPicPr>
        <p:blipFill>
          <a:blip r:embed="rId2"/>
          <a:stretch>
            <a:fillRect/>
          </a:stretch>
        </p:blipFill>
        <p:spPr>
          <a:xfrm>
            <a:off x="993228" y="5175811"/>
            <a:ext cx="11098922" cy="1551344"/>
          </a:xfrm>
          <a:prstGeom prst="rect">
            <a:avLst/>
          </a:prstGeom>
        </p:spPr>
      </p:pic>
      <p:pic>
        <p:nvPicPr>
          <p:cNvPr id="4" name="Picture 4" descr="Graphical user interface, text, application, email&#10;&#10;Description automatically generated">
            <a:extLst>
              <a:ext uri="{FF2B5EF4-FFF2-40B4-BE49-F238E27FC236}">
                <a16:creationId xmlns:a16="http://schemas.microsoft.com/office/drawing/2014/main" id="{F9B70F15-85C7-2B57-E8AA-008AA8148BBC}"/>
              </a:ext>
            </a:extLst>
          </p:cNvPr>
          <p:cNvPicPr>
            <a:picLocks noChangeAspect="1"/>
          </p:cNvPicPr>
          <p:nvPr/>
        </p:nvPicPr>
        <p:blipFill rotWithShape="1">
          <a:blip r:embed="rId3"/>
          <a:srcRect t="16832" r="118" b="-57"/>
          <a:stretch/>
        </p:blipFill>
        <p:spPr>
          <a:xfrm>
            <a:off x="993229" y="744558"/>
            <a:ext cx="11085793" cy="4424533"/>
          </a:xfrm>
          <a:prstGeom prst="rect">
            <a:avLst/>
          </a:prstGeom>
        </p:spPr>
      </p:pic>
      <p:sp>
        <p:nvSpPr>
          <p:cNvPr id="5" name="TextBox 4">
            <a:extLst>
              <a:ext uri="{FF2B5EF4-FFF2-40B4-BE49-F238E27FC236}">
                <a16:creationId xmlns:a16="http://schemas.microsoft.com/office/drawing/2014/main" id="{053AFBF6-7185-5913-784D-FD74A34DF088}"/>
              </a:ext>
            </a:extLst>
          </p:cNvPr>
          <p:cNvSpPr txBox="1"/>
          <p:nvPr/>
        </p:nvSpPr>
        <p:spPr>
          <a:xfrm>
            <a:off x="3619500" y="233198"/>
            <a:ext cx="10428232"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t>Code for Data Visualization ( PIE, Histogram) - NHANES</a:t>
            </a:r>
            <a:endParaRPr kumimoji="0" lang="en-US" sz="1800" b="1" i="0" u="none" strike="noStrike" cap="none" spc="0" normalizeH="0" baseline="0">
              <a:ln>
                <a:noFill/>
              </a:ln>
              <a:solidFill>
                <a:srgbClr val="000000"/>
              </a:solidFill>
              <a:effectLst/>
              <a:uFillTx/>
              <a:latin typeface="+mj-lt"/>
              <a:ea typeface="+mj-ea"/>
              <a:cs typeface="+mj-cs"/>
              <a:sym typeface="Franklin Gothic Book"/>
            </a:endParaRPr>
          </a:p>
        </p:txBody>
      </p:sp>
    </p:spTree>
    <p:extLst>
      <p:ext uri="{BB962C8B-B14F-4D97-AF65-F5344CB8AC3E}">
        <p14:creationId xmlns:p14="http://schemas.microsoft.com/office/powerpoint/2010/main" val="1612165673"/>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text, application, email&#10;&#10;Description automatically generated">
            <a:extLst>
              <a:ext uri="{FF2B5EF4-FFF2-40B4-BE49-F238E27FC236}">
                <a16:creationId xmlns:a16="http://schemas.microsoft.com/office/drawing/2014/main" id="{A9319B08-ACB5-1744-F63E-404993C24287}"/>
              </a:ext>
            </a:extLst>
          </p:cNvPr>
          <p:cNvPicPr>
            <a:picLocks noChangeAspect="1"/>
          </p:cNvPicPr>
          <p:nvPr/>
        </p:nvPicPr>
        <p:blipFill rotWithShape="1">
          <a:blip r:embed="rId2"/>
          <a:srcRect t="40837" r="128"/>
          <a:stretch/>
        </p:blipFill>
        <p:spPr>
          <a:xfrm>
            <a:off x="1439917" y="2223950"/>
            <a:ext cx="10256744" cy="3902503"/>
          </a:xfrm>
          <a:prstGeom prst="rect">
            <a:avLst/>
          </a:prstGeom>
        </p:spPr>
      </p:pic>
      <p:sp>
        <p:nvSpPr>
          <p:cNvPr id="5" name="TextBox 4">
            <a:extLst>
              <a:ext uri="{FF2B5EF4-FFF2-40B4-BE49-F238E27FC236}">
                <a16:creationId xmlns:a16="http://schemas.microsoft.com/office/drawing/2014/main" id="{DE93F9C5-463B-FA2A-F951-A7AC20D4CB2F}"/>
              </a:ext>
            </a:extLst>
          </p:cNvPr>
          <p:cNvSpPr txBox="1"/>
          <p:nvPr/>
        </p:nvSpPr>
        <p:spPr>
          <a:xfrm>
            <a:off x="3895397" y="1349922"/>
            <a:ext cx="533071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b="1"/>
              <a:t>Code for Data Visualization ( PIE, Histogram) - NAMCS</a:t>
            </a:r>
            <a:endParaRPr kumimoji="0" lang="en-US" sz="1800" b="1" i="0" u="none" strike="noStrike" cap="none" spc="0" normalizeH="0" baseline="0">
              <a:ln>
                <a:noFill/>
              </a:ln>
              <a:solidFill>
                <a:srgbClr val="000000"/>
              </a:solidFill>
              <a:effectLst/>
              <a:uFillTx/>
              <a:latin typeface="+mj-lt"/>
              <a:ea typeface="+mj-ea"/>
              <a:cs typeface="+mj-cs"/>
              <a:sym typeface="Franklin Gothic Book"/>
            </a:endParaRPr>
          </a:p>
        </p:txBody>
      </p:sp>
    </p:spTree>
    <p:extLst>
      <p:ext uri="{BB962C8B-B14F-4D97-AF65-F5344CB8AC3E}">
        <p14:creationId xmlns:p14="http://schemas.microsoft.com/office/powerpoint/2010/main" val="2982275119"/>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E795-63CB-5727-EB7E-1BD0457C1E67}"/>
              </a:ext>
            </a:extLst>
          </p:cNvPr>
          <p:cNvSpPr>
            <a:spLocks noGrp="1"/>
          </p:cNvSpPr>
          <p:nvPr>
            <p:ph type="title"/>
          </p:nvPr>
        </p:nvSpPr>
        <p:spPr/>
        <p:txBody>
          <a:bodyPr lIns="45719" tIns="45720" rIns="45719" bIns="45720" anchor="t">
            <a:normAutofit/>
          </a:bodyPr>
          <a:lstStyle/>
          <a:p>
            <a:r>
              <a:rPr lang="en-US">
                <a:latin typeface="Times New Roman"/>
                <a:cs typeface="Times New Roman"/>
              </a:rPr>
              <a:t>Hypothesis Testing</a:t>
            </a:r>
            <a:endParaRPr lang="en-US"/>
          </a:p>
        </p:txBody>
      </p:sp>
      <p:sp>
        <p:nvSpPr>
          <p:cNvPr id="3" name="Text Placeholder 2">
            <a:extLst>
              <a:ext uri="{FF2B5EF4-FFF2-40B4-BE49-F238E27FC236}">
                <a16:creationId xmlns:a16="http://schemas.microsoft.com/office/drawing/2014/main" id="{CCCDD52C-08A2-6795-426E-74A2B63AC1D7}"/>
              </a:ext>
            </a:extLst>
          </p:cNvPr>
          <p:cNvSpPr>
            <a:spLocks noGrp="1"/>
          </p:cNvSpPr>
          <p:nvPr>
            <p:ph type="body" sz="quarter" idx="1"/>
          </p:nvPr>
        </p:nvSpPr>
        <p:spPr>
          <a:xfrm>
            <a:off x="1371600" y="1484790"/>
            <a:ext cx="8484700" cy="823913"/>
          </a:xfrm>
        </p:spPr>
        <p:txBody>
          <a:bodyPr lIns="45719" tIns="45720" rIns="45719" bIns="45720" anchor="b">
            <a:normAutofit/>
          </a:bodyPr>
          <a:lstStyle/>
          <a:p>
            <a:r>
              <a:rPr lang="en-US">
                <a:latin typeface="Times New Roman"/>
                <a:cs typeface="Times New Roman"/>
              </a:rPr>
              <a:t>Finding Significant variables among the two datasets</a:t>
            </a:r>
            <a:endParaRPr lang="en-US"/>
          </a:p>
        </p:txBody>
      </p:sp>
      <p:pic>
        <p:nvPicPr>
          <p:cNvPr id="6" name="Picture 6" descr="Text, application&#10;&#10;Description automatically generated">
            <a:extLst>
              <a:ext uri="{FF2B5EF4-FFF2-40B4-BE49-F238E27FC236}">
                <a16:creationId xmlns:a16="http://schemas.microsoft.com/office/drawing/2014/main" id="{606D812F-BE8E-F456-64DD-A1D57C37832E}"/>
              </a:ext>
            </a:extLst>
          </p:cNvPr>
          <p:cNvPicPr>
            <a:picLocks noChangeAspect="1"/>
          </p:cNvPicPr>
          <p:nvPr/>
        </p:nvPicPr>
        <p:blipFill>
          <a:blip r:embed="rId2"/>
          <a:stretch>
            <a:fillRect/>
          </a:stretch>
        </p:blipFill>
        <p:spPr>
          <a:xfrm>
            <a:off x="2316105" y="2430377"/>
            <a:ext cx="8199494" cy="4302058"/>
          </a:xfrm>
          <a:prstGeom prst="rect">
            <a:avLst/>
          </a:prstGeom>
        </p:spPr>
      </p:pic>
    </p:spTree>
    <p:extLst>
      <p:ext uri="{BB962C8B-B14F-4D97-AF65-F5344CB8AC3E}">
        <p14:creationId xmlns:p14="http://schemas.microsoft.com/office/powerpoint/2010/main" val="2076966261"/>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6857-3F0A-A022-39AA-0684F870440B}"/>
              </a:ext>
            </a:extLst>
          </p:cNvPr>
          <p:cNvSpPr>
            <a:spLocks noGrp="1"/>
          </p:cNvSpPr>
          <p:nvPr>
            <p:ph type="title"/>
          </p:nvPr>
        </p:nvSpPr>
        <p:spPr/>
        <p:txBody>
          <a:bodyPr lIns="45719" tIns="45720" rIns="45719" bIns="45720" anchor="t">
            <a:normAutofit/>
          </a:bodyPr>
          <a:lstStyle/>
          <a:p>
            <a:r>
              <a:rPr lang="en-US" dirty="0">
                <a:latin typeface="Times New Roman"/>
                <a:cs typeface="Times New Roman"/>
              </a:rPr>
              <a:t>NHANES Dataset Significant Variables</a:t>
            </a:r>
            <a:endParaRPr lang="en-US" dirty="0"/>
          </a:p>
        </p:txBody>
      </p:sp>
      <p:pic>
        <p:nvPicPr>
          <p:cNvPr id="6" name="Picture 6" descr="Graphical user interface, text, application, email&#10;&#10;Description automatically generated">
            <a:extLst>
              <a:ext uri="{FF2B5EF4-FFF2-40B4-BE49-F238E27FC236}">
                <a16:creationId xmlns:a16="http://schemas.microsoft.com/office/drawing/2014/main" id="{F2354242-7C37-861E-F9C4-9793326EFEF2}"/>
              </a:ext>
            </a:extLst>
          </p:cNvPr>
          <p:cNvPicPr>
            <a:picLocks noChangeAspect="1"/>
          </p:cNvPicPr>
          <p:nvPr/>
        </p:nvPicPr>
        <p:blipFill>
          <a:blip r:embed="rId2"/>
          <a:stretch>
            <a:fillRect/>
          </a:stretch>
        </p:blipFill>
        <p:spPr>
          <a:xfrm>
            <a:off x="961436" y="1326271"/>
            <a:ext cx="10861793" cy="5390791"/>
          </a:xfrm>
          <a:prstGeom prst="rect">
            <a:avLst/>
          </a:prstGeom>
        </p:spPr>
      </p:pic>
    </p:spTree>
    <p:extLst>
      <p:ext uri="{BB962C8B-B14F-4D97-AF65-F5344CB8AC3E}">
        <p14:creationId xmlns:p14="http://schemas.microsoft.com/office/powerpoint/2010/main" val="1281996479"/>
      </p:ext>
    </p:ext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11D28-B9F4-4CE3-5A62-28331A52476F}"/>
              </a:ext>
            </a:extLst>
          </p:cNvPr>
          <p:cNvSpPr>
            <a:spLocks noGrp="1"/>
          </p:cNvSpPr>
          <p:nvPr>
            <p:ph type="title"/>
          </p:nvPr>
        </p:nvSpPr>
        <p:spPr/>
        <p:txBody>
          <a:bodyPr lIns="45719" tIns="45720" rIns="45719" bIns="45720" anchor="t">
            <a:normAutofit/>
          </a:bodyPr>
          <a:lstStyle/>
          <a:p>
            <a:r>
              <a:rPr lang="en-US">
                <a:latin typeface="Times New Roman"/>
                <a:cs typeface="Times New Roman"/>
              </a:rPr>
              <a:t>NAMCS dataset significant variables</a:t>
            </a:r>
            <a:endParaRPr lang="en-US"/>
          </a:p>
        </p:txBody>
      </p:sp>
      <p:pic>
        <p:nvPicPr>
          <p:cNvPr id="5" name="Picture 5" descr="Text&#10;&#10;Description automatically generated">
            <a:extLst>
              <a:ext uri="{FF2B5EF4-FFF2-40B4-BE49-F238E27FC236}">
                <a16:creationId xmlns:a16="http://schemas.microsoft.com/office/drawing/2014/main" id="{124FED73-BAFF-1014-2B3A-5342A87A4F63}"/>
              </a:ext>
            </a:extLst>
          </p:cNvPr>
          <p:cNvPicPr>
            <a:picLocks noChangeAspect="1"/>
          </p:cNvPicPr>
          <p:nvPr/>
        </p:nvPicPr>
        <p:blipFill>
          <a:blip r:embed="rId2"/>
          <a:stretch>
            <a:fillRect/>
          </a:stretch>
        </p:blipFill>
        <p:spPr>
          <a:xfrm>
            <a:off x="914399" y="1374534"/>
            <a:ext cx="11087571" cy="5294267"/>
          </a:xfrm>
          <a:prstGeom prst="rect">
            <a:avLst/>
          </a:prstGeom>
        </p:spPr>
      </p:pic>
    </p:spTree>
    <p:extLst>
      <p:ext uri="{BB962C8B-B14F-4D97-AF65-F5344CB8AC3E}">
        <p14:creationId xmlns:p14="http://schemas.microsoft.com/office/powerpoint/2010/main" val="3800751330"/>
      </p:ext>
    </p:ext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8863-6D3C-4A63-A7D6-93135805BCFB}"/>
              </a:ext>
            </a:extLst>
          </p:cNvPr>
          <p:cNvSpPr>
            <a:spLocks noGrp="1"/>
          </p:cNvSpPr>
          <p:nvPr>
            <p:ph type="title"/>
          </p:nvPr>
        </p:nvSpPr>
        <p:spPr/>
        <p:txBody>
          <a:bodyPr lIns="45719" tIns="45720" rIns="45719" bIns="45720" anchor="t">
            <a:normAutofit/>
          </a:bodyPr>
          <a:lstStyle/>
          <a:p>
            <a:r>
              <a:rPr lang="en-US" sz="4000">
                <a:latin typeface="Times New Roman"/>
                <a:cs typeface="Times New Roman"/>
              </a:rPr>
              <a:t>Significant variables from both the datasets</a:t>
            </a:r>
            <a:endParaRPr lang="en-US" sz="4000"/>
          </a:p>
        </p:txBody>
      </p:sp>
      <p:pic>
        <p:nvPicPr>
          <p:cNvPr id="5" name="Picture 5" descr="Text&#10;&#10;Description automatically generated">
            <a:extLst>
              <a:ext uri="{FF2B5EF4-FFF2-40B4-BE49-F238E27FC236}">
                <a16:creationId xmlns:a16="http://schemas.microsoft.com/office/drawing/2014/main" id="{DAB42638-458F-B001-957D-8CA80BA9ED24}"/>
              </a:ext>
            </a:extLst>
          </p:cNvPr>
          <p:cNvPicPr>
            <a:picLocks noChangeAspect="1"/>
          </p:cNvPicPr>
          <p:nvPr/>
        </p:nvPicPr>
        <p:blipFill>
          <a:blip r:embed="rId2"/>
          <a:stretch>
            <a:fillRect/>
          </a:stretch>
        </p:blipFill>
        <p:spPr>
          <a:xfrm>
            <a:off x="1403586" y="1432216"/>
            <a:ext cx="9206088" cy="1604088"/>
          </a:xfrm>
          <a:prstGeom prst="rect">
            <a:avLst/>
          </a:prstGeom>
        </p:spPr>
      </p:pic>
      <p:sp>
        <p:nvSpPr>
          <p:cNvPr id="6" name="TextBox 5">
            <a:extLst>
              <a:ext uri="{FF2B5EF4-FFF2-40B4-BE49-F238E27FC236}">
                <a16:creationId xmlns:a16="http://schemas.microsoft.com/office/drawing/2014/main" id="{85265D8F-C684-DC6C-2CB1-896194911264}"/>
              </a:ext>
            </a:extLst>
          </p:cNvPr>
          <p:cNvSpPr txBox="1"/>
          <p:nvPr/>
        </p:nvSpPr>
        <p:spPr>
          <a:xfrm>
            <a:off x="1399351" y="3036240"/>
            <a:ext cx="10458684" cy="6309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3500">
                <a:latin typeface="Times New Roman"/>
              </a:rPr>
              <a:t>Merging the Significant variables from Both the Datasets</a:t>
            </a:r>
            <a:endParaRPr lang="en-US" sz="3500" b="0" i="0" u="none" strike="noStrike" cap="none" spc="0" normalizeH="0" baseline="0">
              <a:ln>
                <a:noFill/>
              </a:ln>
              <a:solidFill>
                <a:srgbClr val="000000"/>
              </a:solidFill>
              <a:effectLst/>
              <a:uFillTx/>
              <a:latin typeface="+mj-lt"/>
              <a:ea typeface="+mj-ea"/>
              <a:cs typeface="+mj-cs"/>
            </a:endParaRPr>
          </a:p>
        </p:txBody>
      </p:sp>
      <p:pic>
        <p:nvPicPr>
          <p:cNvPr id="7" name="Picture 7">
            <a:extLst>
              <a:ext uri="{FF2B5EF4-FFF2-40B4-BE49-F238E27FC236}">
                <a16:creationId xmlns:a16="http://schemas.microsoft.com/office/drawing/2014/main" id="{E5C7CF9C-2696-AD94-A4F0-062C5CD86C5B}"/>
              </a:ext>
            </a:extLst>
          </p:cNvPr>
          <p:cNvPicPr>
            <a:picLocks noChangeAspect="1"/>
          </p:cNvPicPr>
          <p:nvPr/>
        </p:nvPicPr>
        <p:blipFill>
          <a:blip r:embed="rId3"/>
          <a:stretch>
            <a:fillRect/>
          </a:stretch>
        </p:blipFill>
        <p:spPr>
          <a:xfrm>
            <a:off x="2052697" y="3632285"/>
            <a:ext cx="8077200" cy="3187058"/>
          </a:xfrm>
          <a:prstGeom prst="rect">
            <a:avLst/>
          </a:prstGeom>
        </p:spPr>
      </p:pic>
    </p:spTree>
    <p:extLst>
      <p:ext uri="{BB962C8B-B14F-4D97-AF65-F5344CB8AC3E}">
        <p14:creationId xmlns:p14="http://schemas.microsoft.com/office/powerpoint/2010/main" val="3890303896"/>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7A80-8A72-003F-617F-BBEABCBE7BCC}"/>
              </a:ext>
            </a:extLst>
          </p:cNvPr>
          <p:cNvSpPr>
            <a:spLocks noGrp="1"/>
          </p:cNvSpPr>
          <p:nvPr>
            <p:ph type="title"/>
          </p:nvPr>
        </p:nvSpPr>
        <p:spPr/>
        <p:txBody>
          <a:bodyPr lIns="45719" tIns="45720" rIns="45719" bIns="45720" anchor="t">
            <a:normAutofit/>
          </a:bodyPr>
          <a:lstStyle/>
          <a:p>
            <a:r>
              <a:rPr lang="en-US">
                <a:latin typeface="Times New Roman"/>
                <a:cs typeface="Times New Roman"/>
              </a:rPr>
              <a:t>Processing of Merged dataset</a:t>
            </a:r>
            <a:endParaRPr lang="en-US" err="1"/>
          </a:p>
        </p:txBody>
      </p:sp>
      <p:pic>
        <p:nvPicPr>
          <p:cNvPr id="6" name="Picture 6" descr="Graphical user interface, text, application, email&#10;&#10;Description automatically generated">
            <a:extLst>
              <a:ext uri="{FF2B5EF4-FFF2-40B4-BE49-F238E27FC236}">
                <a16:creationId xmlns:a16="http://schemas.microsoft.com/office/drawing/2014/main" id="{88E1D56C-D85E-A69D-8A24-7CE9BF2C10AB}"/>
              </a:ext>
            </a:extLst>
          </p:cNvPr>
          <p:cNvPicPr>
            <a:picLocks noChangeAspect="1"/>
          </p:cNvPicPr>
          <p:nvPr/>
        </p:nvPicPr>
        <p:blipFill>
          <a:blip r:embed="rId2"/>
          <a:stretch>
            <a:fillRect/>
          </a:stretch>
        </p:blipFill>
        <p:spPr>
          <a:xfrm>
            <a:off x="1883365" y="1518619"/>
            <a:ext cx="9149640" cy="5222464"/>
          </a:xfrm>
          <a:prstGeom prst="rect">
            <a:avLst/>
          </a:prstGeom>
        </p:spPr>
      </p:pic>
    </p:spTree>
    <p:extLst>
      <p:ext uri="{BB962C8B-B14F-4D97-AF65-F5344CB8AC3E}">
        <p14:creationId xmlns:p14="http://schemas.microsoft.com/office/powerpoint/2010/main" val="2885066344"/>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Table&#10;&#10;Description automatically generated">
            <a:extLst>
              <a:ext uri="{FF2B5EF4-FFF2-40B4-BE49-F238E27FC236}">
                <a16:creationId xmlns:a16="http://schemas.microsoft.com/office/drawing/2014/main" id="{F9F99CAF-3FFB-5D06-248A-ADD112FE9D79}"/>
              </a:ext>
            </a:extLst>
          </p:cNvPr>
          <p:cNvPicPr>
            <a:picLocks noChangeAspect="1"/>
          </p:cNvPicPr>
          <p:nvPr/>
        </p:nvPicPr>
        <p:blipFill>
          <a:blip r:embed="rId2"/>
          <a:stretch>
            <a:fillRect/>
          </a:stretch>
        </p:blipFill>
        <p:spPr>
          <a:xfrm>
            <a:off x="820328" y="826257"/>
            <a:ext cx="11247494" cy="5205489"/>
          </a:xfrm>
          <a:prstGeom prst="rect">
            <a:avLst/>
          </a:prstGeom>
        </p:spPr>
      </p:pic>
    </p:spTree>
    <p:extLst>
      <p:ext uri="{BB962C8B-B14F-4D97-AF65-F5344CB8AC3E}">
        <p14:creationId xmlns:p14="http://schemas.microsoft.com/office/powerpoint/2010/main" val="3029340670"/>
      </p:ext>
    </p:ext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369D-2D6B-19B7-86CF-464D00EC4E5B}"/>
              </a:ext>
            </a:extLst>
          </p:cNvPr>
          <p:cNvSpPr>
            <a:spLocks noGrp="1"/>
          </p:cNvSpPr>
          <p:nvPr>
            <p:ph type="title"/>
          </p:nvPr>
        </p:nvSpPr>
        <p:spPr>
          <a:xfrm>
            <a:off x="1371600" y="685800"/>
            <a:ext cx="10033940" cy="1485900"/>
          </a:xfrm>
        </p:spPr>
        <p:txBody>
          <a:bodyPr lIns="45719" tIns="45720" rIns="45719" bIns="45720" anchor="t">
            <a:normAutofit/>
          </a:bodyPr>
          <a:lstStyle/>
          <a:p>
            <a:r>
              <a:rPr lang="en-US" sz="3500">
                <a:latin typeface="Times New Roman"/>
                <a:cs typeface="Times New Roman"/>
              </a:rPr>
              <a:t>Using Models for answering the Hypothesis Question</a:t>
            </a:r>
            <a:br>
              <a:rPr lang="en-US" sz="3500">
                <a:latin typeface="Times New Roman"/>
                <a:cs typeface="Times New Roman"/>
              </a:rPr>
            </a:br>
            <a:r>
              <a:rPr lang="en-US" sz="3500">
                <a:latin typeface="Times New Roman"/>
                <a:cs typeface="Times New Roman"/>
              </a:rPr>
              <a:t>and selecting best model for prediction of depression</a:t>
            </a:r>
          </a:p>
        </p:txBody>
      </p:sp>
      <p:pic>
        <p:nvPicPr>
          <p:cNvPr id="5" name="Picture 5" descr="Graphical user interface, text, application&#10;&#10;Description automatically generated">
            <a:extLst>
              <a:ext uri="{FF2B5EF4-FFF2-40B4-BE49-F238E27FC236}">
                <a16:creationId xmlns:a16="http://schemas.microsoft.com/office/drawing/2014/main" id="{A712573B-9894-AACB-3641-963961844927}"/>
              </a:ext>
            </a:extLst>
          </p:cNvPr>
          <p:cNvPicPr>
            <a:picLocks noChangeAspect="1"/>
          </p:cNvPicPr>
          <p:nvPr/>
        </p:nvPicPr>
        <p:blipFill>
          <a:blip r:embed="rId2"/>
          <a:stretch>
            <a:fillRect/>
          </a:stretch>
        </p:blipFill>
        <p:spPr>
          <a:xfrm>
            <a:off x="2193807" y="1866786"/>
            <a:ext cx="8858014" cy="4902428"/>
          </a:xfrm>
          <a:prstGeom prst="rect">
            <a:avLst/>
          </a:prstGeom>
        </p:spPr>
      </p:pic>
    </p:spTree>
    <p:extLst>
      <p:ext uri="{BB962C8B-B14F-4D97-AF65-F5344CB8AC3E}">
        <p14:creationId xmlns:p14="http://schemas.microsoft.com/office/powerpoint/2010/main" val="1455456085"/>
      </p:ext>
    </p:ext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 email&#10;&#10;Description automatically generated">
            <a:extLst>
              <a:ext uri="{FF2B5EF4-FFF2-40B4-BE49-F238E27FC236}">
                <a16:creationId xmlns:a16="http://schemas.microsoft.com/office/drawing/2014/main" id="{968D5DD3-D54A-D636-AE51-495DB811D14C}"/>
              </a:ext>
            </a:extLst>
          </p:cNvPr>
          <p:cNvPicPr>
            <a:picLocks noChangeAspect="1"/>
          </p:cNvPicPr>
          <p:nvPr/>
        </p:nvPicPr>
        <p:blipFill>
          <a:blip r:embed="rId2"/>
          <a:stretch>
            <a:fillRect/>
          </a:stretch>
        </p:blipFill>
        <p:spPr>
          <a:xfrm>
            <a:off x="1808105" y="463137"/>
            <a:ext cx="9413050" cy="5894097"/>
          </a:xfrm>
          <a:prstGeom prst="rect">
            <a:avLst/>
          </a:prstGeom>
        </p:spPr>
      </p:pic>
    </p:spTree>
    <p:extLst>
      <p:ext uri="{BB962C8B-B14F-4D97-AF65-F5344CB8AC3E}">
        <p14:creationId xmlns:p14="http://schemas.microsoft.com/office/powerpoint/2010/main" val="1050923621"/>
      </p:ext>
    </p:ext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 email&#10;&#10;Description automatically generated">
            <a:extLst>
              <a:ext uri="{FF2B5EF4-FFF2-40B4-BE49-F238E27FC236}">
                <a16:creationId xmlns:a16="http://schemas.microsoft.com/office/drawing/2014/main" id="{1E7AA5FB-1518-9675-825B-719A04FC2613}"/>
              </a:ext>
            </a:extLst>
          </p:cNvPr>
          <p:cNvPicPr>
            <a:picLocks noChangeAspect="1"/>
          </p:cNvPicPr>
          <p:nvPr/>
        </p:nvPicPr>
        <p:blipFill>
          <a:blip r:embed="rId2"/>
          <a:stretch>
            <a:fillRect/>
          </a:stretch>
        </p:blipFill>
        <p:spPr>
          <a:xfrm>
            <a:off x="1224845" y="1977622"/>
            <a:ext cx="10457273" cy="3119126"/>
          </a:xfrm>
          <a:prstGeom prst="rect">
            <a:avLst/>
          </a:prstGeom>
        </p:spPr>
      </p:pic>
    </p:spTree>
    <p:extLst>
      <p:ext uri="{BB962C8B-B14F-4D97-AF65-F5344CB8AC3E}">
        <p14:creationId xmlns:p14="http://schemas.microsoft.com/office/powerpoint/2010/main" val="3896376759"/>
      </p:ext>
    </p:ext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Chart&#10;&#10;Description automatically generated">
            <a:extLst>
              <a:ext uri="{FF2B5EF4-FFF2-40B4-BE49-F238E27FC236}">
                <a16:creationId xmlns:a16="http://schemas.microsoft.com/office/drawing/2014/main" id="{EBBD1235-D51D-75A2-13B2-F9AB72716D26}"/>
              </a:ext>
            </a:extLst>
          </p:cNvPr>
          <p:cNvPicPr>
            <a:picLocks noChangeAspect="1"/>
          </p:cNvPicPr>
          <p:nvPr/>
        </p:nvPicPr>
        <p:blipFill>
          <a:blip r:embed="rId2"/>
          <a:stretch>
            <a:fillRect/>
          </a:stretch>
        </p:blipFill>
        <p:spPr>
          <a:xfrm>
            <a:off x="1488252" y="101945"/>
            <a:ext cx="9921051" cy="6494184"/>
          </a:xfrm>
          <a:prstGeom prst="rect">
            <a:avLst/>
          </a:prstGeom>
        </p:spPr>
      </p:pic>
    </p:spTree>
    <p:extLst>
      <p:ext uri="{BB962C8B-B14F-4D97-AF65-F5344CB8AC3E}">
        <p14:creationId xmlns:p14="http://schemas.microsoft.com/office/powerpoint/2010/main" val="4056472089"/>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A2B3187-2902-9DFD-4B99-D51253B35A1D}"/>
              </a:ext>
            </a:extLst>
          </p:cNvPr>
          <p:cNvPicPr>
            <a:picLocks noChangeAspect="1"/>
          </p:cNvPicPr>
          <p:nvPr/>
        </p:nvPicPr>
        <p:blipFill>
          <a:blip r:embed="rId2"/>
          <a:stretch>
            <a:fillRect/>
          </a:stretch>
        </p:blipFill>
        <p:spPr>
          <a:xfrm>
            <a:off x="1638771" y="760499"/>
            <a:ext cx="9676458" cy="5797966"/>
          </a:xfrm>
          <a:prstGeom prst="rect">
            <a:avLst/>
          </a:prstGeom>
        </p:spPr>
      </p:pic>
    </p:spTree>
    <p:extLst>
      <p:ext uri="{BB962C8B-B14F-4D97-AF65-F5344CB8AC3E}">
        <p14:creationId xmlns:p14="http://schemas.microsoft.com/office/powerpoint/2010/main" val="1380431229"/>
      </p:ext>
    </p:ext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3826CAD7-35CB-5EBB-C27C-296C3F7207F4}"/>
              </a:ext>
            </a:extLst>
          </p:cNvPr>
          <p:cNvPicPr>
            <a:picLocks noChangeAspect="1"/>
          </p:cNvPicPr>
          <p:nvPr/>
        </p:nvPicPr>
        <p:blipFill>
          <a:blip r:embed="rId2"/>
          <a:stretch>
            <a:fillRect/>
          </a:stretch>
        </p:blipFill>
        <p:spPr>
          <a:xfrm>
            <a:off x="1845734" y="843019"/>
            <a:ext cx="9921050" cy="5275444"/>
          </a:xfrm>
          <a:prstGeom prst="rect">
            <a:avLst/>
          </a:prstGeom>
        </p:spPr>
      </p:pic>
    </p:spTree>
    <p:extLst>
      <p:ext uri="{BB962C8B-B14F-4D97-AF65-F5344CB8AC3E}">
        <p14:creationId xmlns:p14="http://schemas.microsoft.com/office/powerpoint/2010/main" val="1930900313"/>
      </p:ext>
    </p:ext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EAAAD248-5FE3-D7A4-E18D-388D12B3AC4B}"/>
              </a:ext>
            </a:extLst>
          </p:cNvPr>
          <p:cNvPicPr>
            <a:picLocks noChangeAspect="1"/>
          </p:cNvPicPr>
          <p:nvPr/>
        </p:nvPicPr>
        <p:blipFill>
          <a:blip r:embed="rId2"/>
          <a:stretch>
            <a:fillRect/>
          </a:stretch>
        </p:blipFill>
        <p:spPr>
          <a:xfrm>
            <a:off x="1497660" y="1168260"/>
            <a:ext cx="9902236" cy="4032295"/>
          </a:xfrm>
          <a:prstGeom prst="rect">
            <a:avLst/>
          </a:prstGeom>
        </p:spPr>
      </p:pic>
    </p:spTree>
    <p:extLst>
      <p:ext uri="{BB962C8B-B14F-4D97-AF65-F5344CB8AC3E}">
        <p14:creationId xmlns:p14="http://schemas.microsoft.com/office/powerpoint/2010/main" val="865904530"/>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 email&#10;&#10;Description automatically generated">
            <a:extLst>
              <a:ext uri="{FF2B5EF4-FFF2-40B4-BE49-F238E27FC236}">
                <a16:creationId xmlns:a16="http://schemas.microsoft.com/office/drawing/2014/main" id="{1E29A5B6-CE33-3983-29E7-B351756E60DA}"/>
              </a:ext>
            </a:extLst>
          </p:cNvPr>
          <p:cNvPicPr>
            <a:picLocks noChangeAspect="1"/>
          </p:cNvPicPr>
          <p:nvPr/>
        </p:nvPicPr>
        <p:blipFill>
          <a:blip r:embed="rId2"/>
          <a:stretch>
            <a:fillRect/>
          </a:stretch>
        </p:blipFill>
        <p:spPr>
          <a:xfrm>
            <a:off x="1441215" y="813273"/>
            <a:ext cx="10156236" cy="5513675"/>
          </a:xfrm>
          <a:prstGeom prst="rect">
            <a:avLst/>
          </a:prstGeom>
        </p:spPr>
      </p:pic>
    </p:spTree>
    <p:extLst>
      <p:ext uri="{BB962C8B-B14F-4D97-AF65-F5344CB8AC3E}">
        <p14:creationId xmlns:p14="http://schemas.microsoft.com/office/powerpoint/2010/main" val="1698266876"/>
      </p:ext>
    </p:ext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638B29DF-AADE-9080-8CF9-709C0E6B68AE}"/>
              </a:ext>
            </a:extLst>
          </p:cNvPr>
          <p:cNvPicPr>
            <a:picLocks noChangeAspect="1"/>
          </p:cNvPicPr>
          <p:nvPr/>
        </p:nvPicPr>
        <p:blipFill>
          <a:blip r:embed="rId2"/>
          <a:stretch>
            <a:fillRect/>
          </a:stretch>
        </p:blipFill>
        <p:spPr>
          <a:xfrm>
            <a:off x="1619956" y="436345"/>
            <a:ext cx="9516532" cy="5891237"/>
          </a:xfrm>
          <a:prstGeom prst="rect">
            <a:avLst/>
          </a:prstGeom>
        </p:spPr>
      </p:pic>
    </p:spTree>
    <p:extLst>
      <p:ext uri="{BB962C8B-B14F-4D97-AF65-F5344CB8AC3E}">
        <p14:creationId xmlns:p14="http://schemas.microsoft.com/office/powerpoint/2010/main" val="2374457450"/>
      </p:ext>
    </p:ext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Chart&#10;&#10;Description automatically generated">
            <a:extLst>
              <a:ext uri="{FF2B5EF4-FFF2-40B4-BE49-F238E27FC236}">
                <a16:creationId xmlns:a16="http://schemas.microsoft.com/office/drawing/2014/main" id="{07D58786-7E52-5A13-8191-A34331A69663}"/>
              </a:ext>
            </a:extLst>
          </p:cNvPr>
          <p:cNvPicPr>
            <a:picLocks noChangeAspect="1"/>
          </p:cNvPicPr>
          <p:nvPr/>
        </p:nvPicPr>
        <p:blipFill>
          <a:blip r:embed="rId2"/>
          <a:stretch>
            <a:fillRect/>
          </a:stretch>
        </p:blipFill>
        <p:spPr>
          <a:xfrm>
            <a:off x="2325512" y="177266"/>
            <a:ext cx="7870236" cy="6503467"/>
          </a:xfrm>
          <a:prstGeom prst="rect">
            <a:avLst/>
          </a:prstGeom>
        </p:spPr>
      </p:pic>
    </p:spTree>
    <p:extLst>
      <p:ext uri="{BB962C8B-B14F-4D97-AF65-F5344CB8AC3E}">
        <p14:creationId xmlns:p14="http://schemas.microsoft.com/office/powerpoint/2010/main" val="1193568714"/>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65862D40-D238-D7B0-27A1-44997740871F}"/>
              </a:ext>
            </a:extLst>
          </p:cNvPr>
          <p:cNvPicPr>
            <a:picLocks noChangeAspect="1"/>
          </p:cNvPicPr>
          <p:nvPr/>
        </p:nvPicPr>
        <p:blipFill>
          <a:blip r:embed="rId2"/>
          <a:stretch>
            <a:fillRect/>
          </a:stretch>
        </p:blipFill>
        <p:spPr>
          <a:xfrm>
            <a:off x="1206030" y="690223"/>
            <a:ext cx="9855199" cy="5148292"/>
          </a:xfrm>
          <a:prstGeom prst="rect">
            <a:avLst/>
          </a:prstGeom>
        </p:spPr>
      </p:pic>
    </p:spTree>
    <p:extLst>
      <p:ext uri="{BB962C8B-B14F-4D97-AF65-F5344CB8AC3E}">
        <p14:creationId xmlns:p14="http://schemas.microsoft.com/office/powerpoint/2010/main" val="3170816008"/>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picture containing graphical user interface&#10;&#10;Description automatically generated">
            <a:extLst>
              <a:ext uri="{FF2B5EF4-FFF2-40B4-BE49-F238E27FC236}">
                <a16:creationId xmlns:a16="http://schemas.microsoft.com/office/drawing/2014/main" id="{551F50AE-F518-52C4-7852-932B62FC4807}"/>
              </a:ext>
            </a:extLst>
          </p:cNvPr>
          <p:cNvPicPr>
            <a:picLocks noChangeAspect="1"/>
          </p:cNvPicPr>
          <p:nvPr/>
        </p:nvPicPr>
        <p:blipFill>
          <a:blip r:embed="rId2"/>
          <a:stretch>
            <a:fillRect/>
          </a:stretch>
        </p:blipFill>
        <p:spPr>
          <a:xfrm>
            <a:off x="1093143" y="1332952"/>
            <a:ext cx="10795939" cy="4276765"/>
          </a:xfrm>
          <a:prstGeom prst="rect">
            <a:avLst/>
          </a:prstGeom>
        </p:spPr>
      </p:pic>
    </p:spTree>
    <p:extLst>
      <p:ext uri="{BB962C8B-B14F-4D97-AF65-F5344CB8AC3E}">
        <p14:creationId xmlns:p14="http://schemas.microsoft.com/office/powerpoint/2010/main" val="1186454365"/>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 email&#10;&#10;Description automatically generated">
            <a:extLst>
              <a:ext uri="{FF2B5EF4-FFF2-40B4-BE49-F238E27FC236}">
                <a16:creationId xmlns:a16="http://schemas.microsoft.com/office/drawing/2014/main" id="{CE683C85-DBB4-5BC0-CABE-44BCA28EDA6A}"/>
              </a:ext>
            </a:extLst>
          </p:cNvPr>
          <p:cNvPicPr>
            <a:picLocks noChangeAspect="1"/>
          </p:cNvPicPr>
          <p:nvPr/>
        </p:nvPicPr>
        <p:blipFill>
          <a:blip r:embed="rId2"/>
          <a:stretch>
            <a:fillRect/>
          </a:stretch>
        </p:blipFill>
        <p:spPr>
          <a:xfrm>
            <a:off x="1187215" y="512769"/>
            <a:ext cx="10090385" cy="5992388"/>
          </a:xfrm>
          <a:prstGeom prst="rect">
            <a:avLst/>
          </a:prstGeom>
        </p:spPr>
      </p:pic>
    </p:spTree>
    <p:extLst>
      <p:ext uri="{BB962C8B-B14F-4D97-AF65-F5344CB8AC3E}">
        <p14:creationId xmlns:p14="http://schemas.microsoft.com/office/powerpoint/2010/main" val="2178245838"/>
      </p:ext>
    </p:ext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10;&#10;Description automatically generated">
            <a:extLst>
              <a:ext uri="{FF2B5EF4-FFF2-40B4-BE49-F238E27FC236}">
                <a16:creationId xmlns:a16="http://schemas.microsoft.com/office/drawing/2014/main" id="{C9FBE5E0-665A-C5ED-5D32-61107FB848EB}"/>
              </a:ext>
            </a:extLst>
          </p:cNvPr>
          <p:cNvPicPr>
            <a:picLocks noChangeAspect="1"/>
          </p:cNvPicPr>
          <p:nvPr/>
        </p:nvPicPr>
        <p:blipFill>
          <a:blip r:embed="rId2"/>
          <a:stretch>
            <a:fillRect/>
          </a:stretch>
        </p:blipFill>
        <p:spPr>
          <a:xfrm>
            <a:off x="1714030" y="152472"/>
            <a:ext cx="9055570" cy="6543648"/>
          </a:xfrm>
          <a:prstGeom prst="rect">
            <a:avLst/>
          </a:prstGeom>
        </p:spPr>
      </p:pic>
    </p:spTree>
    <p:extLst>
      <p:ext uri="{BB962C8B-B14F-4D97-AF65-F5344CB8AC3E}">
        <p14:creationId xmlns:p14="http://schemas.microsoft.com/office/powerpoint/2010/main" val="8603423"/>
      </p:ext>
    </p:ext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89FABD28-810A-2818-3D3B-68FBBB5FB083}"/>
              </a:ext>
            </a:extLst>
          </p:cNvPr>
          <p:cNvPicPr>
            <a:picLocks noChangeAspect="1"/>
          </p:cNvPicPr>
          <p:nvPr/>
        </p:nvPicPr>
        <p:blipFill>
          <a:blip r:embed="rId2"/>
          <a:stretch>
            <a:fillRect/>
          </a:stretch>
        </p:blipFill>
        <p:spPr>
          <a:xfrm>
            <a:off x="1836327" y="746952"/>
            <a:ext cx="9234310" cy="5533428"/>
          </a:xfrm>
          <a:prstGeom prst="rect">
            <a:avLst/>
          </a:prstGeom>
        </p:spPr>
      </p:pic>
    </p:spTree>
    <p:extLst>
      <p:ext uri="{BB962C8B-B14F-4D97-AF65-F5344CB8AC3E}">
        <p14:creationId xmlns:p14="http://schemas.microsoft.com/office/powerpoint/2010/main" val="2516498218"/>
      </p:ext>
    </p:ext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picture containing chart&#10;&#10;Description automatically generated">
            <a:extLst>
              <a:ext uri="{FF2B5EF4-FFF2-40B4-BE49-F238E27FC236}">
                <a16:creationId xmlns:a16="http://schemas.microsoft.com/office/drawing/2014/main" id="{2DFADFC7-A33E-4DEC-87C4-5CAD7F451CEA}"/>
              </a:ext>
            </a:extLst>
          </p:cNvPr>
          <p:cNvPicPr>
            <a:picLocks noChangeAspect="1"/>
          </p:cNvPicPr>
          <p:nvPr/>
        </p:nvPicPr>
        <p:blipFill>
          <a:blip r:embed="rId2"/>
          <a:stretch>
            <a:fillRect/>
          </a:stretch>
        </p:blipFill>
        <p:spPr>
          <a:xfrm>
            <a:off x="1215437" y="694056"/>
            <a:ext cx="10438458" cy="5469888"/>
          </a:xfrm>
          <a:prstGeom prst="rect">
            <a:avLst/>
          </a:prstGeom>
        </p:spPr>
      </p:pic>
    </p:spTree>
    <p:extLst>
      <p:ext uri="{BB962C8B-B14F-4D97-AF65-F5344CB8AC3E}">
        <p14:creationId xmlns:p14="http://schemas.microsoft.com/office/powerpoint/2010/main" val="1501219875"/>
      </p:ext>
    </p:extLst>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10;&#10;Description automatically generated">
            <a:extLst>
              <a:ext uri="{FF2B5EF4-FFF2-40B4-BE49-F238E27FC236}">
                <a16:creationId xmlns:a16="http://schemas.microsoft.com/office/drawing/2014/main" id="{5FA32BE4-D948-EB2F-1392-0B4EC1FB28DD}"/>
              </a:ext>
            </a:extLst>
          </p:cNvPr>
          <p:cNvPicPr>
            <a:picLocks noChangeAspect="1"/>
          </p:cNvPicPr>
          <p:nvPr/>
        </p:nvPicPr>
        <p:blipFill>
          <a:blip r:embed="rId2"/>
          <a:stretch>
            <a:fillRect/>
          </a:stretch>
        </p:blipFill>
        <p:spPr>
          <a:xfrm>
            <a:off x="1318919" y="2441768"/>
            <a:ext cx="10541940" cy="1344167"/>
          </a:xfrm>
          <a:prstGeom prst="rect">
            <a:avLst/>
          </a:prstGeom>
        </p:spPr>
      </p:pic>
    </p:spTree>
    <p:extLst>
      <p:ext uri="{BB962C8B-B14F-4D97-AF65-F5344CB8AC3E}">
        <p14:creationId xmlns:p14="http://schemas.microsoft.com/office/powerpoint/2010/main" val="2338983757"/>
      </p:ext>
    </p:extLst>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6B06A89E-4FD6-52CE-DBE7-6A4C7BB7260F}"/>
              </a:ext>
            </a:extLst>
          </p:cNvPr>
          <p:cNvPicPr>
            <a:picLocks noChangeAspect="1"/>
          </p:cNvPicPr>
          <p:nvPr/>
        </p:nvPicPr>
        <p:blipFill>
          <a:blip r:embed="rId2"/>
          <a:stretch>
            <a:fillRect/>
          </a:stretch>
        </p:blipFill>
        <p:spPr>
          <a:xfrm>
            <a:off x="1300105" y="1652771"/>
            <a:ext cx="10175050" cy="3872312"/>
          </a:xfrm>
          <a:prstGeom prst="rect">
            <a:avLst/>
          </a:prstGeom>
        </p:spPr>
      </p:pic>
    </p:spTree>
    <p:extLst>
      <p:ext uri="{BB962C8B-B14F-4D97-AF65-F5344CB8AC3E}">
        <p14:creationId xmlns:p14="http://schemas.microsoft.com/office/powerpoint/2010/main" val="2761852204"/>
      </p:ext>
    </p:extLst>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 email&#10;&#10;Description automatically generated">
            <a:extLst>
              <a:ext uri="{FF2B5EF4-FFF2-40B4-BE49-F238E27FC236}">
                <a16:creationId xmlns:a16="http://schemas.microsoft.com/office/drawing/2014/main" id="{94BF769A-C547-2303-CBCD-33FB07120F1A}"/>
              </a:ext>
            </a:extLst>
          </p:cNvPr>
          <p:cNvPicPr>
            <a:picLocks noChangeAspect="1"/>
          </p:cNvPicPr>
          <p:nvPr/>
        </p:nvPicPr>
        <p:blipFill>
          <a:blip r:embed="rId2"/>
          <a:stretch>
            <a:fillRect/>
          </a:stretch>
        </p:blipFill>
        <p:spPr>
          <a:xfrm>
            <a:off x="1629364" y="919088"/>
            <a:ext cx="9874013" cy="5189157"/>
          </a:xfrm>
          <a:prstGeom prst="rect">
            <a:avLst/>
          </a:prstGeom>
        </p:spPr>
      </p:pic>
    </p:spTree>
    <p:extLst>
      <p:ext uri="{BB962C8B-B14F-4D97-AF65-F5344CB8AC3E}">
        <p14:creationId xmlns:p14="http://schemas.microsoft.com/office/powerpoint/2010/main" val="1769598164"/>
      </p:ext>
    </p:extLst>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Chart&#10;&#10;Description automatically generated">
            <a:extLst>
              <a:ext uri="{FF2B5EF4-FFF2-40B4-BE49-F238E27FC236}">
                <a16:creationId xmlns:a16="http://schemas.microsoft.com/office/drawing/2014/main" id="{6C16F271-E2E1-83B3-275C-170F19F4D054}"/>
              </a:ext>
            </a:extLst>
          </p:cNvPr>
          <p:cNvPicPr>
            <a:picLocks noChangeAspect="1"/>
          </p:cNvPicPr>
          <p:nvPr/>
        </p:nvPicPr>
        <p:blipFill>
          <a:blip r:embed="rId2"/>
          <a:stretch>
            <a:fillRect/>
          </a:stretch>
        </p:blipFill>
        <p:spPr>
          <a:xfrm>
            <a:off x="2344326" y="126455"/>
            <a:ext cx="8058384" cy="6529830"/>
          </a:xfrm>
          <a:prstGeom prst="rect">
            <a:avLst/>
          </a:prstGeom>
        </p:spPr>
      </p:pic>
    </p:spTree>
    <p:extLst>
      <p:ext uri="{BB962C8B-B14F-4D97-AF65-F5344CB8AC3E}">
        <p14:creationId xmlns:p14="http://schemas.microsoft.com/office/powerpoint/2010/main" val="4185929361"/>
      </p:ext>
    </p:ext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picture containing graphical user interface&#10;&#10;Description automatically generated">
            <a:extLst>
              <a:ext uri="{FF2B5EF4-FFF2-40B4-BE49-F238E27FC236}">
                <a16:creationId xmlns:a16="http://schemas.microsoft.com/office/drawing/2014/main" id="{602FC9B3-9241-280B-A871-3A851CEC348C}"/>
              </a:ext>
            </a:extLst>
          </p:cNvPr>
          <p:cNvPicPr>
            <a:picLocks noChangeAspect="1"/>
          </p:cNvPicPr>
          <p:nvPr/>
        </p:nvPicPr>
        <p:blipFill>
          <a:blip r:embed="rId2"/>
          <a:stretch>
            <a:fillRect/>
          </a:stretch>
        </p:blipFill>
        <p:spPr>
          <a:xfrm>
            <a:off x="1544697" y="614664"/>
            <a:ext cx="8660457" cy="5365264"/>
          </a:xfrm>
          <a:prstGeom prst="rect">
            <a:avLst/>
          </a:prstGeom>
        </p:spPr>
      </p:pic>
    </p:spTree>
    <p:extLst>
      <p:ext uri="{BB962C8B-B14F-4D97-AF65-F5344CB8AC3E}">
        <p14:creationId xmlns:p14="http://schemas.microsoft.com/office/powerpoint/2010/main" val="1121054608"/>
      </p:ext>
    </p:ext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10;&#10;Description automatically generated">
            <a:extLst>
              <a:ext uri="{FF2B5EF4-FFF2-40B4-BE49-F238E27FC236}">
                <a16:creationId xmlns:a16="http://schemas.microsoft.com/office/drawing/2014/main" id="{9DC19ABB-C204-24E1-1A38-7958CF6095B7}"/>
              </a:ext>
            </a:extLst>
          </p:cNvPr>
          <p:cNvPicPr>
            <a:picLocks noChangeAspect="1"/>
          </p:cNvPicPr>
          <p:nvPr/>
        </p:nvPicPr>
        <p:blipFill>
          <a:blip r:embed="rId2"/>
          <a:stretch>
            <a:fillRect/>
          </a:stretch>
        </p:blipFill>
        <p:spPr>
          <a:xfrm>
            <a:off x="1478845" y="1002921"/>
            <a:ext cx="9375421" cy="4927417"/>
          </a:xfrm>
          <a:prstGeom prst="rect">
            <a:avLst/>
          </a:prstGeom>
        </p:spPr>
      </p:pic>
    </p:spTree>
    <p:extLst>
      <p:ext uri="{BB962C8B-B14F-4D97-AF65-F5344CB8AC3E}">
        <p14:creationId xmlns:p14="http://schemas.microsoft.com/office/powerpoint/2010/main" val="2271571333"/>
      </p:ext>
    </p:ext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5B0D5BCC-3359-E912-B590-003F63B2A59D}"/>
              </a:ext>
            </a:extLst>
          </p:cNvPr>
          <p:cNvPicPr>
            <a:picLocks noChangeAspect="1"/>
          </p:cNvPicPr>
          <p:nvPr/>
        </p:nvPicPr>
        <p:blipFill>
          <a:blip r:embed="rId2"/>
          <a:stretch>
            <a:fillRect/>
          </a:stretch>
        </p:blipFill>
        <p:spPr>
          <a:xfrm>
            <a:off x="1648179" y="1234352"/>
            <a:ext cx="9610606" cy="4473959"/>
          </a:xfrm>
          <a:prstGeom prst="rect">
            <a:avLst/>
          </a:prstGeom>
        </p:spPr>
      </p:pic>
    </p:spTree>
    <p:extLst>
      <p:ext uri="{BB962C8B-B14F-4D97-AF65-F5344CB8AC3E}">
        <p14:creationId xmlns:p14="http://schemas.microsoft.com/office/powerpoint/2010/main" val="4120093590"/>
      </p:ext>
    </p:ext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7172-1AEF-81EE-2696-896B7B85C739}"/>
              </a:ext>
            </a:extLst>
          </p:cNvPr>
          <p:cNvSpPr>
            <a:spLocks noGrp="1"/>
          </p:cNvSpPr>
          <p:nvPr>
            <p:ph type="title"/>
          </p:nvPr>
        </p:nvSpPr>
        <p:spPr>
          <a:xfrm>
            <a:off x="4955822" y="2896540"/>
            <a:ext cx="3016015" cy="912049"/>
          </a:xfrm>
        </p:spPr>
        <p:txBody>
          <a:bodyPr lIns="45719" tIns="45720" rIns="45719" bIns="45720" anchor="t">
            <a:noAutofit/>
          </a:bodyPr>
          <a:lstStyle/>
          <a:p>
            <a:r>
              <a:rPr lang="en-US" sz="9600">
                <a:latin typeface="Times New Roman"/>
                <a:cs typeface="Times New Roman"/>
              </a:rPr>
              <a:t>END</a:t>
            </a:r>
            <a:endParaRPr lang="en-US" sz="9600"/>
          </a:p>
        </p:txBody>
      </p:sp>
    </p:spTree>
    <p:extLst>
      <p:ext uri="{BB962C8B-B14F-4D97-AF65-F5344CB8AC3E}">
        <p14:creationId xmlns:p14="http://schemas.microsoft.com/office/powerpoint/2010/main" val="648898693"/>
      </p:ext>
    </p:extLst>
  </p:cSld>
  <p:clrMapOvr>
    <a:masterClrMapping/>
  </p:clrMapOvr>
  <p:transition spd="med"/>
</p:sld>
</file>

<file path=ppt/theme/theme1.xml><?xml version="1.0" encoding="utf-8"?>
<a:theme xmlns:a="http://schemas.openxmlformats.org/drawingml/2006/main" name="Crop">
  <a:themeElements>
    <a:clrScheme name="Crop">
      <a:dk1>
        <a:srgbClr val="000000"/>
      </a:dk1>
      <a:lt1>
        <a:srgbClr val="EFEDE3"/>
      </a:lt1>
      <a:dk2>
        <a:srgbClr val="A7A7A7"/>
      </a:dk2>
      <a:lt2>
        <a:srgbClr val="535353"/>
      </a:lt2>
      <a:accent1>
        <a:srgbClr val="8C8D86"/>
      </a:accent1>
      <a:accent2>
        <a:srgbClr val="E6C069"/>
      </a:accent2>
      <a:accent3>
        <a:srgbClr val="897B61"/>
      </a:accent3>
      <a:accent4>
        <a:srgbClr val="8DAB8E"/>
      </a:accent4>
      <a:accent5>
        <a:srgbClr val="77A2BB"/>
      </a:accent5>
      <a:accent6>
        <a:srgbClr val="E28394"/>
      </a:accent6>
      <a:hlink>
        <a:srgbClr val="0000FF"/>
      </a:hlink>
      <a:folHlink>
        <a:srgbClr val="FF00FF"/>
      </a:folHlink>
    </a:clrScheme>
    <a:fontScheme name="Crop">
      <a:majorFont>
        <a:latin typeface="Franklin Gothic Book"/>
        <a:ea typeface="Franklin Gothic Book"/>
        <a:cs typeface="Franklin Gothic Book"/>
      </a:majorFont>
      <a:minorFont>
        <a:latin typeface="Helvetica"/>
        <a:ea typeface="Helvetica"/>
        <a:cs typeface="Helvetica"/>
      </a:minorFont>
    </a:fontScheme>
    <a:fmtScheme name="Cr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4925"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4925"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rop">
  <a:themeElements>
    <a:clrScheme name="Crop">
      <a:dk1>
        <a:srgbClr val="000000"/>
      </a:dk1>
      <a:lt1>
        <a:srgbClr val="FFFFFF"/>
      </a:lt1>
      <a:dk2>
        <a:srgbClr val="A7A7A7"/>
      </a:dk2>
      <a:lt2>
        <a:srgbClr val="535353"/>
      </a:lt2>
      <a:accent1>
        <a:srgbClr val="8C8D86"/>
      </a:accent1>
      <a:accent2>
        <a:srgbClr val="E6C069"/>
      </a:accent2>
      <a:accent3>
        <a:srgbClr val="897B61"/>
      </a:accent3>
      <a:accent4>
        <a:srgbClr val="8DAB8E"/>
      </a:accent4>
      <a:accent5>
        <a:srgbClr val="77A2BB"/>
      </a:accent5>
      <a:accent6>
        <a:srgbClr val="E28394"/>
      </a:accent6>
      <a:hlink>
        <a:srgbClr val="0000FF"/>
      </a:hlink>
      <a:folHlink>
        <a:srgbClr val="FF00FF"/>
      </a:folHlink>
    </a:clrScheme>
    <a:fontScheme name="Crop">
      <a:majorFont>
        <a:latin typeface="Franklin Gothic Book"/>
        <a:ea typeface="Franklin Gothic Book"/>
        <a:cs typeface="Franklin Gothic Book"/>
      </a:majorFont>
      <a:minorFont>
        <a:latin typeface="Helvetica"/>
        <a:ea typeface="Helvetica"/>
        <a:cs typeface="Helvetica"/>
      </a:minorFont>
    </a:fontScheme>
    <a:fmtScheme name="Cr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4925"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4925"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3F05CEDA5091E4BBFD0E61EA741BE4E" ma:contentTypeVersion="5" ma:contentTypeDescription="Create a new document." ma:contentTypeScope="" ma:versionID="16bbb839853ca2de2ad76c263b4945ad">
  <xsd:schema xmlns:xsd="http://www.w3.org/2001/XMLSchema" xmlns:xs="http://www.w3.org/2001/XMLSchema" xmlns:p="http://schemas.microsoft.com/office/2006/metadata/properties" xmlns:ns2="d10828bf-3dff-465e-b389-95b7c9994e9f" targetNamespace="http://schemas.microsoft.com/office/2006/metadata/properties" ma:root="true" ma:fieldsID="04cbc11ed80baf49b23d0aec69e96c7c" ns2:_="">
    <xsd:import namespace="d10828bf-3dff-465e-b389-95b7c9994e9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Purposeofdatase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0828bf-3dff-465e-b389-95b7c9994e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Purposeofdataset" ma:index="12" nillable="true" ma:displayName="Purpose of dataset" ma:format="Dropdown" ma:internalName="Purposeofdataset">
      <xsd:simpleType>
        <xsd:union memberTypes="dms:Text">
          <xsd:simpleType>
            <xsd:restriction base="dms:Choice">
              <xsd:enumeration value="Original data"/>
              <xsd:enumeration value="Pre-cleaning"/>
              <xsd:enumeration value="Descriptive Analysis, Stats"/>
              <xsd:enumeration value="Modeling "/>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rposeofdataset xmlns="d10828bf-3dff-465e-b389-95b7c9994e9f" xsi:nil="true"/>
  </documentManagement>
</p:properties>
</file>

<file path=customXml/itemProps1.xml><?xml version="1.0" encoding="utf-8"?>
<ds:datastoreItem xmlns:ds="http://schemas.openxmlformats.org/officeDocument/2006/customXml" ds:itemID="{5E606098-ADB0-421E-AFA4-F10930F37DB1}">
  <ds:schemaRefs>
    <ds:schemaRef ds:uri="http://schemas.microsoft.com/sharepoint/v3/contenttype/forms"/>
  </ds:schemaRefs>
</ds:datastoreItem>
</file>

<file path=customXml/itemProps2.xml><?xml version="1.0" encoding="utf-8"?>
<ds:datastoreItem xmlns:ds="http://schemas.openxmlformats.org/officeDocument/2006/customXml" ds:itemID="{B3C63224-7DA3-4EBE-BD73-A38D5A0C6B40}">
  <ds:schemaRefs>
    <ds:schemaRef ds:uri="d10828bf-3dff-465e-b389-95b7c9994e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22928D7-1FCC-4D7A-AA00-1391BD4D84E7}">
  <ds:schemaRefs>
    <ds:schemaRef ds:uri="d10828bf-3dff-465e-b389-95b7c9994e9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118</TotalTime>
  <Words>2651</Words>
  <Application>Microsoft Office PowerPoint</Application>
  <PresentationFormat>Widescreen</PresentationFormat>
  <Paragraphs>252</Paragraphs>
  <Slides>126</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126</vt:i4>
      </vt:variant>
    </vt:vector>
  </HeadingPairs>
  <TitlesOfParts>
    <vt:vector size="140" baseType="lpstr">
      <vt:lpstr>Arial</vt:lpstr>
      <vt:lpstr>Calibri</vt:lpstr>
      <vt:lpstr>Cambria</vt:lpstr>
      <vt:lpstr>Candara</vt:lpstr>
      <vt:lpstr>Franklin Gothic Book</vt:lpstr>
      <vt:lpstr>Helvetica Neue</vt:lpstr>
      <vt:lpstr>Lato</vt:lpstr>
      <vt:lpstr>Roboto</vt:lpstr>
      <vt:lpstr>Segoe UI</vt:lpstr>
      <vt:lpstr>Tahoma</vt:lpstr>
      <vt:lpstr>Times New Roman</vt:lpstr>
      <vt:lpstr>Verdana</vt:lpstr>
      <vt:lpstr>Wingdings</vt:lpstr>
      <vt:lpstr>Crop</vt:lpstr>
      <vt:lpstr>A Comparative Analysis and Predicative Model for Reporting Depression in U.S. Adults</vt:lpstr>
      <vt:lpstr>Background</vt:lpstr>
      <vt:lpstr>Project Scope </vt:lpstr>
      <vt:lpstr>Hypotheses</vt:lpstr>
      <vt:lpstr>Data Collection   </vt:lpstr>
      <vt:lpstr>Data Storage, Extraction, Cleaning </vt:lpstr>
      <vt:lpstr>Cleaning</vt:lpstr>
      <vt:lpstr>Depression Indicator</vt:lpstr>
      <vt:lpstr>Data Description</vt:lpstr>
      <vt:lpstr>Dataset of NHANES</vt:lpstr>
      <vt:lpstr>Dataset of NAMCS</vt:lpstr>
      <vt:lpstr>Descriptive Statistics</vt:lpstr>
      <vt:lpstr>Descriptive Statistics</vt:lpstr>
      <vt:lpstr>Data Analysis</vt:lpstr>
      <vt:lpstr>PowerPoint Presentation</vt:lpstr>
      <vt:lpstr>PowerPoint Presentation</vt:lpstr>
      <vt:lpstr>PowerPoint Presentation</vt:lpstr>
      <vt:lpstr>PowerPoint Presentation</vt:lpstr>
      <vt:lpstr>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Hypothesis Testing</vt:lpstr>
      <vt:lpstr>Significant Features found after the Chi Squared test </vt:lpstr>
      <vt:lpstr>Binary Classification Models</vt:lpstr>
      <vt:lpstr>PowerPoint Presentation</vt:lpstr>
      <vt:lpstr>PowerPoint Presentation</vt:lpstr>
      <vt:lpstr>FEATURE IMPORTANCE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Findings</vt:lpstr>
      <vt:lpstr>Conclusion</vt:lpstr>
      <vt:lpstr>Limitations</vt:lpstr>
      <vt:lpstr>Project Management</vt:lpstr>
      <vt:lpstr>Appendix</vt:lpstr>
      <vt:lpstr>PowerPoint Presentation</vt:lpstr>
      <vt:lpstr>References</vt:lpstr>
      <vt:lpstr>Codes</vt:lpstr>
      <vt:lpstr>Codebook</vt:lpstr>
      <vt:lpstr>PowerPoint Presentation</vt:lpstr>
      <vt:lpstr>Limit NAMCS Source File to Project Variables </vt:lpstr>
      <vt:lpstr>Merging NHANES Source</vt:lpstr>
      <vt:lpstr>NAMCS Cleaning and Feature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Finding Missing values in namcs.csv </vt:lpstr>
      <vt:lpstr>NHANES Cleaning and Feature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Descriptive Statistics of NHANES</vt:lpstr>
      <vt:lpstr>Descriptive Statistics of NAMCS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Hypothesis Testing</vt:lpstr>
      <vt:lpstr>NHANES Dataset Significant Variables</vt:lpstr>
      <vt:lpstr>NAMCS dataset significant variables</vt:lpstr>
      <vt:lpstr>Significant variables from both the datasets</vt:lpstr>
      <vt:lpstr>Processing of Merged dataset</vt:lpstr>
      <vt:lpstr>PowerPoint Presentation</vt:lpstr>
      <vt:lpstr>Using Models for answering the Hypothesis Question and selecting best model for prediction of depression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Jones, Josette F M L</dc:creator>
  <cp:lastModifiedBy>kruthika gaddam</cp:lastModifiedBy>
  <cp:revision>74</cp:revision>
  <dcterms:modified xsi:type="dcterms:W3CDTF">2025-04-14T13:23:42Z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0x010100A3F05CEDA5091E4BBFD0E61EA741BE4E</vt:lpwstr>
  </property>
</Properties>
</file>